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d68c66b7b24518" /><Relationship Type="http://schemas.openxmlformats.org/officeDocument/2006/relationships/extended-properties" Target="/docProps/app.xml" Id="R5be01ca4e7044c50" /><Relationship Type="http://schemas.openxmlformats.org/officeDocument/2006/relationships/officeDocument" Target="/ppt/presentation.xml" Id="R4daf28f27fce49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bb6f5c194548a7"/>
  </p:sldMasterIdLst>
  <p:notesMasterIdLst>
    <p:notesMasterId xmlns:r="http://schemas.openxmlformats.org/officeDocument/2006/relationships" r:id="R362af4370be14be9"/>
  </p:notesMasterIdLst>
  <p:sldIdLst>
    <p:sldId xmlns:r="http://schemas.openxmlformats.org/officeDocument/2006/relationships" id="256" r:id="Rc428ea9a037043cb"/>
    <p:sldId xmlns:r="http://schemas.openxmlformats.org/officeDocument/2006/relationships" id="257" r:id="Raafd807479d04144"/>
    <p:sldId xmlns:r="http://schemas.openxmlformats.org/officeDocument/2006/relationships" id="258" r:id="R0412ab005251464e"/>
    <p:sldId xmlns:r="http://schemas.openxmlformats.org/officeDocument/2006/relationships" id="259" r:id="R176aa331bb8e474a"/>
    <p:sldId xmlns:r="http://schemas.openxmlformats.org/officeDocument/2006/relationships" id="260" r:id="R6531884c26394382"/>
    <p:sldId xmlns:r="http://schemas.openxmlformats.org/officeDocument/2006/relationships" id="261" r:id="R875e39990bd045c8"/>
    <p:sldId xmlns:r="http://schemas.openxmlformats.org/officeDocument/2006/relationships" id="262" r:id="Ra9c88a137da24d7b"/>
    <p:sldId xmlns:r="http://schemas.openxmlformats.org/officeDocument/2006/relationships" id="263" r:id="R98074d9681ac4927"/>
    <p:sldId xmlns:r="http://schemas.openxmlformats.org/officeDocument/2006/relationships" id="264" r:id="Rcf6168fe672c47ba"/>
    <p:sldId xmlns:r="http://schemas.openxmlformats.org/officeDocument/2006/relationships" id="265" r:id="R1de3e892e48e447c"/>
    <p:sldId xmlns:r="http://schemas.openxmlformats.org/officeDocument/2006/relationships" id="266" r:id="R44a1aec830be4832"/>
    <p:sldId xmlns:r="http://schemas.openxmlformats.org/officeDocument/2006/relationships" id="267" r:id="Re5679d93416341e3"/>
    <p:sldId xmlns:r="http://schemas.openxmlformats.org/officeDocument/2006/relationships" id="268" r:id="R823fca9ab4224942"/>
    <p:sldId xmlns:r="http://schemas.openxmlformats.org/officeDocument/2006/relationships" id="269" r:id="R8daaaea6a51b4c6b"/>
    <p:sldId xmlns:r="http://schemas.openxmlformats.org/officeDocument/2006/relationships" id="270" r:id="R727937a249b84ee1"/>
    <p:sldId xmlns:r="http://schemas.openxmlformats.org/officeDocument/2006/relationships" id="271" r:id="R4431c641e97d4ecb"/>
    <p:sldId xmlns:r="http://schemas.openxmlformats.org/officeDocument/2006/relationships" id="272" r:id="Rb657adab07694f12"/>
    <p:sldId xmlns:r="http://schemas.openxmlformats.org/officeDocument/2006/relationships" id="273" r:id="R15fb8b7c0a7e49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b9acc3d32f4e20" /><Relationship Type="http://schemas.openxmlformats.org/officeDocument/2006/relationships/slideMaster" Target="/ppt/slideMasters/slideMaster1.xml" Id="R94bb6f5c194548a7" /><Relationship Type="http://schemas.openxmlformats.org/officeDocument/2006/relationships/notesMaster" Target="/ppt/notesMasters/notesMaster1.xml" Id="R362af4370be14be9" /><Relationship Type="http://schemas.openxmlformats.org/officeDocument/2006/relationships/presProps" Target="/ppt/presProps.xml" Id="R13144f824a9d45ee" /><Relationship Type="http://schemas.openxmlformats.org/officeDocument/2006/relationships/tableStyles" Target="/ppt/tableStyles.xml" Id="R66057992671548e9" /><Relationship Type="http://schemas.openxmlformats.org/officeDocument/2006/relationships/slide" Target="/ppt/slides/slide1.xml" Id="Rc428ea9a037043cb" /><Relationship Type="http://schemas.openxmlformats.org/officeDocument/2006/relationships/slide" Target="/ppt/slides/slide2.xml" Id="Raafd807479d04144" /><Relationship Type="http://schemas.openxmlformats.org/officeDocument/2006/relationships/slide" Target="/ppt/slides/slide3.xml" Id="R0412ab005251464e" /><Relationship Type="http://schemas.openxmlformats.org/officeDocument/2006/relationships/slide" Target="/ppt/slides/slide4.xml" Id="R176aa331bb8e474a" /><Relationship Type="http://schemas.openxmlformats.org/officeDocument/2006/relationships/slide" Target="/ppt/slides/slide5.xml" Id="R6531884c26394382" /><Relationship Type="http://schemas.openxmlformats.org/officeDocument/2006/relationships/slide" Target="/ppt/slides/slide6.xml" Id="R875e39990bd045c8" /><Relationship Type="http://schemas.openxmlformats.org/officeDocument/2006/relationships/slide" Target="/ppt/slides/slide7.xml" Id="Ra9c88a137da24d7b" /><Relationship Type="http://schemas.openxmlformats.org/officeDocument/2006/relationships/slide" Target="/ppt/slides/slide8.xml" Id="R98074d9681ac4927" /><Relationship Type="http://schemas.openxmlformats.org/officeDocument/2006/relationships/slide" Target="/ppt/slides/slide9.xml" Id="Rcf6168fe672c47ba" /><Relationship Type="http://schemas.openxmlformats.org/officeDocument/2006/relationships/slide" Target="/ppt/slides/slide10.xml" Id="R1de3e892e48e447c" /><Relationship Type="http://schemas.openxmlformats.org/officeDocument/2006/relationships/slide" Target="/ppt/slides/slide11.xml" Id="R44a1aec830be4832" /><Relationship Type="http://schemas.openxmlformats.org/officeDocument/2006/relationships/slide" Target="/ppt/slides/slide12.xml" Id="Re5679d93416341e3" /><Relationship Type="http://schemas.openxmlformats.org/officeDocument/2006/relationships/slide" Target="/ppt/slides/slide13.xml" Id="R823fca9ab4224942" /><Relationship Type="http://schemas.openxmlformats.org/officeDocument/2006/relationships/slide" Target="/ppt/slides/slide14.xml" Id="R8daaaea6a51b4c6b" /><Relationship Type="http://schemas.openxmlformats.org/officeDocument/2006/relationships/slide" Target="/ppt/slides/slide15.xml" Id="R727937a249b84ee1" /><Relationship Type="http://schemas.openxmlformats.org/officeDocument/2006/relationships/slide" Target="/ppt/slides/slide16.xml" Id="R4431c641e97d4ecb" /><Relationship Type="http://schemas.openxmlformats.org/officeDocument/2006/relationships/slide" Target="/ppt/slides/slide17.xml" Id="Rb657adab07694f12" /><Relationship Type="http://schemas.openxmlformats.org/officeDocument/2006/relationships/slide" Target="/ppt/slides/slide18.xml" Id="R15fb8b7c0a7e49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56756d7aaf42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a7076944f64cd6" /><Relationship Type="http://schemas.openxmlformats.org/officeDocument/2006/relationships/notesMaster" Target="/ppt/notesMasters/notesMaster1.xml" Id="Rc1680b88bbc540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1a734e37bb4708" /><Relationship Type="http://schemas.openxmlformats.org/officeDocument/2006/relationships/notesMaster" Target="/ppt/notesMasters/notesMaster1.xml" Id="R748bc2b242d341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00be1eedc445d3" /><Relationship Type="http://schemas.openxmlformats.org/officeDocument/2006/relationships/notesMaster" Target="/ppt/notesMasters/notesMaster1.xml" Id="R4929589238fe4b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dd93579dfa4973" /><Relationship Type="http://schemas.openxmlformats.org/officeDocument/2006/relationships/notesMaster" Target="/ppt/notesMasters/notesMaster1.xml" Id="R7d372abd0e344e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816981aa4c4661" /><Relationship Type="http://schemas.openxmlformats.org/officeDocument/2006/relationships/notesMaster" Target="/ppt/notesMasters/notesMaster1.xml" Id="R2075313e658749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c116287ae74ea3" /><Relationship Type="http://schemas.openxmlformats.org/officeDocument/2006/relationships/notesMaster" Target="/ppt/notesMasters/notesMaster1.xml" Id="R0ace6c395bb54f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11ddfe1f454660" /><Relationship Type="http://schemas.openxmlformats.org/officeDocument/2006/relationships/notesMaster" Target="/ppt/notesMasters/notesMaster1.xml" Id="R4270ed2dd1ed47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2a94061fd94cbd" /><Relationship Type="http://schemas.openxmlformats.org/officeDocument/2006/relationships/notesMaster" Target="/ppt/notesMasters/notesMaster1.xml" Id="R335d678b822b40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ee75ec1ea44ea0" /><Relationship Type="http://schemas.openxmlformats.org/officeDocument/2006/relationships/notesMaster" Target="/ppt/notesMasters/notesMaster1.xml" Id="Rdb4852c64a9741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3a53b45e1d4c7a" /><Relationship Type="http://schemas.openxmlformats.org/officeDocument/2006/relationships/notesMaster" Target="/ppt/notesMasters/notesMaster1.xml" Id="R0bf7bc2864104f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4b702b9c224b30" /><Relationship Type="http://schemas.openxmlformats.org/officeDocument/2006/relationships/notesMaster" Target="/ppt/notesMasters/notesMaster1.xml" Id="R5650ebc66a9f4d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f089b2a60f41af" /><Relationship Type="http://schemas.openxmlformats.org/officeDocument/2006/relationships/notesMaster" Target="/ppt/notesMasters/notesMaster1.xml" Id="R0553ab5a6fea48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2bb2d6a84b4fdb" /><Relationship Type="http://schemas.openxmlformats.org/officeDocument/2006/relationships/notesMaster" Target="/ppt/notesMasters/notesMaster1.xml" Id="R760073c4080545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6ef156f88c4287" /><Relationship Type="http://schemas.openxmlformats.org/officeDocument/2006/relationships/notesMaster" Target="/ppt/notesMasters/notesMaster1.xml" Id="Rbf98eafd84a2424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8061511dfe4321" /><Relationship Type="http://schemas.openxmlformats.org/officeDocument/2006/relationships/notesMaster" Target="/ppt/notesMasters/notesMaster1.xml" Id="Rb57fe600faf744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16642269d74a5f" /><Relationship Type="http://schemas.openxmlformats.org/officeDocument/2006/relationships/notesMaster" Target="/ppt/notesMasters/notesMaster1.xml" Id="R2c930af405c144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6eef7915be440c" /><Relationship Type="http://schemas.openxmlformats.org/officeDocument/2006/relationships/notesMaster" Target="/ppt/notesMasters/notesMaster1.xml" Id="R208ee12713444b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b4320c9693488d" /><Relationship Type="http://schemas.openxmlformats.org/officeDocument/2006/relationships/notesMaster" Target="/ppt/notesMasters/notesMaster1.xml" Id="R871007bd9bd443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97f0705a746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d67dbe919c4471" /><Relationship Type="http://schemas.openxmlformats.org/officeDocument/2006/relationships/slideLayout" Target="/ppt/slideLayouts/slideLayout1.xml" Id="R2bde0cf6f1594f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de0cf6f1594f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09ec2925a4f95" /><Relationship Type="http://schemas.openxmlformats.org/officeDocument/2006/relationships/image" Target="/ppt/media/image.png" Id="R7401002607ae4115" /><Relationship Type="http://schemas.openxmlformats.org/officeDocument/2006/relationships/notesSlide" Target="/ppt/notesSlides/notesSlide1.xml" Id="Ref4726ac990644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29be2953f4cf3" /><Relationship Type="http://schemas.openxmlformats.org/officeDocument/2006/relationships/notesSlide" Target="/ppt/notesSlides/notesSlide2.xml" Id="R42bef684a6f843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a1d1f18b74a55" /><Relationship Type="http://schemas.openxmlformats.org/officeDocument/2006/relationships/notesSlide" Target="/ppt/notesSlides/notesSlide3.xml" Id="R683b5c3c692d40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4a18cf3204c4d" /><Relationship Type="http://schemas.openxmlformats.org/officeDocument/2006/relationships/notesSlide" Target="/ppt/notesSlides/notesSlide4.xml" Id="R070478d501554f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bd476eb384a46" /><Relationship Type="http://schemas.openxmlformats.org/officeDocument/2006/relationships/image" Target="/ppt/media/image2.png" Id="R8bcf0595795c408f" /><Relationship Type="http://schemas.openxmlformats.org/officeDocument/2006/relationships/notesSlide" Target="/ppt/notesSlides/notesSlide5.xml" Id="R3d1dbc8234f34c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e4ec938284f00" /><Relationship Type="http://schemas.openxmlformats.org/officeDocument/2006/relationships/image" Target="/ppt/media/image3.png" Id="Reb0503a4c16c40ba" /><Relationship Type="http://schemas.openxmlformats.org/officeDocument/2006/relationships/image" Target="/ppt/media/image4.png" Id="Rdd29a1ab1ba2417c" /><Relationship Type="http://schemas.openxmlformats.org/officeDocument/2006/relationships/notesSlide" Target="/ppt/notesSlides/notesSlide6.xml" Id="Re088783bac3c47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b326eba3f4228" /><Relationship Type="http://schemas.openxmlformats.org/officeDocument/2006/relationships/image" Target="/ppt/media/image5.png" Id="Ra4f979a33cee48ae" /><Relationship Type="http://schemas.openxmlformats.org/officeDocument/2006/relationships/notesSlide" Target="/ppt/notesSlides/notesSlide7.xml" Id="R42c1502d7c314c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7295ea3e44ef2" /><Relationship Type="http://schemas.openxmlformats.org/officeDocument/2006/relationships/notesSlide" Target="/ppt/notesSlides/notesSlide8.xml" Id="R3fa80f719c8a41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6e8a1b8274ad1" /><Relationship Type="http://schemas.openxmlformats.org/officeDocument/2006/relationships/notesSlide" Target="/ppt/notesSlides/notesSlide9.xml" Id="R2d9577c38c8042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026c58dcc4e75" /><Relationship Type="http://schemas.openxmlformats.org/officeDocument/2006/relationships/notesSlide" Target="/ppt/notesSlides/notesSlide10.xml" Id="R9ce4a1ca88d543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d47c9726e45b7" /><Relationship Type="http://schemas.openxmlformats.org/officeDocument/2006/relationships/notesSlide" Target="/ppt/notesSlides/notesSlide11.xml" Id="R4cfd9b345eda4b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7879b9963452c" /><Relationship Type="http://schemas.openxmlformats.org/officeDocument/2006/relationships/notesSlide" Target="/ppt/notesSlides/notesSlide12.xml" Id="R450b03cb203249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a53053fb84ec3" /><Relationship Type="http://schemas.openxmlformats.org/officeDocument/2006/relationships/notesSlide" Target="/ppt/notesSlides/notesSlide13.xml" Id="R108aaaa62d5548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558f4f89b468d" /><Relationship Type="http://schemas.openxmlformats.org/officeDocument/2006/relationships/notesSlide" Target="/ppt/notesSlides/notesSlide14.xml" Id="Rd4a7c69cf9ea43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c62bdc80a48eb" /><Relationship Type="http://schemas.openxmlformats.org/officeDocument/2006/relationships/notesSlide" Target="/ppt/notesSlides/notesSlide15.xml" Id="R27f2bc073c4a46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5631f09b24e71" /><Relationship Type="http://schemas.openxmlformats.org/officeDocument/2006/relationships/notesSlide" Target="/ppt/notesSlides/notesSlide16.xml" Id="Rf11c3078bffc45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10a77f4914654" /><Relationship Type="http://schemas.openxmlformats.org/officeDocument/2006/relationships/notesSlide" Target="/ppt/notesSlides/notesSlide17.xml" Id="R500ebb5e4f6346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ff2c8af134b68" /><Relationship Type="http://schemas.openxmlformats.org/officeDocument/2006/relationships/notesSlide" Target="/ppt/notesSlides/notesSlide18.xml" Id="R999bea70d5b94b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-1">
            <a:extLst xmlns:a="http://schemas.openxmlformats.org/drawingml/2006/main">
              <a:ext uri="{FF2B5EF4-FFF2-40B4-BE49-F238E27FC236}">
                <a16:creationId xmlns:a16="http://schemas.microsoft.com/office/drawing/2014/main" id="{463F90E6-A7E6-4DFD-9A2C-898EAB4A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"/>
            <a:ext cx="5638800" cy="613410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E0D6782-A866-43C9-88D8-9DCFC910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FANG FEISHU · PROJECT REPORT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71B30E9-284A-4591-BC04-C8B13E31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2197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仿飞书协同
办公平台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C9D9DD6-F816-41CB-B2A7-83E28355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多端一体化协作工作台</a:t>
            </a:r>
          </a:p>
        </p:txBody>
      </p:sp>
      <p:cxnSp>
        <p:nvCxnSpPr>
          <p:cNvPr id="14" name="rule-5"/>
          <p:cNvCxnSpPr/>
          <p:nvPr/>
        </p:nvCxnSpPr>
        <p:spPr>
          <a:xfrm xmlns:a="http://schemas.openxmlformats.org/drawingml/2006/main">
            <a:off x="400050" y="44767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370FF"/>
            </a:solidFill>
            <a:prstDash val="solid"/>
          </a:ln>
        </p:spPr>
      </p:cxn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424A7EC-5984-4CB4-AE7D-9D50F9B8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项目组长汇报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20A01DE6-1E20-4485-9355-54998B93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Web · Desktop · Android · WeChat Mini Program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B8F452B-31A2-461D-B6E4-CEEDBA04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2026.07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1002607ae4115"/>
          <a:srcRect xmlns:a="http://schemas.openxmlformats.org/drawingml/2006/main" l="21388" t="0" r="21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95300"/>
            <a:ext cx="5372100" cy="5867400"/>
          </a:xfrm>
          <a:prstGeom xmlns:a="http://schemas.openxmlformats.org/drawingml/2006/main" prst="roundRect">
            <a:avLst>
              <a:gd name="adj" fmla="val 1064"/>
            </a:avLst>
          </a:prstGeom>
        </p:spPr>
      </p:pic>
    </p:spTree>
    <p:extLst>
      <p:ext uri="{BB962C8B-B14F-4D97-AF65-F5344CB8AC3E}">
        <p14:creationId xmlns:p14="http://schemas.microsoft.com/office/powerpoint/2010/main" val="4559271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9">
            <a:extLst xmlns:a="http://schemas.openxmlformats.org/drawingml/2006/main">
              <a:ext uri="{FF2B5EF4-FFF2-40B4-BE49-F238E27FC236}">
                <a16:creationId xmlns:a16="http://schemas.microsoft.com/office/drawing/2014/main" id="{FF7C36BB-1A35-4EE7-B1B8-794D2C4D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10 天 MVP 最终形成多端交付闭环</a:t>
            </a:r>
          </a:p>
        </p:txBody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9780B2FA-3599-4F2F-A093-7058EC13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0B68535D-F66C-4C1A-B183-A2F915DD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877529A3-0381-4075-87E5-71ED5EEF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最初目标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1F315FB5-6E3F-4348-A021-9D132640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做出可演示的仿飞书核心流程</a:t>
            </a:r>
          </a:p>
        </p:txBody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560996CC-57DB-4A99-98EF-25C2D300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573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最终结果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7C7C9CA7-79C8-42F2-9D26-A88DE8C1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573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形成共享后端的四端协作系统</a:t>
            </a:r>
          </a:p>
        </p:txBody>
      </p:sp>
      <p:cxnSp>
        <p:nvCxnSpPr>
          <p:cNvPr id="32" name="rule-16"/>
          <p:cNvCxnSpPr/>
          <p:nvPr/>
        </p:nvCxnSpPr>
        <p:spPr>
          <a:xfrm xmlns:a="http://schemas.openxmlformats.org/drawingml/2006/main">
            <a:off x="400050" y="2476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161ECF98-30C1-4D74-B538-32C37397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9831F6A6-2028-495E-89C7-DED23B84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24</a:t>
            </a:r>
          </a:p>
        </p:txBody>
      </p:sp>
      <p:sp>
        <p:nvSpPr>
          <p:cNvPr id="11" name="text-19">
            <a:extLst xmlns:a="http://schemas.openxmlformats.org/drawingml/2006/main">
              <a:ext uri="{FF2B5EF4-FFF2-40B4-BE49-F238E27FC236}">
                <a16:creationId xmlns:a16="http://schemas.microsoft.com/office/drawing/2014/main" id="{53CCC122-BC13-4AB3-BAC5-FC38CB6B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路由声明
核心业务主端</a:t>
            </a:r>
          </a:p>
        </p:txBody>
      </p:sp>
      <p:cxnSp>
        <p:nvCxnSpPr>
          <p:cNvPr id="36" name="rule-20"/>
          <p:cNvCxnSpPr/>
          <p:nvPr/>
        </p:nvCxnSpPr>
        <p:spPr>
          <a:xfrm xmlns:a="http://schemas.openxmlformats.org/drawingml/2006/main">
            <a:off x="3048000" y="2895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1AB094F2-8431-47F8-A83A-722A1DD6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52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DESKTOP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232068DE-4E2C-4994-8CCC-674C65E2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0.4.0</a:t>
            </a:r>
          </a:p>
        </p:txBody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235AA9F1-D84D-4ABD-9E88-267AF249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719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复用 Web
可打包桌面应用</a:t>
            </a:r>
          </a:p>
        </p:txBody>
      </p:sp>
      <p:cxnSp>
        <p:nvCxnSpPr>
          <p:cNvPr id="40" name="rule-24"/>
          <p:cNvCxnSpPr/>
          <p:nvPr/>
        </p:nvCxnSpPr>
        <p:spPr>
          <a:xfrm xmlns:a="http://schemas.openxmlformats.org/drawingml/2006/main">
            <a:off x="5905500" y="2895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45CB06EB-792A-4345-B5FB-75FD4B69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APP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981E9613-5BB2-4B55-B213-0CAD0800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22</a:t>
            </a:r>
          </a:p>
        </p:txBody>
      </p:sp>
      <p:sp>
        <p:nvSpPr>
          <p:cNvPr id="19" name="text-27">
            <a:extLst xmlns:a="http://schemas.openxmlformats.org/drawingml/2006/main">
              <a:ext uri="{FF2B5EF4-FFF2-40B4-BE49-F238E27FC236}">
                <a16:creationId xmlns:a16="http://schemas.microsoft.com/office/drawing/2014/main" id="{50747B15-A034-48E7-A44B-D6DCED48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19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uni-app 页面
安卓 APK 已交付</a:t>
            </a:r>
          </a:p>
        </p:txBody>
      </p:sp>
      <p:cxnSp>
        <p:nvCxnSpPr>
          <p:cNvPr id="44" name="rule-28"/>
          <p:cNvCxnSpPr/>
          <p:nvPr/>
        </p:nvCxnSpPr>
        <p:spPr>
          <a:xfrm xmlns:a="http://schemas.openxmlformats.org/drawingml/2006/main">
            <a:off x="8763000" y="2895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54AF710D-D0B7-4DB4-9BC3-06CD6E9C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527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MINI PROGRAM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18131858-926E-424D-8BE6-1F8B219A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2571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PASS</a:t>
            </a:r>
          </a:p>
        </p:txBody>
      </p:sp>
      <p:sp>
        <p:nvSpPr>
          <p:cNvPr id="23" name="text-31">
            <a:extLst xmlns:a="http://schemas.openxmlformats.org/drawingml/2006/main">
              <a:ext uri="{FF2B5EF4-FFF2-40B4-BE49-F238E27FC236}">
                <a16:creationId xmlns:a16="http://schemas.microsoft.com/office/drawing/2014/main" id="{252D6122-91E7-499E-BCD0-97CEB81C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2571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
生产构建通过</a:t>
            </a:r>
          </a:p>
        </p:txBody>
      </p:sp>
      <p:sp>
        <p:nvSpPr>
          <p:cNvPr id="24" name="text-32">
            <a:extLst xmlns:a="http://schemas.openxmlformats.org/drawingml/2006/main">
              <a:ext uri="{FF2B5EF4-FFF2-40B4-BE49-F238E27FC236}">
                <a16:creationId xmlns:a16="http://schemas.microsoft.com/office/drawing/2014/main" id="{31F2185B-7E68-4DB6-B618-DDEEF773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结论：交付重点已从“页面数量”转向“多端共用数据与工程闭环”。</a:t>
            </a:r>
          </a:p>
        </p:txBody>
      </p:sp>
    </p:spTree>
    <p:extLst>
      <p:ext uri="{BB962C8B-B14F-4D97-AF65-F5344CB8AC3E}">
        <p14:creationId xmlns:p14="http://schemas.microsoft.com/office/powerpoint/2010/main" val="8164824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33">
            <a:extLst xmlns:a="http://schemas.openxmlformats.org/drawingml/2006/main">
              <a:ext uri="{FF2B5EF4-FFF2-40B4-BE49-F238E27FC236}">
                <a16:creationId xmlns:a16="http://schemas.microsoft.com/office/drawing/2014/main" id="{ECBF3182-055D-423A-91DB-0DC6F51B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一个账号、一套 API 连接四类客户端</a:t>
            </a:r>
          </a:p>
        </p:txBody>
      </p:sp>
      <p:sp>
        <p:nvSpPr>
          <p:cNvPr id="2" name="text-34">
            <a:extLst xmlns:a="http://schemas.openxmlformats.org/drawingml/2006/main">
              <a:ext uri="{FF2B5EF4-FFF2-40B4-BE49-F238E27FC236}">
                <a16:creationId xmlns:a16="http://schemas.microsoft.com/office/drawing/2014/main" id="{532B9AFA-E5D1-42E2-B7ED-2D7E9605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35">
            <a:extLst xmlns:a="http://schemas.openxmlformats.org/drawingml/2006/main">
              <a:ext uri="{FF2B5EF4-FFF2-40B4-BE49-F238E27FC236}">
                <a16:creationId xmlns:a16="http://schemas.microsoft.com/office/drawing/2014/main" id="{5F0E24A8-EF5C-45A2-BEBC-73246493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cxnSp>
        <p:nvCxnSpPr>
          <p:cNvPr id="34" name="rule-36"/>
          <p:cNvCxnSpPr/>
          <p:nvPr/>
        </p:nvCxnSpPr>
        <p:spPr>
          <a:xfrm xmlns:a="http://schemas.openxmlformats.org/drawingml/2006/main">
            <a:off x="2381250" y="194310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35" name="rule-37"/>
          <p:cNvCxnSpPr/>
          <p:nvPr/>
        </p:nvCxnSpPr>
        <p:spPr>
          <a:xfrm xmlns:a="http://schemas.openxmlformats.org/drawingml/2006/main">
            <a:off x="2381250" y="280035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36" name="rule-38"/>
          <p:cNvCxnSpPr/>
          <p:nvPr/>
        </p:nvCxnSpPr>
        <p:spPr>
          <a:xfrm xmlns:a="http://schemas.openxmlformats.org/drawingml/2006/main">
            <a:off x="2381250" y="365760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37" name="rule-39"/>
          <p:cNvCxnSpPr/>
          <p:nvPr/>
        </p:nvCxnSpPr>
        <p:spPr>
          <a:xfrm xmlns:a="http://schemas.openxmlformats.org/drawingml/2006/main">
            <a:off x="2381250" y="451485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38" name="rule-40"/>
          <p:cNvCxnSpPr/>
          <p:nvPr/>
        </p:nvCxnSpPr>
        <p:spPr>
          <a:xfrm xmlns:a="http://schemas.openxmlformats.org/drawingml/2006/main">
            <a:off x="7219950" y="28003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39" name="rule-41"/>
          <p:cNvCxnSpPr/>
          <p:nvPr/>
        </p:nvCxnSpPr>
        <p:spPr>
          <a:xfrm xmlns:a="http://schemas.openxmlformats.org/drawingml/2006/main">
            <a:off x="7219950" y="365760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40" name="rule-42"/>
          <p:cNvCxnSpPr/>
          <p:nvPr/>
        </p:nvCxnSpPr>
        <p:spPr>
          <a:xfrm xmlns:a="http://schemas.openxmlformats.org/drawingml/2006/main">
            <a:off x="7219950" y="45148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sp>
        <p:nvSpPr>
          <p:cNvPr id="11" name="rect-43">
            <a:extLst xmlns:a="http://schemas.openxmlformats.org/drawingml/2006/main">
              <a:ext uri="{FF2B5EF4-FFF2-40B4-BE49-F238E27FC236}">
                <a16:creationId xmlns:a16="http://schemas.microsoft.com/office/drawing/2014/main" id="{29777493-8075-43C7-B368-25C60D23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2" name="rect-44">
            <a:extLst xmlns:a="http://schemas.openxmlformats.org/drawingml/2006/main">
              <a:ext uri="{FF2B5EF4-FFF2-40B4-BE49-F238E27FC236}">
                <a16:creationId xmlns:a16="http://schemas.microsoft.com/office/drawing/2014/main" id="{FE5B760B-CFFD-4495-A0DD-B7ACD75B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rect-45">
            <a:extLst xmlns:a="http://schemas.openxmlformats.org/drawingml/2006/main">
              <a:ext uri="{FF2B5EF4-FFF2-40B4-BE49-F238E27FC236}">
                <a16:creationId xmlns:a16="http://schemas.microsoft.com/office/drawing/2014/main" id="{43CC288F-74DF-45CA-8A88-269208A2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4" name="rect-46">
            <a:extLst xmlns:a="http://schemas.openxmlformats.org/drawingml/2006/main">
              <a:ext uri="{FF2B5EF4-FFF2-40B4-BE49-F238E27FC236}">
                <a16:creationId xmlns:a16="http://schemas.microsoft.com/office/drawing/2014/main" id="{939CE766-3516-4D9F-A182-C91A8A70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text-47">
            <a:extLst xmlns:a="http://schemas.openxmlformats.org/drawingml/2006/main">
              <a:ext uri="{FF2B5EF4-FFF2-40B4-BE49-F238E27FC236}">
                <a16:creationId xmlns:a16="http://schemas.microsoft.com/office/drawing/2014/main" id="{21C311FB-5429-4738-855A-8084B9EF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6" name="text-48">
            <a:extLst xmlns:a="http://schemas.openxmlformats.org/drawingml/2006/main">
              <a:ext uri="{FF2B5EF4-FFF2-40B4-BE49-F238E27FC236}">
                <a16:creationId xmlns:a16="http://schemas.microsoft.com/office/drawing/2014/main" id="{FFB245A3-8A85-4F7D-9219-39D3AE07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27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桌面端</a:t>
            </a:r>
          </a:p>
        </p:txBody>
      </p:sp>
      <p:sp>
        <p:nvSpPr>
          <p:cNvPr id="17" name="text-49">
            <a:extLst xmlns:a="http://schemas.openxmlformats.org/drawingml/2006/main">
              <a:ext uri="{FF2B5EF4-FFF2-40B4-BE49-F238E27FC236}">
                <a16:creationId xmlns:a16="http://schemas.microsoft.com/office/drawing/2014/main" id="{2122C861-918A-476D-B1BA-629A8171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 App</a:t>
            </a:r>
          </a:p>
        </p:txBody>
      </p:sp>
      <p:sp>
        <p:nvSpPr>
          <p:cNvPr id="18" name="text-50">
            <a:extLst xmlns:a="http://schemas.openxmlformats.org/drawingml/2006/main">
              <a:ext uri="{FF2B5EF4-FFF2-40B4-BE49-F238E27FC236}">
                <a16:creationId xmlns:a16="http://schemas.microsoft.com/office/drawing/2014/main" id="{5254AD08-CCC0-44E0-B207-9FB6AB0D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</a:t>
            </a:r>
          </a:p>
        </p:txBody>
      </p:sp>
      <p:sp>
        <p:nvSpPr>
          <p:cNvPr id="19" name="rect-51">
            <a:extLst xmlns:a="http://schemas.openxmlformats.org/drawingml/2006/main">
              <a:ext uri="{FF2B5EF4-FFF2-40B4-BE49-F238E27FC236}">
                <a16:creationId xmlns:a16="http://schemas.microsoft.com/office/drawing/2014/main" id="{0FB66E70-E150-4150-90E9-DDE8814F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2057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3370FF"/>
            </a:solidFill>
            <a:prstDash val="solid"/>
          </a:ln>
        </p:spPr>
      </p:sp>
      <p:sp>
        <p:nvSpPr>
          <p:cNvPr id="20" name="text-52">
            <a:extLst xmlns:a="http://schemas.openxmlformats.org/drawingml/2006/main">
              <a:ext uri="{FF2B5EF4-FFF2-40B4-BE49-F238E27FC236}">
                <a16:creationId xmlns:a16="http://schemas.microsoft.com/office/drawing/2014/main" id="{D6300FDA-5B1C-49CB-AB04-FF34CD70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76500"/>
            <a:ext cx="1409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51" name="rule-53"/>
          <p:cNvCxnSpPr/>
          <p:nvPr/>
        </p:nvCxnSpPr>
        <p:spPr>
          <a:xfrm xmlns:a="http://schemas.openxmlformats.org/drawingml/2006/main">
            <a:off x="5505450" y="3009900"/>
            <a:ext cx="1371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sp>
        <p:nvSpPr>
          <p:cNvPr id="22" name="text-54">
            <a:extLst xmlns:a="http://schemas.openxmlformats.org/drawingml/2006/main">
              <a:ext uri="{FF2B5EF4-FFF2-40B4-BE49-F238E27FC236}">
                <a16:creationId xmlns:a16="http://schemas.microsoft.com/office/drawing/2014/main" id="{BAE2EE36-7114-4B27-8281-FCC7C887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95650"/>
            <a:ext cx="1524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7816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
REST API</a:t>
            </a:r>
          </a:p>
        </p:txBody>
      </p:sp>
      <p:sp>
        <p:nvSpPr>
          <p:cNvPr id="23" name="text-55">
            <a:extLst xmlns:a="http://schemas.openxmlformats.org/drawingml/2006/main">
              <a:ext uri="{FF2B5EF4-FFF2-40B4-BE49-F238E27FC236}">
                <a16:creationId xmlns:a16="http://schemas.microsoft.com/office/drawing/2014/main" id="{61AD431E-328B-4AFF-9E6A-C157AA3C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1524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· Swagger
SignalR Hub</a:t>
            </a:r>
          </a:p>
        </p:txBody>
      </p:sp>
      <p:sp>
        <p:nvSpPr>
          <p:cNvPr id="24" name="rect-56">
            <a:extLst xmlns:a="http://schemas.openxmlformats.org/drawingml/2006/main">
              <a:ext uri="{FF2B5EF4-FFF2-40B4-BE49-F238E27FC236}">
                <a16:creationId xmlns:a16="http://schemas.microsoft.com/office/drawing/2014/main" id="{5A279E2A-BBC2-4BC8-86FF-CF7903AC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19350"/>
            <a:ext cx="281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5" name="rect-57">
            <a:extLst xmlns:a="http://schemas.openxmlformats.org/drawingml/2006/main">
              <a:ext uri="{FF2B5EF4-FFF2-40B4-BE49-F238E27FC236}">
                <a16:creationId xmlns:a16="http://schemas.microsoft.com/office/drawing/2014/main" id="{0DC012C0-2A56-4CBF-A2D7-1A318816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76600"/>
            <a:ext cx="281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6" name="rect-58">
            <a:extLst xmlns:a="http://schemas.openxmlformats.org/drawingml/2006/main">
              <a:ext uri="{FF2B5EF4-FFF2-40B4-BE49-F238E27FC236}">
                <a16:creationId xmlns:a16="http://schemas.microsoft.com/office/drawing/2014/main" id="{ED3A2220-38E1-46A5-8F5C-91999F10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33850"/>
            <a:ext cx="281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7" name="text-59">
            <a:extLst xmlns:a="http://schemas.openxmlformats.org/drawingml/2006/main">
              <a:ext uri="{FF2B5EF4-FFF2-40B4-BE49-F238E27FC236}">
                <a16:creationId xmlns:a16="http://schemas.microsoft.com/office/drawing/2014/main" id="{BFA16E42-A09A-4219-A37F-C9E324C6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9080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0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 · 业务数据</a:t>
            </a:r>
          </a:p>
        </p:txBody>
      </p:sp>
      <p:sp>
        <p:nvSpPr>
          <p:cNvPr id="28" name="text-60">
            <a:extLst xmlns:a="http://schemas.openxmlformats.org/drawingml/2006/main">
              <a:ext uri="{FF2B5EF4-FFF2-40B4-BE49-F238E27FC236}">
                <a16:creationId xmlns:a16="http://schemas.microsoft.com/office/drawing/2014/main" id="{6725445F-2824-418A-B0D4-32B9E771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480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 · 文件</a:t>
            </a:r>
          </a:p>
        </p:txBody>
      </p:sp>
      <p:sp>
        <p:nvSpPr>
          <p:cNvPr id="29" name="text-61">
            <a:extLst xmlns:a="http://schemas.openxmlformats.org/drawingml/2006/main">
              <a:ext uri="{FF2B5EF4-FFF2-40B4-BE49-F238E27FC236}">
                <a16:creationId xmlns:a16="http://schemas.microsoft.com/office/drawing/2014/main" id="{B8D4CB66-367E-40EA-8963-68020955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0530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30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 / Agora · 实时</a:t>
            </a:r>
          </a:p>
        </p:txBody>
      </p:sp>
      <p:sp>
        <p:nvSpPr>
          <p:cNvPr id="30" name="text-62">
            <a:extLst xmlns:a="http://schemas.openxmlformats.org/drawingml/2006/main">
              <a:ext uri="{FF2B5EF4-FFF2-40B4-BE49-F238E27FC236}">
                <a16:creationId xmlns:a16="http://schemas.microsoft.com/office/drawing/2014/main" id="{87C5B523-CFB5-4C75-9867-FC34D167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04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区分终端会话；所有终端共享同一用户、组织与业务数据模型。</a:t>
            </a:r>
          </a:p>
        </p:txBody>
      </p:sp>
    </p:spTree>
    <p:extLst>
      <p:ext uri="{BB962C8B-B14F-4D97-AF65-F5344CB8AC3E}">
        <p14:creationId xmlns:p14="http://schemas.microsoft.com/office/powerpoint/2010/main" val="1064244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63">
            <a:extLst xmlns:a="http://schemas.openxmlformats.org/drawingml/2006/main">
              <a:ext uri="{FF2B5EF4-FFF2-40B4-BE49-F238E27FC236}">
                <a16:creationId xmlns:a16="http://schemas.microsoft.com/office/drawing/2014/main" id="{42526E22-4557-43AC-A6E9-DE0FD6F9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四条主线覆盖完整协作场景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B5376F34-4FAC-41DB-8BC9-5CD5ABFC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5A98676A-1AEA-4039-869F-6C00816A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cxnSp>
        <p:nvCxnSpPr>
          <p:cNvPr id="24" name="rule-66"/>
          <p:cNvCxnSpPr/>
          <p:nvPr/>
        </p:nvCxnSpPr>
        <p:spPr>
          <a:xfrm xmlns:a="http://schemas.openxmlformats.org/drawingml/2006/main">
            <a:off x="3028950" y="14668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cxnSp>
        <p:nvCxnSpPr>
          <p:cNvPr id="25" name="rule-67"/>
          <p:cNvCxnSpPr/>
          <p:nvPr/>
        </p:nvCxnSpPr>
        <p:spPr>
          <a:xfrm xmlns:a="http://schemas.openxmlformats.org/drawingml/2006/main">
            <a:off x="5924550" y="14668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cxnSp>
        <p:nvCxnSpPr>
          <p:cNvPr id="26" name="rule-68"/>
          <p:cNvCxnSpPr/>
          <p:nvPr/>
        </p:nvCxnSpPr>
        <p:spPr>
          <a:xfrm xmlns:a="http://schemas.openxmlformats.org/drawingml/2006/main">
            <a:off x="8820150" y="14668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7" name="text-69">
            <a:extLst xmlns:a="http://schemas.openxmlformats.org/drawingml/2006/main">
              <a:ext uri="{FF2B5EF4-FFF2-40B4-BE49-F238E27FC236}">
                <a16:creationId xmlns:a16="http://schemas.microsoft.com/office/drawing/2014/main" id="{4EC449F4-A5C1-4A26-8259-7752567A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text-70">
            <a:extLst xmlns:a="http://schemas.openxmlformats.org/drawingml/2006/main">
              <a:ext uri="{FF2B5EF4-FFF2-40B4-BE49-F238E27FC236}">
                <a16:creationId xmlns:a16="http://schemas.microsoft.com/office/drawing/2014/main" id="{A48EB703-8369-4267-AD7F-69A67634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沟通协作</a:t>
            </a:r>
          </a:p>
        </p:txBody>
      </p:sp>
      <p:sp>
        <p:nvSpPr>
          <p:cNvPr id="9" name="text-71">
            <a:extLst xmlns:a="http://schemas.openxmlformats.org/drawingml/2006/main">
              <a:ext uri="{FF2B5EF4-FFF2-40B4-BE49-F238E27FC236}">
                <a16:creationId xmlns:a16="http://schemas.microsoft.com/office/drawing/2014/main" id="{63F1D582-AE62-4161-9FD1-AB021A4A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 / 群聊 / @成员
• 撤回、已读、搜索
• 好友与通知中心
• 视频会议与会中聊天</a:t>
            </a:r>
          </a:p>
        </p:txBody>
      </p:sp>
      <p:sp>
        <p:nvSpPr>
          <p:cNvPr id="10" name="text-72">
            <a:extLst xmlns:a="http://schemas.openxmlformats.org/drawingml/2006/main">
              <a:ext uri="{FF2B5EF4-FFF2-40B4-BE49-F238E27FC236}">
                <a16:creationId xmlns:a16="http://schemas.microsoft.com/office/drawing/2014/main" id="{A2F39380-7C7F-4CB7-B915-D780840B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1" name="text-73">
            <a:extLst xmlns:a="http://schemas.openxmlformats.org/drawingml/2006/main">
              <a:ext uri="{FF2B5EF4-FFF2-40B4-BE49-F238E27FC236}">
                <a16:creationId xmlns:a16="http://schemas.microsoft.com/office/drawing/2014/main" id="{3EA1C086-D411-4DE8-B198-EB6D444A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</a:t>
            </a:r>
          </a:p>
        </p:txBody>
      </p:sp>
      <p:sp>
        <p:nvSpPr>
          <p:cNvPr id="12" name="text-74">
            <a:extLst xmlns:a="http://schemas.openxmlformats.org/drawingml/2006/main">
              <a:ext uri="{FF2B5EF4-FFF2-40B4-BE49-F238E27FC236}">
                <a16:creationId xmlns:a16="http://schemas.microsoft.com/office/drawing/2014/main" id="{58156908-B956-43BB-9AAA-096545C0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富文本云文档
• 评论、版本、协作者
• 云盘、文件夹、回收站
• 知识库空间与节点</a:t>
            </a:r>
          </a:p>
        </p:txBody>
      </p:sp>
      <p:sp>
        <p:nvSpPr>
          <p:cNvPr id="13" name="text-75">
            <a:extLst xmlns:a="http://schemas.openxmlformats.org/drawingml/2006/main">
              <a:ext uri="{FF2B5EF4-FFF2-40B4-BE49-F238E27FC236}">
                <a16:creationId xmlns:a16="http://schemas.microsoft.com/office/drawing/2014/main" id="{D8C699C9-4CB7-4701-8C8C-CF5E8AE8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4" name="text-76">
            <a:extLst xmlns:a="http://schemas.openxmlformats.org/drawingml/2006/main">
              <a:ext uri="{FF2B5EF4-FFF2-40B4-BE49-F238E27FC236}">
                <a16:creationId xmlns:a16="http://schemas.microsoft.com/office/drawing/2014/main" id="{9CD36C89-EE06-44AC-BDF3-8662D0BE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流程协作</a:t>
            </a:r>
          </a:p>
        </p:txBody>
      </p:sp>
      <p:sp>
        <p:nvSpPr>
          <p:cNvPr id="15" name="text-77">
            <a:extLst xmlns:a="http://schemas.openxmlformats.org/drawingml/2006/main">
              <a:ext uri="{FF2B5EF4-FFF2-40B4-BE49-F238E27FC236}">
                <a16:creationId xmlns:a16="http://schemas.microsoft.com/office/drawing/2014/main" id="{DFC6FC9C-940B-467B-B5C1-FA689086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月 / 周 / 日历
• 忙闲与参会回执
• 审批模板与实例
• 任务状态闭环</a:t>
            </a:r>
          </a:p>
        </p:txBody>
      </p:sp>
      <p:sp>
        <p:nvSpPr>
          <p:cNvPr id="16" name="text-78">
            <a:extLst xmlns:a="http://schemas.openxmlformats.org/drawingml/2006/main">
              <a:ext uri="{FF2B5EF4-FFF2-40B4-BE49-F238E27FC236}">
                <a16:creationId xmlns:a16="http://schemas.microsoft.com/office/drawing/2014/main" id="{D3A76C3B-AA72-4770-8FD2-DA769FD1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79">
            <a:extLst xmlns:a="http://schemas.openxmlformats.org/drawingml/2006/main">
              <a:ext uri="{FF2B5EF4-FFF2-40B4-BE49-F238E27FC236}">
                <a16:creationId xmlns:a16="http://schemas.microsoft.com/office/drawing/2014/main" id="{0EA08503-3F1D-4884-B357-F0BE9E9A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组织治理</a:t>
            </a:r>
          </a:p>
        </p:txBody>
      </p:sp>
      <p:sp>
        <p:nvSpPr>
          <p:cNvPr id="18" name="text-80">
            <a:extLst xmlns:a="http://schemas.openxmlformats.org/drawingml/2006/main">
              <a:ext uri="{FF2B5EF4-FFF2-40B4-BE49-F238E27FC236}">
                <a16:creationId xmlns:a16="http://schemas.microsoft.com/office/drawing/2014/main" id="{0499DA89-1795-4B99-80EE-2859C1A6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通讯录与部门树
• 用户、角色与权限
• 数据字典
• 操作日志与个人资料</a:t>
            </a:r>
          </a:p>
        </p:txBody>
      </p:sp>
      <p:sp>
        <p:nvSpPr>
          <p:cNvPr id="19" name="rect-81">
            <a:extLst xmlns:a="http://schemas.openxmlformats.org/drawingml/2006/main">
              <a:ext uri="{FF2B5EF4-FFF2-40B4-BE49-F238E27FC236}">
                <a16:creationId xmlns:a16="http://schemas.microsoft.com/office/drawing/2014/main" id="{3C5815A6-883E-4BED-854E-05995A5A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82">
            <a:extLst xmlns:a="http://schemas.openxmlformats.org/drawingml/2006/main">
              <a:ext uri="{FF2B5EF4-FFF2-40B4-BE49-F238E27FC236}">
                <a16:creationId xmlns:a16="http://schemas.microsoft.com/office/drawing/2014/main" id="{B66E8AE2-64F9-434A-B51B-08E881EC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093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核心价值：用户不必在多套系统间切换，沟通、内容与流程可以在同一工作台连续完成。</a:t>
            </a:r>
          </a:p>
        </p:txBody>
      </p:sp>
    </p:spTree>
    <p:extLst>
      <p:ext uri="{BB962C8B-B14F-4D97-AF65-F5344CB8AC3E}">
        <p14:creationId xmlns:p14="http://schemas.microsoft.com/office/powerpoint/2010/main" val="881552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01B0FFBE-576E-4BE6-87E3-636E54B5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即时通信已经跑通核心群聊场景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2C41610E-3067-46CC-B031-C815AC0A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截图：真实后端测试账号；依据：IM 前后端代码</a:t>
            </a:r>
          </a:p>
        </p:txBody>
      </p:sp>
      <p:sp>
        <p:nvSpPr>
          <p:cNvPr id="3" name="text-85">
            <a:extLst xmlns:a="http://schemas.openxmlformats.org/drawingml/2006/main">
              <a:ext uri="{FF2B5EF4-FFF2-40B4-BE49-F238E27FC236}">
                <a16:creationId xmlns:a16="http://schemas.microsoft.com/office/drawing/2014/main" id="{B59548CF-AD22-49B2-97EF-DBA45DB3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4" name="rect-86">
            <a:extLst xmlns:a="http://schemas.openxmlformats.org/drawingml/2006/main">
              <a:ext uri="{FF2B5EF4-FFF2-40B4-BE49-F238E27FC236}">
                <a16:creationId xmlns:a16="http://schemas.microsoft.com/office/drawing/2014/main" id="{DDBD2A35-9FA2-49BF-A9A6-B4FC08C0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78676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3729852C-FB12-4D94-9FA4-F0CC7A32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52550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真实数据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9506773C-743B-4748-9FAA-5DC2E153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52600"/>
            <a:ext cx="2762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会话列表、群成员和历史消息来自真实后端，不是静态原型。</a:t>
            </a:r>
          </a:p>
        </p:txBody>
      </p:sp>
      <p:cxnSp>
        <p:nvCxnSpPr>
          <p:cNvPr id="19" name="rule-89"/>
          <p:cNvCxnSpPr/>
          <p:nvPr/>
        </p:nvCxnSpPr>
        <p:spPr>
          <a:xfrm xmlns:a="http://schemas.openxmlformats.org/drawingml/2006/main">
            <a:off x="8705850" y="2800350"/>
            <a:ext cx="2762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8" name="text-90">
            <a:extLst xmlns:a="http://schemas.openxmlformats.org/drawingml/2006/main">
              <a:ext uri="{FF2B5EF4-FFF2-40B4-BE49-F238E27FC236}">
                <a16:creationId xmlns:a16="http://schemas.microsoft.com/office/drawing/2014/main" id="{D5DC99C4-94A8-4CA2-BC60-2E17222B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480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核心交互</a:t>
            </a:r>
          </a:p>
        </p:txBody>
      </p:sp>
      <p:sp>
        <p:nvSpPr>
          <p:cNvPr id="9" name="text-91">
            <a:extLst xmlns:a="http://schemas.openxmlformats.org/drawingml/2006/main">
              <a:ext uri="{FF2B5EF4-FFF2-40B4-BE49-F238E27FC236}">
                <a16:creationId xmlns:a16="http://schemas.microsoft.com/office/drawing/2014/main" id="{8378D638-6F00-48C8-A7AD-469437BF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27622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单聊与群聊
• @成员、撤回、未读
• 群公告与成员管理
• 消息搜索与已读回执</a:t>
            </a:r>
          </a:p>
        </p:txBody>
      </p:sp>
      <p:sp>
        <p:nvSpPr>
          <p:cNvPr id="10" name="rect-92">
            <a:extLst xmlns:a="http://schemas.openxmlformats.org/drawingml/2006/main">
              <a:ext uri="{FF2B5EF4-FFF2-40B4-BE49-F238E27FC236}">
                <a16:creationId xmlns:a16="http://schemas.microsoft.com/office/drawing/2014/main" id="{797FD4E8-5F82-4A58-80DB-C682C656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34000"/>
            <a:ext cx="276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93">
            <a:extLst xmlns:a="http://schemas.openxmlformats.org/drawingml/2006/main">
              <a:ext uri="{FF2B5EF4-FFF2-40B4-BE49-F238E27FC236}">
                <a16:creationId xmlns:a16="http://schemas.microsoft.com/office/drawing/2014/main" id="{5A8A1771-B380-4458-BC95-548E3EDE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67350"/>
            <a:ext cx="238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 接收事件
REST API 持久化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f0595795c408f"/>
          <a:stretch xmlns:a="http://schemas.openxmlformats.org/drawingml/2006/main"/>
        </p:blipFill>
        <p:spPr>
          <a:xfrm xmlns:a="http://schemas.openxmlformats.org/drawingml/2006/main">
            <a:off x="630555" y="1314450"/>
            <a:ext cx="740664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</p:spTree>
    <p:extLst>
      <p:ext uri="{BB962C8B-B14F-4D97-AF65-F5344CB8AC3E}">
        <p14:creationId xmlns:p14="http://schemas.microsoft.com/office/powerpoint/2010/main" val="20043374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4">
            <a:extLst xmlns:a="http://schemas.openxmlformats.org/drawingml/2006/main">
              <a:ext uri="{FF2B5EF4-FFF2-40B4-BE49-F238E27FC236}">
                <a16:creationId xmlns:a16="http://schemas.microsoft.com/office/drawing/2014/main" id="{5D6C9BE4-6691-4A57-B105-FC8CF6D8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内容协作覆盖创建、治理与回收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5C0162CB-53EB-4108-99FC-AAAD4183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截图：真实后端数据；依据：Documents / Files / Wiki 接口</a:t>
            </a:r>
          </a:p>
        </p:txBody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AD5E518C-2DC3-4883-B665-30B763BA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4" name="rect-97">
            <a:extLst xmlns:a="http://schemas.openxmlformats.org/drawingml/2006/main">
              <a:ext uri="{FF2B5EF4-FFF2-40B4-BE49-F238E27FC236}">
                <a16:creationId xmlns:a16="http://schemas.microsoft.com/office/drawing/2014/main" id="{A50A28F4-5804-4412-9560-7366C1A4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410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rect-98">
            <a:extLst xmlns:a="http://schemas.openxmlformats.org/drawingml/2006/main">
              <a:ext uri="{FF2B5EF4-FFF2-40B4-BE49-F238E27FC236}">
                <a16:creationId xmlns:a16="http://schemas.microsoft.com/office/drawing/2014/main" id="{7F0E4095-B47B-41D4-BCCA-81B21A75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38250"/>
            <a:ext cx="5810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10FC7179-0B43-40FC-AC20-D2B274BB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云文档</a:t>
            </a: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9269BB08-6D75-4CFC-BE3F-A4E90D12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5276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创建与编辑、评论、版本历史、协作者、可见性、版本恢复与软删除。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090C68A1-D8CB-4795-964D-8D68C7F0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云盘与知识库</a:t>
            </a:r>
          </a:p>
        </p:txBody>
      </p:sp>
      <p:sp>
        <p:nvSpPr>
          <p:cNvPr id="9" name="text-102">
            <a:extLst xmlns:a="http://schemas.openxmlformats.org/drawingml/2006/main">
              <a:ext uri="{FF2B5EF4-FFF2-40B4-BE49-F238E27FC236}">
                <a16:creationId xmlns:a16="http://schemas.microsoft.com/office/drawing/2014/main" id="{8FD40702-7F90-43DE-BA61-DDEBE004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76850"/>
            <a:ext cx="5657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文件夹、上传下载、预览、移动、分享、回收站；知识库支持空间、节点、成员和搜索。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503a4c16c40ba"/>
          <a:stretch xmlns:a="http://schemas.openxmlformats.org/drawingml/2006/main"/>
        </p:blipFill>
        <p:spPr>
          <a:xfrm xmlns:a="http://schemas.openxmlformats.org/drawingml/2006/main">
            <a:off x="560070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9a1ab1ba2417c"/>
          <a:stretch xmlns:a="http://schemas.openxmlformats.org/drawingml/2006/main"/>
        </p:blipFill>
        <p:spPr>
          <a:xfrm xmlns:a="http://schemas.openxmlformats.org/drawingml/2006/main">
            <a:off x="6341745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</p:spTree>
    <p:extLst>
      <p:ext uri="{BB962C8B-B14F-4D97-AF65-F5344CB8AC3E}">
        <p14:creationId xmlns:p14="http://schemas.microsoft.com/office/powerpoint/2010/main" val="19942531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03">
            <a:extLst xmlns:a="http://schemas.openxmlformats.org/drawingml/2006/main">
              <a:ext uri="{FF2B5EF4-FFF2-40B4-BE49-F238E27FC236}">
                <a16:creationId xmlns:a16="http://schemas.microsoft.com/office/drawing/2014/main" id="{DA5B0FA0-7172-472D-9D73-93F419FA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终端复用降低重复开发成本</a:t>
            </a:r>
          </a:p>
        </p:txBody>
      </p:sp>
      <p:sp>
        <p:nvSpPr>
          <p:cNvPr id="2" name="text-104">
            <a:extLst xmlns:a="http://schemas.openxmlformats.org/drawingml/2006/main">
              <a:ext uri="{FF2B5EF4-FFF2-40B4-BE49-F238E27FC236}">
                <a16:creationId xmlns:a16="http://schemas.microsoft.com/office/drawing/2014/main" id="{BC7C49CB-D569-44F0-8DCE-987CC3A6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05">
            <a:extLst xmlns:a="http://schemas.openxmlformats.org/drawingml/2006/main">
              <a:ext uri="{FF2B5EF4-FFF2-40B4-BE49-F238E27FC236}">
                <a16:creationId xmlns:a16="http://schemas.microsoft.com/office/drawing/2014/main" id="{4D053681-B8BC-4151-B663-925106D0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4" name="rect-106">
            <a:extLst xmlns:a="http://schemas.openxmlformats.org/drawingml/2006/main">
              <a:ext uri="{FF2B5EF4-FFF2-40B4-BE49-F238E27FC236}">
                <a16:creationId xmlns:a16="http://schemas.microsoft.com/office/drawing/2014/main" id="{4C9AF949-DCBE-4051-9E45-BCCB9990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52006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rect-107">
            <a:extLst xmlns:a="http://schemas.openxmlformats.org/drawingml/2006/main">
              <a:ext uri="{FF2B5EF4-FFF2-40B4-BE49-F238E27FC236}">
                <a16:creationId xmlns:a16="http://schemas.microsoft.com/office/drawing/2014/main" id="{2C30FCF5-1E22-4AEF-B791-25E8110D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14450"/>
            <a:ext cx="52006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text-108">
            <a:extLst xmlns:a="http://schemas.openxmlformats.org/drawingml/2006/main">
              <a:ext uri="{FF2B5EF4-FFF2-40B4-BE49-F238E27FC236}">
                <a16:creationId xmlns:a16="http://schemas.microsoft.com/office/drawing/2014/main" id="{BCFC142F-BF78-4817-9D34-8EAA534E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+ Desktop</a:t>
            </a:r>
          </a:p>
        </p:txBody>
      </p:sp>
      <p:sp>
        <p:nvSpPr>
          <p:cNvPr id="7" name="text-109">
            <a:extLst xmlns:a="http://schemas.openxmlformats.org/drawingml/2006/main">
              <a:ext uri="{FF2B5EF4-FFF2-40B4-BE49-F238E27FC236}">
                <a16:creationId xmlns:a16="http://schemas.microsoft.com/office/drawing/2014/main" id="{3606D5E7-9F1E-4321-8A07-CE857346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85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一套 Vue 3 代码</a:t>
            </a:r>
          </a:p>
        </p:txBody>
      </p:sp>
      <p:sp>
        <p:nvSpPr>
          <p:cNvPr id="8" name="text-110">
            <a:extLst xmlns:a="http://schemas.openxmlformats.org/drawingml/2006/main">
              <a:ext uri="{FF2B5EF4-FFF2-40B4-BE49-F238E27FC236}">
                <a16:creationId xmlns:a16="http://schemas.microsoft.com/office/drawing/2014/main" id="{8A39E9F5-3B09-45A5-ADAD-7A8772CE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4191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Web 是完整业务主端
• Electron 直接复用构建产物
• 统一路由、状态与 UI
• 减少桌面端重复开发</a:t>
            </a:r>
          </a:p>
        </p:txBody>
      </p:sp>
      <p:sp>
        <p:nvSpPr>
          <p:cNvPr id="9" name="text-111">
            <a:extLst xmlns:a="http://schemas.openxmlformats.org/drawingml/2006/main">
              <a:ext uri="{FF2B5EF4-FFF2-40B4-BE49-F238E27FC236}">
                <a16:creationId xmlns:a16="http://schemas.microsoft.com/office/drawing/2014/main" id="{EB154A33-1BF7-4995-9C7F-BC353F36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3714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Mobile + Mini Program</a:t>
            </a:r>
          </a:p>
        </p:txBody>
      </p:sp>
      <p:sp>
        <p:nvSpPr>
          <p:cNvPr id="10" name="text-112">
            <a:extLst xmlns:a="http://schemas.openxmlformats.org/drawingml/2006/main">
              <a:ext uri="{FF2B5EF4-FFF2-40B4-BE49-F238E27FC236}">
                <a16:creationId xmlns:a16="http://schemas.microsoft.com/office/drawing/2014/main" id="{72ACE39C-D0A4-4C64-B188-48B0BD39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3714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uni-app 共享 22 个页面</a:t>
            </a:r>
          </a:p>
        </p:txBody>
      </p:sp>
      <p:sp>
        <p:nvSpPr>
          <p:cNvPr id="11" name="text-113">
            <a:extLst xmlns:a="http://schemas.openxmlformats.org/drawingml/2006/main">
              <a:ext uri="{FF2B5EF4-FFF2-40B4-BE49-F238E27FC236}">
                <a16:creationId xmlns:a16="http://schemas.microsoft.com/office/drawing/2014/main" id="{42D8EBA1-C7C2-4CA1-89CD-9B1775DA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4095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App 与小程序共享 API 层
• 底部导航适配移动场景
• App 构建通过
• 微信小程序构建通过</a:t>
            </a:r>
          </a:p>
        </p:txBody>
      </p:sp>
      <p:sp>
        <p:nvSpPr>
          <p:cNvPr id="12" name="rect-114">
            <a:extLst xmlns:a="http://schemas.openxmlformats.org/drawingml/2006/main">
              <a:ext uri="{FF2B5EF4-FFF2-40B4-BE49-F238E27FC236}">
                <a16:creationId xmlns:a16="http://schemas.microsoft.com/office/drawing/2014/main" id="{21F5DF30-2099-4E3E-BCA8-6C5630C4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81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15">
            <a:extLst xmlns:a="http://schemas.openxmlformats.org/drawingml/2006/main">
              <a:ext uri="{FF2B5EF4-FFF2-40B4-BE49-F238E27FC236}">
                <a16:creationId xmlns:a16="http://schemas.microsoft.com/office/drawing/2014/main" id="{4DEFD553-E6B5-493F-A1CE-3A0CF090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24225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API</a:t>
            </a:r>
          </a:p>
        </p:txBody>
      </p:sp>
      <p:sp>
        <p:nvSpPr>
          <p:cNvPr id="14" name="text-116">
            <a:extLst xmlns:a="http://schemas.openxmlformats.org/drawingml/2006/main">
              <a:ext uri="{FF2B5EF4-FFF2-40B4-BE49-F238E27FC236}">
                <a16:creationId xmlns:a16="http://schemas.microsoft.com/office/drawing/2014/main" id="{D54E3B0B-E156-4A24-A25F-6D153220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0"/>
            <a:ext cx="1428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B57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安卓 APK
53.0 MB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979a33cee48ae"/>
          <a:stretch xmlns:a="http://schemas.openxmlformats.org/drawingml/2006/main"/>
        </p:blipFill>
        <p:spPr>
          <a:xfrm xmlns:a="http://schemas.openxmlformats.org/drawingml/2006/main">
            <a:off x="8886752" y="4648200"/>
            <a:ext cx="800247" cy="819150"/>
          </a:xfrm>
          <a:prstGeom xmlns:a="http://schemas.openxmlformats.org/drawingml/2006/main" prst="roundRect">
            <a:avLst>
              <a:gd name="adj" fmla="val 6977"/>
            </a:avLst>
          </a:prstGeom>
        </p:spPr>
      </p:pic>
    </p:spTree>
    <p:extLst>
      <p:ext uri="{BB962C8B-B14F-4D97-AF65-F5344CB8AC3E}">
        <p14:creationId xmlns:p14="http://schemas.microsoft.com/office/powerpoint/2010/main" val="12946292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17">
            <a:extLst xmlns:a="http://schemas.openxmlformats.org/drawingml/2006/main">
              <a:ext uri="{FF2B5EF4-FFF2-40B4-BE49-F238E27FC236}">
                <a16:creationId xmlns:a16="http://schemas.microsoft.com/office/drawing/2014/main" id="{2261DADF-E7E4-443A-B26B-C588798E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三条后端能力线支撑全部业务</a:t>
            </a:r>
          </a:p>
        </p:txBody>
      </p:sp>
      <p:sp>
        <p:nvSpPr>
          <p:cNvPr id="2" name="text-118">
            <a:extLst xmlns:a="http://schemas.openxmlformats.org/drawingml/2006/main">
              <a:ext uri="{FF2B5EF4-FFF2-40B4-BE49-F238E27FC236}">
                <a16:creationId xmlns:a16="http://schemas.microsoft.com/office/drawing/2014/main" id="{E68B8103-347E-4689-B424-19C903C9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19">
            <a:extLst xmlns:a="http://schemas.openxmlformats.org/drawingml/2006/main">
              <a:ext uri="{FF2B5EF4-FFF2-40B4-BE49-F238E27FC236}">
                <a16:creationId xmlns:a16="http://schemas.microsoft.com/office/drawing/2014/main" id="{875D7566-5619-4132-99FE-DA1164B1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4" name="text-120">
            <a:extLst xmlns:a="http://schemas.openxmlformats.org/drawingml/2006/main">
              <a:ext uri="{FF2B5EF4-FFF2-40B4-BE49-F238E27FC236}">
                <a16:creationId xmlns:a16="http://schemas.microsoft.com/office/drawing/2014/main" id="{4C9ECD64-3594-48B8-B87D-483724B4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228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16 controllers</a:t>
            </a:r>
          </a:p>
        </p:txBody>
      </p:sp>
      <p:sp>
        <p:nvSpPr>
          <p:cNvPr id="5" name="text-121">
            <a:extLst xmlns:a="http://schemas.openxmlformats.org/drawingml/2006/main">
              <a:ext uri="{FF2B5EF4-FFF2-40B4-BE49-F238E27FC236}">
                <a16:creationId xmlns:a16="http://schemas.microsoft.com/office/drawing/2014/main" id="{800A9DE2-E56E-46F7-9771-365C7706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5730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 HTTP actions</a:t>
            </a:r>
          </a:p>
        </p:txBody>
      </p:sp>
      <p:sp>
        <p:nvSpPr>
          <p:cNvPr id="6" name="text-122">
            <a:extLst xmlns:a="http://schemas.openxmlformats.org/drawingml/2006/main">
              <a:ext uri="{FF2B5EF4-FFF2-40B4-BE49-F238E27FC236}">
                <a16:creationId xmlns:a16="http://schemas.microsoft.com/office/drawing/2014/main" id="{B4FF8F4B-8A8B-4875-8244-9194423F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36 DbSets</a:t>
            </a:r>
          </a:p>
        </p:txBody>
      </p:sp>
      <p:sp>
        <p:nvSpPr>
          <p:cNvPr id="7" name="text-123">
            <a:extLst xmlns:a="http://schemas.openxmlformats.org/drawingml/2006/main">
              <a:ext uri="{FF2B5EF4-FFF2-40B4-BE49-F238E27FC236}">
                <a16:creationId xmlns:a16="http://schemas.microsoft.com/office/drawing/2014/main" id="{EEA5CBF6-4E87-4A2A-B1AE-44D14E03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57300"/>
            <a:ext cx="2647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8</a:t>
            </a:r>
          </a:p>
        </p:txBody>
      </p:sp>
      <p:cxnSp>
        <p:nvCxnSpPr>
          <p:cNvPr id="26" name="rule-124"/>
          <p:cNvCxnSpPr/>
          <p:nvPr/>
        </p:nvCxnSpPr>
        <p:spPr>
          <a:xfrm xmlns:a="http://schemas.openxmlformats.org/drawingml/2006/main">
            <a:off x="400050" y="1885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9" name="text-125">
            <a:extLst xmlns:a="http://schemas.openxmlformats.org/drawingml/2006/main">
              <a:ext uri="{FF2B5EF4-FFF2-40B4-BE49-F238E27FC236}">
                <a16:creationId xmlns:a16="http://schemas.microsoft.com/office/drawing/2014/main" id="{32EAD745-C3EC-4B3B-92A9-E4C9132B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鉴权与治理</a:t>
            </a:r>
          </a:p>
        </p:txBody>
      </p:sp>
      <p:sp>
        <p:nvSpPr>
          <p:cNvPr id="10" name="text-126">
            <a:extLst xmlns:a="http://schemas.openxmlformats.org/drawingml/2006/main">
              <a:ext uri="{FF2B5EF4-FFF2-40B4-BE49-F238E27FC236}">
                <a16:creationId xmlns:a16="http://schemas.microsoft.com/office/drawing/2014/main" id="{BD970BEF-40BC-4C25-854D-AC2EAE0A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304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JWT + jti 撤销
• 角色与权限持久化
• 客户端会话版本
• 统一异常与 traceId</a:t>
            </a:r>
          </a:p>
        </p:txBody>
      </p:sp>
      <p:cxnSp>
        <p:nvCxnSpPr>
          <p:cNvPr id="29" name="rule-127"/>
          <p:cNvCxnSpPr/>
          <p:nvPr/>
        </p:nvCxnSpPr>
        <p:spPr>
          <a:xfrm xmlns:a="http://schemas.openxmlformats.org/drawingml/2006/main">
            <a:off x="4000500" y="2152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2" name="text-128">
            <a:extLst xmlns:a="http://schemas.openxmlformats.org/drawingml/2006/main">
              <a:ext uri="{FF2B5EF4-FFF2-40B4-BE49-F238E27FC236}">
                <a16:creationId xmlns:a16="http://schemas.microsoft.com/office/drawing/2014/main" id="{29A333A7-387D-47BF-8E23-6F054E47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实时协作</a:t>
            </a:r>
          </a:p>
        </p:txBody>
      </p:sp>
      <p:sp>
        <p:nvSpPr>
          <p:cNvPr id="13" name="text-129">
            <a:extLst xmlns:a="http://schemas.openxmlformats.org/drawingml/2006/main">
              <a:ext uri="{FF2B5EF4-FFF2-40B4-BE49-F238E27FC236}">
                <a16:creationId xmlns:a16="http://schemas.microsoft.com/office/drawing/2014/main" id="{D2124586-13F5-479F-A10B-1D3AD581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04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SignalR 用户组 / 会话组
• 消息与通知推送
• 好友与会议事件
• Agora 会议令牌</a:t>
            </a:r>
          </a:p>
        </p:txBody>
      </p:sp>
      <p:cxnSp>
        <p:nvCxnSpPr>
          <p:cNvPr id="32" name="rule-130"/>
          <p:cNvCxnSpPr/>
          <p:nvPr/>
        </p:nvCxnSpPr>
        <p:spPr>
          <a:xfrm xmlns:a="http://schemas.openxmlformats.org/drawingml/2006/main">
            <a:off x="8001000" y="2152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5" name="text-131">
            <a:extLst xmlns:a="http://schemas.openxmlformats.org/drawingml/2006/main">
              <a:ext uri="{FF2B5EF4-FFF2-40B4-BE49-F238E27FC236}">
                <a16:creationId xmlns:a16="http://schemas.microsoft.com/office/drawing/2014/main" id="{F29943C4-0807-4C3B-93BD-FCA5B852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数据与文件</a:t>
            </a:r>
          </a:p>
        </p:txBody>
      </p:sp>
      <p:sp>
        <p:nvSpPr>
          <p:cNvPr id="16" name="text-132">
            <a:extLst xmlns:a="http://schemas.openxmlformats.org/drawingml/2006/main">
              <a:ext uri="{FF2B5EF4-FFF2-40B4-BE49-F238E27FC236}">
                <a16:creationId xmlns:a16="http://schemas.microsoft.com/office/drawing/2014/main" id="{32B919B5-10EE-4B43-992C-1977AE6A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04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EF Core + PostgreSQL
• 失败自动重试
• Local / MinIO 可切换
• 软删除与回收站</a:t>
            </a:r>
          </a:p>
        </p:txBody>
      </p:sp>
      <p:sp>
        <p:nvSpPr>
          <p:cNvPr id="17" name="rect-133">
            <a:extLst xmlns:a="http://schemas.openxmlformats.org/drawingml/2006/main">
              <a:ext uri="{FF2B5EF4-FFF2-40B4-BE49-F238E27FC236}">
                <a16:creationId xmlns:a16="http://schemas.microsoft.com/office/drawing/2014/main" id="{AC0DD524-88BE-431A-A4DC-43B1218B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34">
            <a:extLst xmlns:a="http://schemas.openxmlformats.org/drawingml/2006/main">
              <a:ext uri="{FF2B5EF4-FFF2-40B4-BE49-F238E27FC236}">
                <a16:creationId xmlns:a16="http://schemas.microsoft.com/office/drawing/2014/main" id="{7CB9609B-B2B9-4C74-BC81-DCA27DF2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934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后端不是单纯 CRUD：它同时处理会话安全、实时事件、文件生命周期与部署健康。</a:t>
            </a:r>
          </a:p>
        </p:txBody>
      </p:sp>
    </p:spTree>
    <p:extLst>
      <p:ext uri="{BB962C8B-B14F-4D97-AF65-F5344CB8AC3E}">
        <p14:creationId xmlns:p14="http://schemas.microsoft.com/office/powerpoint/2010/main" val="8848089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35">
            <a:extLst xmlns:a="http://schemas.openxmlformats.org/drawingml/2006/main">
              <a:ext uri="{FF2B5EF4-FFF2-40B4-BE49-F238E27FC236}">
                <a16:creationId xmlns:a16="http://schemas.microsoft.com/office/drawing/2014/main" id="{4AC8A137-9BDC-49C7-A094-2DA77E97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先落库再推送，保证最终一致</a:t>
            </a:r>
          </a:p>
        </p:txBody>
      </p:sp>
      <p:sp>
        <p:nvSpPr>
          <p:cNvPr id="2" name="text-136">
            <a:extLst xmlns:a="http://schemas.openxmlformats.org/drawingml/2006/main">
              <a:ext uri="{FF2B5EF4-FFF2-40B4-BE49-F238E27FC236}">
                <a16:creationId xmlns:a16="http://schemas.microsoft.com/office/drawing/2014/main" id="{C56F5E86-ADBA-4D26-855A-4A0B48B9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37">
            <a:extLst xmlns:a="http://schemas.openxmlformats.org/drawingml/2006/main">
              <a:ext uri="{FF2B5EF4-FFF2-40B4-BE49-F238E27FC236}">
                <a16:creationId xmlns:a16="http://schemas.microsoft.com/office/drawing/2014/main" id="{D7932102-5927-4414-979C-6D5C9E6B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cxnSp>
        <p:nvCxnSpPr>
          <p:cNvPr id="34" name="rule-138"/>
          <p:cNvCxnSpPr/>
          <p:nvPr/>
        </p:nvCxnSpPr>
        <p:spPr>
          <a:xfrm xmlns:a="http://schemas.openxmlformats.org/drawingml/2006/main">
            <a:off x="1143000" y="297180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35" name="rule-139"/>
          <p:cNvCxnSpPr/>
          <p:nvPr/>
        </p:nvCxnSpPr>
        <p:spPr>
          <a:xfrm xmlns:a="http://schemas.openxmlformats.org/drawingml/2006/main">
            <a:off x="3714750" y="297180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36" name="rule-140"/>
          <p:cNvCxnSpPr/>
          <p:nvPr/>
        </p:nvCxnSpPr>
        <p:spPr>
          <a:xfrm xmlns:a="http://schemas.openxmlformats.org/drawingml/2006/main">
            <a:off x="6286500" y="297180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37" name="rule-141"/>
          <p:cNvCxnSpPr/>
          <p:nvPr/>
        </p:nvCxnSpPr>
        <p:spPr>
          <a:xfrm xmlns:a="http://schemas.openxmlformats.org/drawingml/2006/main">
            <a:off x="8858250" y="2971800"/>
            <a:ext cx="2000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sp>
        <p:nvSpPr>
          <p:cNvPr id="8" name="rect-142">
            <a:extLst xmlns:a="http://schemas.openxmlformats.org/drawingml/2006/main">
              <a:ext uri="{FF2B5EF4-FFF2-40B4-BE49-F238E27FC236}">
                <a16:creationId xmlns:a16="http://schemas.microsoft.com/office/drawing/2014/main" id="{FD76948A-095B-4FCF-926E-769E16CD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-143">
            <a:extLst xmlns:a="http://schemas.openxmlformats.org/drawingml/2006/main">
              <a:ext uri="{FF2B5EF4-FFF2-40B4-BE49-F238E27FC236}">
                <a16:creationId xmlns:a16="http://schemas.microsoft.com/office/drawing/2014/main" id="{E71F3F7F-21E4-4C09-9E7B-94F8B49D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-144">
            <a:extLst xmlns:a="http://schemas.openxmlformats.org/drawingml/2006/main">
              <a:ext uri="{FF2B5EF4-FFF2-40B4-BE49-F238E27FC236}">
                <a16:creationId xmlns:a16="http://schemas.microsoft.com/office/drawing/2014/main" id="{9D47B9ED-C5C4-4ACB-A982-F7598772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-145">
            <a:extLst xmlns:a="http://schemas.openxmlformats.org/drawingml/2006/main">
              <a:ext uri="{FF2B5EF4-FFF2-40B4-BE49-F238E27FC236}">
                <a16:creationId xmlns:a16="http://schemas.microsoft.com/office/drawing/2014/main" id="{C211C365-3FB4-459D-A224-F37F50C8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-146">
            <a:extLst xmlns:a="http://schemas.openxmlformats.org/drawingml/2006/main">
              <a:ext uri="{FF2B5EF4-FFF2-40B4-BE49-F238E27FC236}">
                <a16:creationId xmlns:a16="http://schemas.microsoft.com/office/drawing/2014/main" id="{60CA7B28-EA21-4740-A025-0F9E24EA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47">
            <a:extLst xmlns:a="http://schemas.openxmlformats.org/drawingml/2006/main">
              <a:ext uri="{FF2B5EF4-FFF2-40B4-BE49-F238E27FC236}">
                <a16:creationId xmlns:a16="http://schemas.microsoft.com/office/drawing/2014/main" id="{F10073FC-A3D5-4BCF-AF2C-B1DB7624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4" name="text-148">
            <a:extLst xmlns:a="http://schemas.openxmlformats.org/drawingml/2006/main">
              <a:ext uri="{FF2B5EF4-FFF2-40B4-BE49-F238E27FC236}">
                <a16:creationId xmlns:a16="http://schemas.microsoft.com/office/drawing/2014/main" id="{57B26438-11F6-43D0-81BC-4D622A9A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客户端提交</a:t>
            </a:r>
          </a:p>
        </p:txBody>
      </p:sp>
      <p:sp>
        <p:nvSpPr>
          <p:cNvPr id="15" name="text-149">
            <a:extLst xmlns:a="http://schemas.openxmlformats.org/drawingml/2006/main">
              <a:ext uri="{FF2B5EF4-FFF2-40B4-BE49-F238E27FC236}">
                <a16:creationId xmlns:a16="http://schemas.microsoft.com/office/drawing/2014/main" id="{A44619AB-4B04-4723-9E15-A0997B79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REST / Hub</a:t>
            </a:r>
          </a:p>
        </p:txBody>
      </p:sp>
      <p:sp>
        <p:nvSpPr>
          <p:cNvPr id="16" name="text-150">
            <a:extLst xmlns:a="http://schemas.openxmlformats.org/drawingml/2006/main">
              <a:ext uri="{FF2B5EF4-FFF2-40B4-BE49-F238E27FC236}">
                <a16:creationId xmlns:a16="http://schemas.microsoft.com/office/drawing/2014/main" id="{D496D492-78FB-483D-9B1C-7EDC2CA3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7" name="text-151">
            <a:extLst xmlns:a="http://schemas.openxmlformats.org/drawingml/2006/main">
              <a:ext uri="{FF2B5EF4-FFF2-40B4-BE49-F238E27FC236}">
                <a16:creationId xmlns:a16="http://schemas.microsoft.com/office/drawing/2014/main" id="{83077CE6-DDCC-43EB-8BD1-40CD396E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0505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鉴权与成员校验</a:t>
            </a:r>
          </a:p>
        </p:txBody>
      </p:sp>
      <p:sp>
        <p:nvSpPr>
          <p:cNvPr id="18" name="text-152">
            <a:extLst xmlns:a="http://schemas.openxmlformats.org/drawingml/2006/main">
              <a:ext uri="{FF2B5EF4-FFF2-40B4-BE49-F238E27FC236}">
                <a16:creationId xmlns:a16="http://schemas.microsoft.com/office/drawing/2014/main" id="{DBCB8B45-7E09-485A-9264-995D21B3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/ RBAC</a:t>
            </a:r>
          </a:p>
        </p:txBody>
      </p:sp>
      <p:sp>
        <p:nvSpPr>
          <p:cNvPr id="19" name="text-153">
            <a:extLst xmlns:a="http://schemas.openxmlformats.org/drawingml/2006/main">
              <a:ext uri="{FF2B5EF4-FFF2-40B4-BE49-F238E27FC236}">
                <a16:creationId xmlns:a16="http://schemas.microsoft.com/office/drawing/2014/main" id="{F27EACCF-0FF4-4783-8090-14FF30E5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text-154">
            <a:extLst xmlns:a="http://schemas.openxmlformats.org/drawingml/2006/main">
              <a:ext uri="{FF2B5EF4-FFF2-40B4-BE49-F238E27FC236}">
                <a16:creationId xmlns:a16="http://schemas.microsoft.com/office/drawing/2014/main" id="{8824A6DD-3BB6-4D61-B013-2F576CA0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050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数据库提交</a:t>
            </a:r>
          </a:p>
        </p:txBody>
      </p:sp>
      <p:sp>
        <p:nvSpPr>
          <p:cNvPr id="21" name="text-155">
            <a:extLst xmlns:a="http://schemas.openxmlformats.org/drawingml/2006/main">
              <a:ext uri="{FF2B5EF4-FFF2-40B4-BE49-F238E27FC236}">
                <a16:creationId xmlns:a16="http://schemas.microsoft.com/office/drawing/2014/main" id="{A726BDD9-D46D-473A-BD34-D0EE6210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EF Core</a:t>
            </a:r>
          </a:p>
        </p:txBody>
      </p:sp>
      <p:sp>
        <p:nvSpPr>
          <p:cNvPr id="22" name="text-156">
            <a:extLst xmlns:a="http://schemas.openxmlformats.org/drawingml/2006/main">
              <a:ext uri="{FF2B5EF4-FFF2-40B4-BE49-F238E27FC236}">
                <a16:creationId xmlns:a16="http://schemas.microsoft.com/office/drawing/2014/main" id="{3F1DAFD9-62C2-4A29-8FB2-B2680DE4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text-157">
            <a:extLst xmlns:a="http://schemas.openxmlformats.org/drawingml/2006/main">
              <a:ext uri="{FF2B5EF4-FFF2-40B4-BE49-F238E27FC236}">
                <a16:creationId xmlns:a16="http://schemas.microsoft.com/office/drawing/2014/main" id="{58BADC2F-E784-4B4C-B3BB-88514400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生成通知事件</a:t>
            </a:r>
          </a:p>
        </p:txBody>
      </p:sp>
      <p:sp>
        <p:nvSpPr>
          <p:cNvPr id="24" name="text-158">
            <a:extLst xmlns:a="http://schemas.openxmlformats.org/drawingml/2006/main">
              <a:ext uri="{FF2B5EF4-FFF2-40B4-BE49-F238E27FC236}">
                <a16:creationId xmlns:a16="http://schemas.microsoft.com/office/drawing/2014/main" id="{F0E6FEC2-CDD3-4D77-AE6A-60E165AA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Interceptor</a:t>
            </a:r>
          </a:p>
        </p:txBody>
      </p:sp>
      <p:sp>
        <p:nvSpPr>
          <p:cNvPr id="25" name="text-159">
            <a:extLst xmlns:a="http://schemas.openxmlformats.org/drawingml/2006/main">
              <a:ext uri="{FF2B5EF4-FFF2-40B4-BE49-F238E27FC236}">
                <a16:creationId xmlns:a16="http://schemas.microsoft.com/office/drawing/2014/main" id="{2EE66401-73E8-41A2-8958-54947BC4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text-160">
            <a:extLst xmlns:a="http://schemas.openxmlformats.org/drawingml/2006/main">
              <a:ext uri="{FF2B5EF4-FFF2-40B4-BE49-F238E27FC236}">
                <a16:creationId xmlns:a16="http://schemas.microsoft.com/office/drawing/2014/main" id="{EAEE45A5-C2E2-4161-84BF-187A2476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050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分组推送</a:t>
            </a:r>
          </a:p>
        </p:txBody>
      </p:sp>
      <p:sp>
        <p:nvSpPr>
          <p:cNvPr id="27" name="text-161">
            <a:extLst xmlns:a="http://schemas.openxmlformats.org/drawingml/2006/main">
              <a:ext uri="{FF2B5EF4-FFF2-40B4-BE49-F238E27FC236}">
                <a16:creationId xmlns:a16="http://schemas.microsoft.com/office/drawing/2014/main" id="{38DEE898-8586-46ED-878B-7895AACE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766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</a:t>
            </a:r>
          </a:p>
        </p:txBody>
      </p:sp>
      <p:sp>
        <p:nvSpPr>
          <p:cNvPr id="28" name="rect-162">
            <a:extLst xmlns:a="http://schemas.openxmlformats.org/drawingml/2006/main">
              <a:ext uri="{FF2B5EF4-FFF2-40B4-BE49-F238E27FC236}">
                <a16:creationId xmlns:a16="http://schemas.microsoft.com/office/drawing/2014/main" id="{4CB2D82F-CEDB-4A2C-A573-890C2A69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1391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163">
            <a:extLst xmlns:a="http://schemas.openxmlformats.org/drawingml/2006/main">
              <a:ext uri="{FF2B5EF4-FFF2-40B4-BE49-F238E27FC236}">
                <a16:creationId xmlns:a16="http://schemas.microsoft.com/office/drawing/2014/main" id="{E471FB22-8711-473F-A8F0-63EBEF81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为什么这样设计？</a:t>
            </a:r>
          </a:p>
        </p:txBody>
      </p:sp>
      <p:sp>
        <p:nvSpPr>
          <p:cNvPr id="30" name="text-164">
            <a:extLst xmlns:a="http://schemas.openxmlformats.org/drawingml/2006/main">
              <a:ext uri="{FF2B5EF4-FFF2-40B4-BE49-F238E27FC236}">
                <a16:creationId xmlns:a16="http://schemas.microsoft.com/office/drawing/2014/main" id="{EE54C4EA-77A7-4E30-86F8-D19113AC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66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数据库写入一旦成功，即使瞬时推送失败，也只记录警告，不把成功业务误报成 HTTP 500；客户端重连后仍可从列表接口取回已存数据。</a:t>
            </a:r>
          </a:p>
        </p:txBody>
      </p:sp>
    </p:spTree>
    <p:extLst>
      <p:ext uri="{BB962C8B-B14F-4D97-AF65-F5344CB8AC3E}">
        <p14:creationId xmlns:p14="http://schemas.microsoft.com/office/powerpoint/2010/main" val="12399025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165">
            <a:extLst xmlns:a="http://schemas.openxmlformats.org/drawingml/2006/main">
              <a:ext uri="{FF2B5EF4-FFF2-40B4-BE49-F238E27FC236}">
                <a16:creationId xmlns:a16="http://schemas.microsoft.com/office/drawing/2014/main" id="{55B28118-0894-4997-AFFE-FD45415C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安全策略贯穿登录、权限与审计</a:t>
            </a:r>
          </a:p>
        </p:txBody>
      </p:sp>
      <p:sp>
        <p:nvSpPr>
          <p:cNvPr id="2" name="text-166">
            <a:extLst xmlns:a="http://schemas.openxmlformats.org/drawingml/2006/main">
              <a:ext uri="{FF2B5EF4-FFF2-40B4-BE49-F238E27FC236}">
                <a16:creationId xmlns:a16="http://schemas.microsoft.com/office/drawing/2014/main" id="{C88DCABF-D7CB-4A6C-9222-1D201B89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67">
            <a:extLst xmlns:a="http://schemas.openxmlformats.org/drawingml/2006/main">
              <a:ext uri="{FF2B5EF4-FFF2-40B4-BE49-F238E27FC236}">
                <a16:creationId xmlns:a16="http://schemas.microsoft.com/office/drawing/2014/main" id="{65987EBC-35E1-43AB-A9E5-B253F85B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4" name="text-168">
            <a:extLst xmlns:a="http://schemas.openxmlformats.org/drawingml/2006/main">
              <a:ext uri="{FF2B5EF4-FFF2-40B4-BE49-F238E27FC236}">
                <a16:creationId xmlns:a16="http://schemas.microsoft.com/office/drawing/2014/main" id="{97177217-047A-4D52-95DD-22817F7E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5" name="text-169">
            <a:extLst xmlns:a="http://schemas.openxmlformats.org/drawingml/2006/main">
              <a:ext uri="{FF2B5EF4-FFF2-40B4-BE49-F238E27FC236}">
                <a16:creationId xmlns:a16="http://schemas.microsoft.com/office/drawing/2014/main" id="{28D5EBC1-1FEB-467C-BAAB-BF9C7F5B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JWT 鉴权</a:t>
            </a:r>
          </a:p>
        </p:txBody>
      </p:sp>
      <p:sp>
        <p:nvSpPr>
          <p:cNvPr id="6" name="text-170">
            <a:extLst xmlns:a="http://schemas.openxmlformats.org/drawingml/2006/main">
              <a:ext uri="{FF2B5EF4-FFF2-40B4-BE49-F238E27FC236}">
                <a16:creationId xmlns:a16="http://schemas.microsoft.com/office/drawing/2014/main" id="{BDC5178D-ABBE-410F-B30B-5CE622DB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3812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校验 issuer、audience、有效期、签名和 jti；退出登录可撤销当前令牌。</a:t>
            </a:r>
          </a:p>
        </p:txBody>
      </p:sp>
      <p:cxnSp>
        <p:nvCxnSpPr>
          <p:cNvPr id="27" name="rule-171"/>
          <p:cNvCxnSpPr/>
          <p:nvPr/>
        </p:nvCxnSpPr>
        <p:spPr>
          <a:xfrm xmlns:a="http://schemas.openxmlformats.org/drawingml/2006/main">
            <a:off x="3028950" y="1390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8" name="text-172">
            <a:extLst xmlns:a="http://schemas.openxmlformats.org/drawingml/2006/main">
              <a:ext uri="{FF2B5EF4-FFF2-40B4-BE49-F238E27FC236}">
                <a16:creationId xmlns:a16="http://schemas.microsoft.com/office/drawing/2014/main" id="{40CAD873-72E8-4619-9260-1F86090D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text-173">
            <a:extLst xmlns:a="http://schemas.openxmlformats.org/drawingml/2006/main">
              <a:ext uri="{FF2B5EF4-FFF2-40B4-BE49-F238E27FC236}">
                <a16:creationId xmlns:a16="http://schemas.microsoft.com/office/drawing/2014/main" id="{AE894F45-1268-451A-A5A5-D5FEC240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多端会话</a:t>
            </a:r>
          </a:p>
        </p:txBody>
      </p:sp>
      <p:sp>
        <p:nvSpPr>
          <p:cNvPr id="10" name="text-174">
            <a:extLst xmlns:a="http://schemas.openxmlformats.org/drawingml/2006/main">
              <a:ext uri="{FF2B5EF4-FFF2-40B4-BE49-F238E27FC236}">
                <a16:creationId xmlns:a16="http://schemas.microsoft.com/office/drawing/2014/main" id="{D5EC716B-2F1C-49CA-9DE0-CEE6D4B2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765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+ session_version：同类型终端重新登录会让旧会话失效，不同类型终端可共存。</a:t>
            </a:r>
          </a:p>
        </p:txBody>
      </p:sp>
      <p:cxnSp>
        <p:nvCxnSpPr>
          <p:cNvPr id="31" name="rule-175"/>
          <p:cNvCxnSpPr/>
          <p:nvPr/>
        </p:nvCxnSpPr>
        <p:spPr>
          <a:xfrm xmlns:a="http://schemas.openxmlformats.org/drawingml/2006/main">
            <a:off x="5924550" y="1390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2" name="text-176">
            <a:extLst xmlns:a="http://schemas.openxmlformats.org/drawingml/2006/main">
              <a:ext uri="{FF2B5EF4-FFF2-40B4-BE49-F238E27FC236}">
                <a16:creationId xmlns:a16="http://schemas.microsoft.com/office/drawing/2014/main" id="{CF9457EC-51A6-4659-A067-40947A8E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3" name="text-177">
            <a:extLst xmlns:a="http://schemas.openxmlformats.org/drawingml/2006/main">
              <a:ext uri="{FF2B5EF4-FFF2-40B4-BE49-F238E27FC236}">
                <a16:creationId xmlns:a16="http://schemas.microsoft.com/office/drawing/2014/main" id="{3F346D01-6258-4812-87EB-B2DBD64A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角色权限</a:t>
            </a:r>
          </a:p>
        </p:txBody>
      </p:sp>
      <p:sp>
        <p:nvSpPr>
          <p:cNvPr id="14" name="text-178">
            <a:extLst xmlns:a="http://schemas.openxmlformats.org/drawingml/2006/main">
              <a:ext uri="{FF2B5EF4-FFF2-40B4-BE49-F238E27FC236}">
                <a16:creationId xmlns:a16="http://schemas.microsoft.com/office/drawing/2014/main" id="{BDE8D93A-115A-49CD-9310-B01510C7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角色与 permissions[] 持久化；管理接口按身份授权，业务操作继续校验资源成员关系。</a:t>
            </a:r>
          </a:p>
        </p:txBody>
      </p:sp>
      <p:cxnSp>
        <p:nvCxnSpPr>
          <p:cNvPr id="35" name="rule-179"/>
          <p:cNvCxnSpPr/>
          <p:nvPr/>
        </p:nvCxnSpPr>
        <p:spPr>
          <a:xfrm xmlns:a="http://schemas.openxmlformats.org/drawingml/2006/main">
            <a:off x="8820150" y="1390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6" name="text-180">
            <a:extLst xmlns:a="http://schemas.openxmlformats.org/drawingml/2006/main">
              <a:ext uri="{FF2B5EF4-FFF2-40B4-BE49-F238E27FC236}">
                <a16:creationId xmlns:a16="http://schemas.microsoft.com/office/drawing/2014/main" id="{ED79B0DE-1607-4983-9F82-7BE4A21F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181">
            <a:extLst xmlns:a="http://schemas.openxmlformats.org/drawingml/2006/main">
              <a:ext uri="{FF2B5EF4-FFF2-40B4-BE49-F238E27FC236}">
                <a16:creationId xmlns:a16="http://schemas.microsoft.com/office/drawing/2014/main" id="{EBD119CB-D17E-4CE4-8708-A5A387D6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审计追踪</a:t>
            </a:r>
          </a:p>
        </p:txBody>
      </p:sp>
      <p:sp>
        <p:nvSpPr>
          <p:cNvPr id="18" name="text-182">
            <a:extLst xmlns:a="http://schemas.openxmlformats.org/drawingml/2006/main">
              <a:ext uri="{FF2B5EF4-FFF2-40B4-BE49-F238E27FC236}">
                <a16:creationId xmlns:a16="http://schemas.microsoft.com/office/drawing/2014/main" id="{809003BF-C6FC-402C-95BD-CD53A7EB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操作日志记录关键管理动作；异常响应返回业务码与 traceId，便于定位线上问题。</a:t>
            </a:r>
          </a:p>
        </p:txBody>
      </p:sp>
      <p:sp>
        <p:nvSpPr>
          <p:cNvPr id="19" name="rect-183">
            <a:extLst xmlns:a="http://schemas.openxmlformats.org/drawingml/2006/main">
              <a:ext uri="{FF2B5EF4-FFF2-40B4-BE49-F238E27FC236}">
                <a16:creationId xmlns:a16="http://schemas.microsoft.com/office/drawing/2014/main" id="{A2964545-A04D-40FC-A40A-22DB8DE9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84">
            <a:extLst xmlns:a="http://schemas.openxmlformats.org/drawingml/2006/main">
              <a:ext uri="{FF2B5EF4-FFF2-40B4-BE49-F238E27FC236}">
                <a16:creationId xmlns:a16="http://schemas.microsoft.com/office/drawing/2014/main" id="{76EE0D19-F317-4747-9777-F98DCFB2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934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04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安全不是只看“有没有登录页”，而是把身份、会话、权限、资源归属和追踪统一进后端请求链。</a:t>
            </a:r>
          </a:p>
        </p:txBody>
      </p:sp>
    </p:spTree>
    <p:extLst>
      <p:ext uri="{BB962C8B-B14F-4D97-AF65-F5344CB8AC3E}">
        <p14:creationId xmlns:p14="http://schemas.microsoft.com/office/powerpoint/2010/main" val="10177322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85">
            <a:extLst xmlns:a="http://schemas.openxmlformats.org/drawingml/2006/main">
              <a:ext uri="{FF2B5EF4-FFF2-40B4-BE49-F238E27FC236}">
                <a16:creationId xmlns:a16="http://schemas.microsoft.com/office/drawing/2014/main" id="{1282BC2B-75F8-4D89-BD31-A92469D0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部署链路可复现、可检查、可回滚</a:t>
            </a:r>
          </a:p>
        </p:txBody>
      </p:sp>
      <p:sp>
        <p:nvSpPr>
          <p:cNvPr id="2" name="text-186">
            <a:extLst xmlns:a="http://schemas.openxmlformats.org/drawingml/2006/main">
              <a:ext uri="{FF2B5EF4-FFF2-40B4-BE49-F238E27FC236}">
                <a16:creationId xmlns:a16="http://schemas.microsoft.com/office/drawing/2014/main" id="{4585A4A6-E248-476F-8F68-582FFD7E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87">
            <a:extLst xmlns:a="http://schemas.openxmlformats.org/drawingml/2006/main">
              <a:ext uri="{FF2B5EF4-FFF2-40B4-BE49-F238E27FC236}">
                <a16:creationId xmlns:a16="http://schemas.microsoft.com/office/drawing/2014/main" id="{7695CDDE-330A-4AAD-9D2D-06E61AF4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cxnSp>
        <p:nvCxnSpPr>
          <p:cNvPr id="30" name="rule-188"/>
          <p:cNvCxnSpPr/>
          <p:nvPr/>
        </p:nvCxnSpPr>
        <p:spPr>
          <a:xfrm xmlns:a="http://schemas.openxmlformats.org/drawingml/2006/main">
            <a:off x="2667000" y="2895600"/>
            <a:ext cx="16383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31" name="rule-189"/>
          <p:cNvCxnSpPr/>
          <p:nvPr/>
        </p:nvCxnSpPr>
        <p:spPr>
          <a:xfrm xmlns:a="http://schemas.openxmlformats.org/drawingml/2006/main">
            <a:off x="6667500" y="2495550"/>
            <a:ext cx="16002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32" name="rule-190"/>
          <p:cNvCxnSpPr/>
          <p:nvPr/>
        </p:nvCxnSpPr>
        <p:spPr>
          <a:xfrm xmlns:a="http://schemas.openxmlformats.org/drawingml/2006/main">
            <a:off x="6667500" y="3714750"/>
            <a:ext cx="16002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sp>
        <p:nvSpPr>
          <p:cNvPr id="7" name="rect-191">
            <a:extLst xmlns:a="http://schemas.openxmlformats.org/drawingml/2006/main">
              <a:ext uri="{FF2B5EF4-FFF2-40B4-BE49-F238E27FC236}">
                <a16:creationId xmlns:a16="http://schemas.microsoft.com/office/drawing/2014/main" id="{6309B294-BA22-4A6B-AC8A-AE5D7F1B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8" name="text-192">
            <a:extLst xmlns:a="http://schemas.openxmlformats.org/drawingml/2006/main">
              <a:ext uri="{FF2B5EF4-FFF2-40B4-BE49-F238E27FC236}">
                <a16:creationId xmlns:a16="http://schemas.microsoft.com/office/drawing/2014/main" id="{DB42A81D-F0BD-43A2-9030-85667A80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847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851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App / 小程序</a:t>
            </a:r>
          </a:p>
        </p:txBody>
      </p:sp>
      <p:sp>
        <p:nvSpPr>
          <p:cNvPr id="9" name="text-193">
            <a:extLst xmlns:a="http://schemas.openxmlformats.org/drawingml/2006/main">
              <a:ext uri="{FF2B5EF4-FFF2-40B4-BE49-F238E27FC236}">
                <a16:creationId xmlns:a16="http://schemas.microsoft.com/office/drawing/2014/main" id="{E39448F9-2832-4957-A49F-4D98398F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HTTPS · WebSocket</a:t>
            </a:r>
          </a:p>
        </p:txBody>
      </p:sp>
      <p:sp>
        <p:nvSpPr>
          <p:cNvPr id="10" name="rect-194">
            <a:extLst xmlns:a="http://schemas.openxmlformats.org/drawingml/2006/main">
              <a:ext uri="{FF2B5EF4-FFF2-40B4-BE49-F238E27FC236}">
                <a16:creationId xmlns:a16="http://schemas.microsoft.com/office/drawing/2014/main" id="{2CCF4F6D-ABA3-4F73-B219-4DE50D7E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3370FF"/>
            </a:solidFill>
            <a:prstDash val="solid"/>
          </a:ln>
        </p:spPr>
      </p:sp>
      <p:sp>
        <p:nvSpPr>
          <p:cNvPr id="11" name="text-195">
            <a:extLst xmlns:a="http://schemas.openxmlformats.org/drawingml/2006/main">
              <a:ext uri="{FF2B5EF4-FFF2-40B4-BE49-F238E27FC236}">
                <a16:creationId xmlns:a16="http://schemas.microsoft.com/office/drawing/2014/main" id="{B5E6260C-42AC-41DD-94D4-CA433D9B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38" name="rule-196"/>
          <p:cNvCxnSpPr/>
          <p:nvPr/>
        </p:nvCxnSpPr>
        <p:spPr>
          <a:xfrm xmlns:a="http://schemas.openxmlformats.org/drawingml/2006/main">
            <a:off x="4705350" y="2895600"/>
            <a:ext cx="15621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sp>
        <p:nvSpPr>
          <p:cNvPr id="13" name="text-197">
            <a:extLst xmlns:a="http://schemas.openxmlformats.org/drawingml/2006/main">
              <a:ext uri="{FF2B5EF4-FFF2-40B4-BE49-F238E27FC236}">
                <a16:creationId xmlns:a16="http://schemas.microsoft.com/office/drawing/2014/main" id="{B0D717EC-814F-4304-9F5A-5CF44324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81350"/>
            <a:ext cx="186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86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API</a:t>
            </a:r>
          </a:p>
        </p:txBody>
      </p:sp>
      <p:sp>
        <p:nvSpPr>
          <p:cNvPr id="14" name="text-198">
            <a:extLst xmlns:a="http://schemas.openxmlformats.org/drawingml/2006/main">
              <a:ext uri="{FF2B5EF4-FFF2-40B4-BE49-F238E27FC236}">
                <a16:creationId xmlns:a16="http://schemas.microsoft.com/office/drawing/2014/main" id="{49CD6ECD-E7FC-4427-A1D5-E1D9176B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95700"/>
            <a:ext cx="1866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 Compose</a:t>
            </a:r>
          </a:p>
        </p:txBody>
      </p:sp>
      <p:sp>
        <p:nvSpPr>
          <p:cNvPr id="15" name="rect-199">
            <a:extLst xmlns:a="http://schemas.openxmlformats.org/drawingml/2006/main">
              <a:ext uri="{FF2B5EF4-FFF2-40B4-BE49-F238E27FC236}">
                <a16:creationId xmlns:a16="http://schemas.microsoft.com/office/drawing/2014/main" id="{95F231E9-16A0-4685-9B5F-BD956BD6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524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6" name="text-200">
            <a:extLst xmlns:a="http://schemas.openxmlformats.org/drawingml/2006/main">
              <a:ext uri="{FF2B5EF4-FFF2-40B4-BE49-F238E27FC236}">
                <a16:creationId xmlns:a16="http://schemas.microsoft.com/office/drawing/2014/main" id="{A390D794-92D3-4698-A4AE-1EB37D1C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</a:t>
            </a:r>
          </a:p>
        </p:txBody>
      </p:sp>
      <p:sp>
        <p:nvSpPr>
          <p:cNvPr id="17" name="text-201">
            <a:extLst xmlns:a="http://schemas.openxmlformats.org/drawingml/2006/main">
              <a:ext uri="{FF2B5EF4-FFF2-40B4-BE49-F238E27FC236}">
                <a16:creationId xmlns:a16="http://schemas.microsoft.com/office/drawing/2014/main" id="{037FE830-FEC2-4D5D-9A00-6E65D17C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431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 + 自动重试</a:t>
            </a:r>
          </a:p>
        </p:txBody>
      </p:sp>
      <p:sp>
        <p:nvSpPr>
          <p:cNvPr id="18" name="rect-202">
            <a:extLst xmlns:a="http://schemas.openxmlformats.org/drawingml/2006/main">
              <a:ext uri="{FF2B5EF4-FFF2-40B4-BE49-F238E27FC236}">
                <a16:creationId xmlns:a16="http://schemas.microsoft.com/office/drawing/2014/main" id="{2787C535-AE4A-4F8D-ACF8-DCC2AF4D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95650"/>
            <a:ext cx="3524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9" name="text-203">
            <a:extLst xmlns:a="http://schemas.openxmlformats.org/drawingml/2006/main">
              <a:ext uri="{FF2B5EF4-FFF2-40B4-BE49-F238E27FC236}">
                <a16:creationId xmlns:a16="http://schemas.microsoft.com/office/drawing/2014/main" id="{225FF0D5-874B-4DD2-BC2D-2ED88008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242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</a:t>
            </a:r>
          </a:p>
        </p:txBody>
      </p:sp>
      <p:sp>
        <p:nvSpPr>
          <p:cNvPr id="20" name="text-204">
            <a:extLst xmlns:a="http://schemas.openxmlformats.org/drawingml/2006/main">
              <a:ext uri="{FF2B5EF4-FFF2-40B4-BE49-F238E27FC236}">
                <a16:creationId xmlns:a16="http://schemas.microsoft.com/office/drawing/2014/main" id="{B9206A48-39BE-479C-97EB-B06D70BA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文件存储可切换</a:t>
            </a:r>
          </a:p>
        </p:txBody>
      </p:sp>
      <p:sp>
        <p:nvSpPr>
          <p:cNvPr id="21" name="rect-205">
            <a:extLst xmlns:a="http://schemas.openxmlformats.org/drawingml/2006/main">
              <a:ext uri="{FF2B5EF4-FFF2-40B4-BE49-F238E27FC236}">
                <a16:creationId xmlns:a16="http://schemas.microsoft.com/office/drawing/2014/main" id="{1D23DC23-C4B1-4294-B717-8C6E5A13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1391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2" name="text-206">
            <a:extLst xmlns:a="http://schemas.openxmlformats.org/drawingml/2006/main">
              <a:ext uri="{FF2B5EF4-FFF2-40B4-BE49-F238E27FC236}">
                <a16:creationId xmlns:a16="http://schemas.microsoft.com/office/drawing/2014/main" id="{1EDAAD8B-7454-48E9-BF76-A8D5018F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健康检查</a:t>
            </a:r>
          </a:p>
        </p:txBody>
      </p:sp>
      <p:sp>
        <p:nvSpPr>
          <p:cNvPr id="23" name="text-207">
            <a:extLst xmlns:a="http://schemas.openxmlformats.org/drawingml/2006/main">
              <a:ext uri="{FF2B5EF4-FFF2-40B4-BE49-F238E27FC236}">
                <a16:creationId xmlns:a16="http://schemas.microsoft.com/office/drawing/2014/main" id="{76DD6F32-C25A-4490-8655-9571315D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43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/health/live 进程存活</a:t>
            </a:r>
          </a:p>
        </p:txBody>
      </p:sp>
      <p:sp>
        <p:nvSpPr>
          <p:cNvPr id="24" name="text-208">
            <a:extLst xmlns:a="http://schemas.openxmlformats.org/drawingml/2006/main">
              <a:ext uri="{FF2B5EF4-FFF2-40B4-BE49-F238E27FC236}">
                <a16:creationId xmlns:a16="http://schemas.microsoft.com/office/drawing/2014/main" id="{261DDD79-F9AB-439C-9732-4C758213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43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 数据库连通</a:t>
            </a:r>
          </a:p>
        </p:txBody>
      </p:sp>
      <p:sp>
        <p:nvSpPr>
          <p:cNvPr id="25" name="text-209">
            <a:extLst xmlns:a="http://schemas.openxmlformats.org/drawingml/2006/main">
              <a:ext uri="{FF2B5EF4-FFF2-40B4-BE49-F238E27FC236}">
                <a16:creationId xmlns:a16="http://schemas.microsoft.com/office/drawing/2014/main" id="{F756EE40-E2C6-43D2-AC70-89460D28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435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 traceId</a:t>
            </a:r>
          </a:p>
        </p:txBody>
      </p:sp>
      <p:sp>
        <p:nvSpPr>
          <p:cNvPr id="26" name="text-210">
            <a:extLst xmlns:a="http://schemas.openxmlformats.org/drawingml/2006/main">
              <a:ext uri="{FF2B5EF4-FFF2-40B4-BE49-F238E27FC236}">
                <a16:creationId xmlns:a16="http://schemas.microsoft.com/office/drawing/2014/main" id="{CF584C85-0742-482F-8721-F3FAAE68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435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WebSocket Upgrade</a:t>
            </a:r>
          </a:p>
        </p:txBody>
      </p:sp>
    </p:spTree>
    <p:extLst>
      <p:ext uri="{BB962C8B-B14F-4D97-AF65-F5344CB8AC3E}">
        <p14:creationId xmlns:p14="http://schemas.microsoft.com/office/powerpoint/2010/main" val="12760231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211">
            <a:extLst xmlns:a="http://schemas.openxmlformats.org/drawingml/2006/main">
              <a:ext uri="{FF2B5EF4-FFF2-40B4-BE49-F238E27FC236}">
                <a16:creationId xmlns:a16="http://schemas.microsoft.com/office/drawing/2014/main" id="{EFB93F55-B54D-4006-9654-F82E3B98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实际验证为完成度提供硬证据</a:t>
            </a:r>
          </a:p>
        </p:txBody>
      </p:sp>
      <p:sp>
        <p:nvSpPr>
          <p:cNvPr id="2" name="text-212">
            <a:extLst xmlns:a="http://schemas.openxmlformats.org/drawingml/2006/main">
              <a:ext uri="{FF2B5EF4-FFF2-40B4-BE49-F238E27FC236}">
                <a16:creationId xmlns:a16="http://schemas.microsoft.com/office/drawing/2014/main" id="{FDDB9BE9-97A1-447C-8D92-94AE2E9A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验证日期：2026-07-19；来自 dotnet test / Vite / uni-app 构建输出</a:t>
            </a:r>
          </a:p>
        </p:txBody>
      </p:sp>
      <p:sp>
        <p:nvSpPr>
          <p:cNvPr id="3" name="text-213">
            <a:extLst xmlns:a="http://schemas.openxmlformats.org/drawingml/2006/main">
              <a:ext uri="{FF2B5EF4-FFF2-40B4-BE49-F238E27FC236}">
                <a16:creationId xmlns:a16="http://schemas.microsoft.com/office/drawing/2014/main" id="{08784CB7-C9FA-4A6B-84F4-9AF6B5BE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4" name="text-214">
            <a:extLst xmlns:a="http://schemas.openxmlformats.org/drawingml/2006/main">
              <a:ext uri="{FF2B5EF4-FFF2-40B4-BE49-F238E27FC236}">
                <a16:creationId xmlns:a16="http://schemas.microsoft.com/office/drawing/2014/main" id="{FA29800C-F6E1-4950-B556-F3AC1169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所有数字均来自本次现场执行，不照抄旧版项目文档。</a:t>
            </a:r>
          </a:p>
        </p:txBody>
      </p:sp>
      <p:sp>
        <p:nvSpPr>
          <p:cNvPr id="5" name="rect-215">
            <a:extLst xmlns:a="http://schemas.openxmlformats.org/drawingml/2006/main">
              <a:ext uri="{FF2B5EF4-FFF2-40B4-BE49-F238E27FC236}">
                <a16:creationId xmlns:a16="http://schemas.microsoft.com/office/drawing/2014/main" id="{6DF28D15-0D56-495B-9D34-59DBF375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6289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-216">
            <a:extLst xmlns:a="http://schemas.openxmlformats.org/drawingml/2006/main">
              <a:ext uri="{FF2B5EF4-FFF2-40B4-BE49-F238E27FC236}">
                <a16:creationId xmlns:a16="http://schemas.microsoft.com/office/drawing/2014/main" id="{16F99A89-013D-4EFF-ACFE-6A857D22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6289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-217">
            <a:extLst xmlns:a="http://schemas.openxmlformats.org/drawingml/2006/main">
              <a:ext uri="{FF2B5EF4-FFF2-40B4-BE49-F238E27FC236}">
                <a16:creationId xmlns:a16="http://schemas.microsoft.com/office/drawing/2014/main" id="{3AE6FA41-3F3F-4D3C-9226-60D66E3C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6289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-218">
            <a:extLst xmlns:a="http://schemas.openxmlformats.org/drawingml/2006/main">
              <a:ext uri="{FF2B5EF4-FFF2-40B4-BE49-F238E27FC236}">
                <a16:creationId xmlns:a16="http://schemas.microsoft.com/office/drawing/2014/main" id="{5DDEAA8F-8459-409E-94E6-90824ED0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6479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219">
            <a:extLst xmlns:a="http://schemas.openxmlformats.org/drawingml/2006/main">
              <a:ext uri="{FF2B5EF4-FFF2-40B4-BE49-F238E27FC236}">
                <a16:creationId xmlns:a16="http://schemas.microsoft.com/office/drawing/2014/main" id="{58DED980-7C71-4DAF-B163-EBAF1E35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41 / 41</a:t>
            </a:r>
          </a:p>
        </p:txBody>
      </p:sp>
      <p:sp>
        <p:nvSpPr>
          <p:cNvPr id="10" name="text-220">
            <a:extLst xmlns:a="http://schemas.openxmlformats.org/drawingml/2006/main">
              <a:ext uri="{FF2B5EF4-FFF2-40B4-BE49-F238E27FC236}">
                <a16:creationId xmlns:a16="http://schemas.microsoft.com/office/drawing/2014/main" id="{C1CD3F84-04B5-4672-8669-49417155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后端自动化测试</a:t>
            </a:r>
          </a:p>
        </p:txBody>
      </p:sp>
      <p:sp>
        <p:nvSpPr>
          <p:cNvPr id="11" name="text-221">
            <a:extLst xmlns:a="http://schemas.openxmlformats.org/drawingml/2006/main">
              <a:ext uri="{FF2B5EF4-FFF2-40B4-BE49-F238E27FC236}">
                <a16:creationId xmlns:a16="http://schemas.microsoft.com/office/drawing/2014/main" id="{C541A9E4-96D5-4E64-A44A-F0C16F11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 失败 · 0 跳过
Release 构建</a:t>
            </a:r>
          </a:p>
        </p:txBody>
      </p:sp>
      <p:sp>
        <p:nvSpPr>
          <p:cNvPr id="12" name="text-222">
            <a:extLst xmlns:a="http://schemas.openxmlformats.org/drawingml/2006/main">
              <a:ext uri="{FF2B5EF4-FFF2-40B4-BE49-F238E27FC236}">
                <a16:creationId xmlns:a16="http://schemas.microsoft.com/office/drawing/2014/main" id="{B67F162A-B4A2-4A18-9E73-865BC656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635</a:t>
            </a:r>
          </a:p>
        </p:txBody>
      </p:sp>
      <p:sp>
        <p:nvSpPr>
          <p:cNvPr id="13" name="text-223">
            <a:extLst xmlns:a="http://schemas.openxmlformats.org/drawingml/2006/main">
              <a:ext uri="{FF2B5EF4-FFF2-40B4-BE49-F238E27FC236}">
                <a16:creationId xmlns:a16="http://schemas.microsoft.com/office/drawing/2014/main" id="{84E68D12-B037-4367-A1A2-5582F7F2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modules</a:t>
            </a:r>
          </a:p>
        </p:txBody>
      </p:sp>
      <p:sp>
        <p:nvSpPr>
          <p:cNvPr id="14" name="text-224">
            <a:extLst xmlns:a="http://schemas.openxmlformats.org/drawingml/2006/main">
              <a:ext uri="{FF2B5EF4-FFF2-40B4-BE49-F238E27FC236}">
                <a16:creationId xmlns:a16="http://schemas.microsoft.com/office/drawing/2014/main" id="{794E7E6E-943E-4461-917D-54A46EA8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Vite 生产构建通过
路由级代码拆分</a:t>
            </a:r>
          </a:p>
        </p:txBody>
      </p:sp>
      <p:sp>
        <p:nvSpPr>
          <p:cNvPr id="15" name="text-225">
            <a:extLst xmlns:a="http://schemas.openxmlformats.org/drawingml/2006/main">
              <a:ext uri="{FF2B5EF4-FFF2-40B4-BE49-F238E27FC236}">
                <a16:creationId xmlns:a16="http://schemas.microsoft.com/office/drawing/2014/main" id="{6867FBFB-8B9B-479D-87AF-C76D53E9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2 / 2</a:t>
            </a:r>
          </a:p>
        </p:txBody>
      </p:sp>
      <p:sp>
        <p:nvSpPr>
          <p:cNvPr id="16" name="text-226">
            <a:extLst xmlns:a="http://schemas.openxmlformats.org/drawingml/2006/main">
              <a:ext uri="{FF2B5EF4-FFF2-40B4-BE49-F238E27FC236}">
                <a16:creationId xmlns:a16="http://schemas.microsoft.com/office/drawing/2014/main" id="{C645DED2-8BD7-4646-B180-3D5BDA69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移动目标构建</a:t>
            </a:r>
          </a:p>
        </p:txBody>
      </p:sp>
      <p:sp>
        <p:nvSpPr>
          <p:cNvPr id="17" name="text-227">
            <a:extLst xmlns:a="http://schemas.openxmlformats.org/drawingml/2006/main">
              <a:ext uri="{FF2B5EF4-FFF2-40B4-BE49-F238E27FC236}">
                <a16:creationId xmlns:a16="http://schemas.microsoft.com/office/drawing/2014/main" id="{35697B87-BBA2-409E-9FF7-8D506612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App 资源通过
微信小程序通过</a:t>
            </a:r>
          </a:p>
        </p:txBody>
      </p:sp>
      <p:sp>
        <p:nvSpPr>
          <p:cNvPr id="18" name="text-228">
            <a:extLst xmlns:a="http://schemas.openxmlformats.org/drawingml/2006/main">
              <a:ext uri="{FF2B5EF4-FFF2-40B4-BE49-F238E27FC236}">
                <a16:creationId xmlns:a16="http://schemas.microsoft.com/office/drawing/2014/main" id="{57B9BF9D-76B2-4DE9-8DBF-B981AD8A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</a:t>
            </a:r>
          </a:p>
        </p:txBody>
      </p:sp>
      <p:sp>
        <p:nvSpPr>
          <p:cNvPr id="19" name="text-229">
            <a:extLst xmlns:a="http://schemas.openxmlformats.org/drawingml/2006/main">
              <a:ext uri="{FF2B5EF4-FFF2-40B4-BE49-F238E27FC236}">
                <a16:creationId xmlns:a16="http://schemas.microsoft.com/office/drawing/2014/main" id="{1DEA736E-67EE-4C88-9BFA-EE572D15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HTTP actions</a:t>
            </a:r>
          </a:p>
        </p:txBody>
      </p:sp>
      <p:sp>
        <p:nvSpPr>
          <p:cNvPr id="20" name="text-230">
            <a:extLst xmlns:a="http://schemas.openxmlformats.org/drawingml/2006/main">
              <a:ext uri="{FF2B5EF4-FFF2-40B4-BE49-F238E27FC236}">
                <a16:creationId xmlns:a16="http://schemas.microsoft.com/office/drawing/2014/main" id="{0B2F2C3A-2C1F-4903-BF27-71833452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16 控制器
36 个 DbSet</a:t>
            </a:r>
          </a:p>
        </p:txBody>
      </p:sp>
      <p:sp>
        <p:nvSpPr>
          <p:cNvPr id="21" name="text-231">
            <a:extLst xmlns:a="http://schemas.openxmlformats.org/drawingml/2006/main">
              <a:ext uri="{FF2B5EF4-FFF2-40B4-BE49-F238E27FC236}">
                <a16:creationId xmlns:a16="http://schemas.microsoft.com/office/drawing/2014/main" id="{27F4E46B-75AA-4682-8134-FC0492E6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04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同时发现性能改进项：Messages 构建块约 1.64 MB，需要继续拆分 Agora、消息与编辑器依赖。</a:t>
            </a:r>
          </a:p>
        </p:txBody>
      </p:sp>
    </p:spTree>
    <p:extLst>
      <p:ext uri="{BB962C8B-B14F-4D97-AF65-F5344CB8AC3E}">
        <p14:creationId xmlns:p14="http://schemas.microsoft.com/office/powerpoint/2010/main" val="8262705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232">
            <a:extLst xmlns:a="http://schemas.openxmlformats.org/drawingml/2006/main">
              <a:ext uri="{FF2B5EF4-FFF2-40B4-BE49-F238E27FC236}">
                <a16:creationId xmlns:a16="http://schemas.microsoft.com/office/drawing/2014/main" id="{2BB7ACFF-DC25-4CB9-BEB1-4043E85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4 开发 + 2 运维形成并行闭环</a:t>
            </a:r>
          </a:p>
        </p:txBody>
      </p:sp>
      <p:sp>
        <p:nvSpPr>
          <p:cNvPr id="2" name="text-233">
            <a:extLst xmlns:a="http://schemas.openxmlformats.org/drawingml/2006/main">
              <a:ext uri="{FF2B5EF4-FFF2-40B4-BE49-F238E27FC236}">
                <a16:creationId xmlns:a16="http://schemas.microsoft.com/office/drawing/2014/main" id="{4CA619D4-6255-4AE7-A926-8D99CDE0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团队角色依据：项目初稿；成果描述依据：最终代码与交付物</a:t>
            </a:r>
          </a:p>
        </p:txBody>
      </p:sp>
      <p:sp>
        <p:nvSpPr>
          <p:cNvPr id="3" name="text-234">
            <a:extLst xmlns:a="http://schemas.openxmlformats.org/drawingml/2006/main">
              <a:ext uri="{FF2B5EF4-FFF2-40B4-BE49-F238E27FC236}">
                <a16:creationId xmlns:a16="http://schemas.microsoft.com/office/drawing/2014/main" id="{1A27ACAB-B985-4C8F-A8BA-6C02FA04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4" name="rect-235">
            <a:extLst xmlns:a="http://schemas.openxmlformats.org/drawingml/2006/main">
              <a:ext uri="{FF2B5EF4-FFF2-40B4-BE49-F238E27FC236}">
                <a16:creationId xmlns:a16="http://schemas.microsoft.com/office/drawing/2014/main" id="{2EF946D0-8A54-4F7D-826C-28C8AE7E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36">
            <a:extLst xmlns:a="http://schemas.openxmlformats.org/drawingml/2006/main">
              <a:ext uri="{FF2B5EF4-FFF2-40B4-BE49-F238E27FC236}">
                <a16:creationId xmlns:a16="http://schemas.microsoft.com/office/drawing/2014/main" id="{CFC192EF-E5CE-48BB-8D20-B3302F4B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 / 后端负责人</a:t>
            </a:r>
          </a:p>
        </p:txBody>
      </p:sp>
      <p:sp>
        <p:nvSpPr>
          <p:cNvPr id="6" name="text-237">
            <a:extLst xmlns:a="http://schemas.openxmlformats.org/drawingml/2006/main">
              <a:ext uri="{FF2B5EF4-FFF2-40B4-BE49-F238E27FC236}">
                <a16:creationId xmlns:a16="http://schemas.microsoft.com/office/drawing/2014/main" id="{74F4B8DA-0175-40A9-A62D-58238411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28750"/>
            <a:ext cx="790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拆任务 · 定接口 · 控进度 · Review · 联调兜底 · 汇报闭环</a:t>
            </a:r>
          </a:p>
        </p:txBody>
      </p:sp>
      <p:cxnSp>
        <p:nvCxnSpPr>
          <p:cNvPr id="35" name="rule-238"/>
          <p:cNvCxnSpPr/>
          <p:nvPr/>
        </p:nvCxnSpPr>
        <p:spPr>
          <a:xfrm xmlns:a="http://schemas.openxmlformats.org/drawingml/2006/main">
            <a:off x="400050" y="23812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8" name="text-239">
            <a:extLst xmlns:a="http://schemas.openxmlformats.org/drawingml/2006/main">
              <a:ext uri="{FF2B5EF4-FFF2-40B4-BE49-F238E27FC236}">
                <a16:creationId xmlns:a16="http://schemas.microsoft.com/office/drawing/2014/main" id="{59634B09-6962-4D4E-BD17-887F0453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B</a:t>
            </a:r>
          </a:p>
        </p:txBody>
      </p:sp>
      <p:sp>
        <p:nvSpPr>
          <p:cNvPr id="9" name="text-240">
            <a:extLst xmlns:a="http://schemas.openxmlformats.org/drawingml/2006/main">
              <a:ext uri="{FF2B5EF4-FFF2-40B4-BE49-F238E27FC236}">
                <a16:creationId xmlns:a16="http://schemas.microsoft.com/office/drawing/2014/main" id="{C22E26CD-D670-43F8-AC63-93774832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前端负责人</a:t>
            </a:r>
          </a:p>
        </p:txBody>
      </p:sp>
      <p:sp>
        <p:nvSpPr>
          <p:cNvPr id="10" name="text-241">
            <a:extLst xmlns:a="http://schemas.openxmlformats.org/drawingml/2006/main">
              <a:ext uri="{FF2B5EF4-FFF2-40B4-BE49-F238E27FC236}">
                <a16:creationId xmlns:a16="http://schemas.microsoft.com/office/drawing/2014/main" id="{0C29D6A9-160B-4114-BE77-ED07893F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框架、登录权限、主布局、管理后台</a:t>
            </a:r>
          </a:p>
        </p:txBody>
      </p:sp>
      <p:cxnSp>
        <p:nvCxnSpPr>
          <p:cNvPr id="39" name="rule-242"/>
          <p:cNvCxnSpPr/>
          <p:nvPr/>
        </p:nvCxnSpPr>
        <p:spPr>
          <a:xfrm xmlns:a="http://schemas.openxmlformats.org/drawingml/2006/main">
            <a:off x="274320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2" name="text-243">
            <a:extLst xmlns:a="http://schemas.openxmlformats.org/drawingml/2006/main">
              <a:ext uri="{FF2B5EF4-FFF2-40B4-BE49-F238E27FC236}">
                <a16:creationId xmlns:a16="http://schemas.microsoft.com/office/drawing/2014/main" id="{BCFFCEBB-66A9-4AC3-B042-760A7AD7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C</a:t>
            </a:r>
          </a:p>
        </p:txBody>
      </p:sp>
      <p:sp>
        <p:nvSpPr>
          <p:cNvPr id="13" name="text-244">
            <a:extLst xmlns:a="http://schemas.openxmlformats.org/drawingml/2006/main">
              <a:ext uri="{FF2B5EF4-FFF2-40B4-BE49-F238E27FC236}">
                <a16:creationId xmlns:a16="http://schemas.microsoft.com/office/drawing/2014/main" id="{680CF3B8-F420-4588-AD50-F4FD4627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前端业务</a:t>
            </a:r>
          </a:p>
        </p:txBody>
      </p:sp>
      <p:sp>
        <p:nvSpPr>
          <p:cNvPr id="14" name="text-245">
            <a:extLst xmlns:a="http://schemas.openxmlformats.org/drawingml/2006/main">
              <a:ext uri="{FF2B5EF4-FFF2-40B4-BE49-F238E27FC236}">
                <a16:creationId xmlns:a16="http://schemas.microsoft.com/office/drawing/2014/main" id="{3AEA0BC1-1D5F-4029-92DC-6813AC6F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004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IM、文档、云盘、日历、审批页面</a:t>
            </a:r>
          </a:p>
        </p:txBody>
      </p:sp>
      <p:cxnSp>
        <p:nvCxnSpPr>
          <p:cNvPr id="43" name="rule-246"/>
          <p:cNvCxnSpPr/>
          <p:nvPr/>
        </p:nvCxnSpPr>
        <p:spPr>
          <a:xfrm xmlns:a="http://schemas.openxmlformats.org/drawingml/2006/main">
            <a:off x="535305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6" name="text-247">
            <a:extLst xmlns:a="http://schemas.openxmlformats.org/drawingml/2006/main">
              <a:ext uri="{FF2B5EF4-FFF2-40B4-BE49-F238E27FC236}">
                <a16:creationId xmlns:a16="http://schemas.microsoft.com/office/drawing/2014/main" id="{990FA9CC-9555-49B2-A6C7-9CB5F102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D</a:t>
            </a:r>
          </a:p>
        </p:txBody>
      </p:sp>
      <p:sp>
        <p:nvSpPr>
          <p:cNvPr id="17" name="text-248">
            <a:extLst xmlns:a="http://schemas.openxmlformats.org/drawingml/2006/main">
              <a:ext uri="{FF2B5EF4-FFF2-40B4-BE49-F238E27FC236}">
                <a16:creationId xmlns:a16="http://schemas.microsoft.com/office/drawing/2014/main" id="{A9F0F4D8-0F93-441F-980B-096E330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后端业务</a:t>
            </a:r>
          </a:p>
        </p:txBody>
      </p:sp>
      <p:sp>
        <p:nvSpPr>
          <p:cNvPr id="18" name="text-249">
            <a:extLst xmlns:a="http://schemas.openxmlformats.org/drawingml/2006/main">
              <a:ext uri="{FF2B5EF4-FFF2-40B4-BE49-F238E27FC236}">
                <a16:creationId xmlns:a16="http://schemas.microsoft.com/office/drawing/2014/main" id="{42ABB5C2-62C5-40F7-B3E7-0F696CB5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04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业务接口、数据模型、SignalR 逻辑</a:t>
            </a:r>
          </a:p>
        </p:txBody>
      </p:sp>
      <p:cxnSp>
        <p:nvCxnSpPr>
          <p:cNvPr id="47" name="rule-250"/>
          <p:cNvCxnSpPr/>
          <p:nvPr/>
        </p:nvCxnSpPr>
        <p:spPr>
          <a:xfrm xmlns:a="http://schemas.openxmlformats.org/drawingml/2006/main">
            <a:off x="796290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20" name="text-251">
            <a:extLst xmlns:a="http://schemas.openxmlformats.org/drawingml/2006/main">
              <a:ext uri="{FF2B5EF4-FFF2-40B4-BE49-F238E27FC236}">
                <a16:creationId xmlns:a16="http://schemas.microsoft.com/office/drawing/2014/main" id="{FF403995-49BA-4432-AC8C-AC5A9B64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E</a:t>
            </a:r>
          </a:p>
        </p:txBody>
      </p:sp>
      <p:sp>
        <p:nvSpPr>
          <p:cNvPr id="21" name="text-252">
            <a:extLst xmlns:a="http://schemas.openxmlformats.org/drawingml/2006/main">
              <a:ext uri="{FF2B5EF4-FFF2-40B4-BE49-F238E27FC236}">
                <a16:creationId xmlns:a16="http://schemas.microsoft.com/office/drawing/2014/main" id="{E69C580E-CC3A-4E7C-896D-7B5D258C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部署与数据</a:t>
            </a:r>
          </a:p>
        </p:txBody>
      </p:sp>
      <p:sp>
        <p:nvSpPr>
          <p:cNvPr id="22" name="text-253">
            <a:extLst xmlns:a="http://schemas.openxmlformats.org/drawingml/2006/main">
              <a:ext uri="{FF2B5EF4-FFF2-40B4-BE49-F238E27FC236}">
                <a16:creationId xmlns:a16="http://schemas.microsoft.com/office/drawing/2014/main" id="{6E24411E-1861-4133-A401-5EC3414F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1428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Docker、数据库、Nginx、演示环境</a:t>
            </a:r>
          </a:p>
        </p:txBody>
      </p:sp>
      <p:cxnSp>
        <p:nvCxnSpPr>
          <p:cNvPr id="51" name="rule-254"/>
          <p:cNvCxnSpPr/>
          <p:nvPr/>
        </p:nvCxnSpPr>
        <p:spPr>
          <a:xfrm xmlns:a="http://schemas.openxmlformats.org/drawingml/2006/main">
            <a:off x="990600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24" name="text-255">
            <a:extLst xmlns:a="http://schemas.openxmlformats.org/drawingml/2006/main">
              <a:ext uri="{FF2B5EF4-FFF2-40B4-BE49-F238E27FC236}">
                <a16:creationId xmlns:a16="http://schemas.microsoft.com/office/drawing/2014/main" id="{F3E094FE-63F8-47D3-A084-31A294A3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F</a:t>
            </a:r>
          </a:p>
        </p:txBody>
      </p:sp>
      <p:sp>
        <p:nvSpPr>
          <p:cNvPr id="25" name="text-256">
            <a:extLst xmlns:a="http://schemas.openxmlformats.org/drawingml/2006/main">
              <a:ext uri="{FF2B5EF4-FFF2-40B4-BE49-F238E27FC236}">
                <a16:creationId xmlns:a16="http://schemas.microsoft.com/office/drawing/2014/main" id="{6F5935D6-9392-44AF-A668-3FF46C96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670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测试与文档</a:t>
            </a:r>
          </a:p>
        </p:txBody>
      </p:sp>
      <p:sp>
        <p:nvSpPr>
          <p:cNvPr id="26" name="text-257">
            <a:extLst xmlns:a="http://schemas.openxmlformats.org/drawingml/2006/main">
              <a:ext uri="{FF2B5EF4-FFF2-40B4-BE49-F238E27FC236}">
                <a16:creationId xmlns:a16="http://schemas.microsoft.com/office/drawing/2014/main" id="{225C3A0E-E2C8-45D5-A14B-4C279243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428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用例、Bug、截图、验收材料</a:t>
            </a:r>
          </a:p>
        </p:txBody>
      </p:sp>
      <p:sp>
        <p:nvSpPr>
          <p:cNvPr id="27" name="rect-258">
            <a:extLst xmlns:a="http://schemas.openxmlformats.org/drawingml/2006/main">
              <a:ext uri="{FF2B5EF4-FFF2-40B4-BE49-F238E27FC236}">
                <a16:creationId xmlns:a16="http://schemas.microsoft.com/office/drawing/2014/main" id="{4275A440-97AA-4CF7-8050-69F37A6E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59">
            <a:extLst xmlns:a="http://schemas.openxmlformats.org/drawingml/2006/main">
              <a:ext uri="{FF2B5EF4-FFF2-40B4-BE49-F238E27FC236}">
                <a16:creationId xmlns:a16="http://schemas.microsoft.com/office/drawing/2014/main" id="{F22FF305-8191-43EB-8992-B907656B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0934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组长的核心成果不是“写得最多”，而是让接口、人员、环境与验收在同一节奏上收敛。</a:t>
            </a:r>
          </a:p>
        </p:txBody>
      </p:sp>
    </p:spTree>
    <p:extLst>
      <p:ext uri="{BB962C8B-B14F-4D97-AF65-F5344CB8AC3E}">
        <p14:creationId xmlns:p14="http://schemas.microsoft.com/office/powerpoint/2010/main" val="14967770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60">
            <a:extLst xmlns:a="http://schemas.openxmlformats.org/drawingml/2006/main">
              <a:ext uri="{FF2B5EF4-FFF2-40B4-BE49-F238E27FC236}">
                <a16:creationId xmlns:a16="http://schemas.microsoft.com/office/drawing/2014/main" id="{20D93FD9-7E18-4875-94A2-DEC12C97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主动暴露边界，下一步才更可信</a:t>
            </a:r>
          </a:p>
        </p:txBody>
      </p:sp>
      <p:sp>
        <p:nvSpPr>
          <p:cNvPr id="2" name="text-261">
            <a:extLst xmlns:a="http://schemas.openxmlformats.org/drawingml/2006/main">
              <a:ext uri="{FF2B5EF4-FFF2-40B4-BE49-F238E27FC236}">
                <a16:creationId xmlns:a16="http://schemas.microsoft.com/office/drawing/2014/main" id="{22EB9D9E-2F42-4799-AF7C-C9825658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262">
            <a:extLst xmlns:a="http://schemas.openxmlformats.org/drawingml/2006/main">
              <a:ext uri="{FF2B5EF4-FFF2-40B4-BE49-F238E27FC236}">
                <a16:creationId xmlns:a16="http://schemas.microsoft.com/office/drawing/2014/main" id="{61FCAA87-9DA2-4515-9B70-6CAF157E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4" name="text-263">
            <a:extLst xmlns:a="http://schemas.openxmlformats.org/drawingml/2006/main">
              <a:ext uri="{FF2B5EF4-FFF2-40B4-BE49-F238E27FC236}">
                <a16:creationId xmlns:a16="http://schemas.microsoft.com/office/drawing/2014/main" id="{F5B12A86-5F9F-4EF6-B9D4-A521A0A7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当前边界</a:t>
            </a:r>
          </a:p>
        </p:txBody>
      </p:sp>
      <p:sp>
        <p:nvSpPr>
          <p:cNvPr id="5" name="text-264">
            <a:extLst xmlns:a="http://schemas.openxmlformats.org/drawingml/2006/main">
              <a:ext uri="{FF2B5EF4-FFF2-40B4-BE49-F238E27FC236}">
                <a16:creationId xmlns:a16="http://schemas.microsoft.com/office/drawing/2014/main" id="{33A2C0E9-FF9A-4A8F-9E97-7394BCCD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763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下一阶段</a:t>
            </a:r>
          </a:p>
        </p:txBody>
      </p:sp>
      <p:cxnSp>
        <p:nvCxnSpPr>
          <p:cNvPr id="23" name="rule-265"/>
          <p:cNvCxnSpPr/>
          <p:nvPr/>
        </p:nvCxnSpPr>
        <p:spPr>
          <a:xfrm xmlns:a="http://schemas.openxmlformats.org/drawingml/2006/main">
            <a:off x="400050" y="17907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7" name="text-266">
            <a:extLst xmlns:a="http://schemas.openxmlformats.org/drawingml/2006/main">
              <a:ext uri="{FF2B5EF4-FFF2-40B4-BE49-F238E27FC236}">
                <a16:creationId xmlns:a16="http://schemas.microsoft.com/office/drawing/2014/main" id="{4076D138-349F-4267-9146-28A89FB9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Messages 构建块约 1.64 MB</a:t>
            </a:r>
          </a:p>
        </p:txBody>
      </p:sp>
      <p:sp>
        <p:nvSpPr>
          <p:cNvPr id="8" name="text-267">
            <a:extLst xmlns:a="http://schemas.openxmlformats.org/drawingml/2006/main">
              <a:ext uri="{FF2B5EF4-FFF2-40B4-BE49-F238E27FC236}">
                <a16:creationId xmlns:a16="http://schemas.microsoft.com/office/drawing/2014/main" id="{001DE4F7-7ABC-48A4-8FC6-0E81CBCE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526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72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按 Agora / 消息 / 编辑器继续懒加载与拆包</a:t>
            </a:r>
          </a:p>
        </p:txBody>
      </p:sp>
      <p:cxnSp>
        <p:nvCxnSpPr>
          <p:cNvPr id="26" name="rule-268"/>
          <p:cNvCxnSpPr/>
          <p:nvPr/>
        </p:nvCxnSpPr>
        <p:spPr>
          <a:xfrm xmlns:a="http://schemas.openxmlformats.org/drawingml/2006/main">
            <a:off x="400050" y="27241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0" name="text-269">
            <a:extLst xmlns:a="http://schemas.openxmlformats.org/drawingml/2006/main">
              <a:ext uri="{FF2B5EF4-FFF2-40B4-BE49-F238E27FC236}">
                <a16:creationId xmlns:a16="http://schemas.microsoft.com/office/drawing/2014/main" id="{376E5799-6C48-4F10-B689-D4B32FC3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文档支持编辑、评论与版本，但非多光标共编</a:t>
            </a:r>
          </a:p>
        </p:txBody>
      </p:sp>
      <p:sp>
        <p:nvSpPr>
          <p:cNvPr id="11" name="text-270">
            <a:extLst xmlns:a="http://schemas.openxmlformats.org/drawingml/2006/main">
              <a:ext uri="{FF2B5EF4-FFF2-40B4-BE49-F238E27FC236}">
                <a16:creationId xmlns:a16="http://schemas.microsoft.com/office/drawing/2014/main" id="{FAC5EB64-BE2F-4087-B968-7C2325E7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接入 Yjs / CRDT，增加在线成员与冲突合并</a:t>
            </a:r>
          </a:p>
        </p:txBody>
      </p:sp>
      <p:cxnSp>
        <p:nvCxnSpPr>
          <p:cNvPr id="29" name="rule-271"/>
          <p:cNvCxnSpPr/>
          <p:nvPr/>
        </p:nvCxnSpPr>
        <p:spPr>
          <a:xfrm xmlns:a="http://schemas.openxmlformats.org/drawingml/2006/main">
            <a:off x="400050" y="3733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3" name="text-272">
            <a:extLst xmlns:a="http://schemas.openxmlformats.org/drawingml/2006/main">
              <a:ext uri="{FF2B5EF4-FFF2-40B4-BE49-F238E27FC236}">
                <a16:creationId xmlns:a16="http://schemas.microsoft.com/office/drawing/2014/main" id="{BB15701F-9A97-4DBE-A60F-FEE51EBC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35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App 与小程序构建通过；H5 子目标缺入口文件</a:t>
            </a:r>
          </a:p>
        </p:txBody>
      </p:sp>
      <p:sp>
        <p:nvSpPr>
          <p:cNvPr id="14" name="text-273">
            <a:extLst xmlns:a="http://schemas.openxmlformats.org/drawingml/2006/main">
              <a:ext uri="{FF2B5EF4-FFF2-40B4-BE49-F238E27FC236}">
                <a16:creationId xmlns:a16="http://schemas.microsoft.com/office/drawing/2014/main" id="{F4287172-D43C-4CD9-B51B-6C3223CE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补齐 H5 index.html，并把多端构建纳入 CI</a:t>
            </a:r>
          </a:p>
        </p:txBody>
      </p:sp>
      <p:cxnSp>
        <p:nvCxnSpPr>
          <p:cNvPr id="32" name="rule-274"/>
          <p:cNvCxnSpPr/>
          <p:nvPr/>
        </p:nvCxnSpPr>
        <p:spPr>
          <a:xfrm xmlns:a="http://schemas.openxmlformats.org/drawingml/2006/main">
            <a:off x="400050" y="47434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6" name="text-275">
            <a:extLst xmlns:a="http://schemas.openxmlformats.org/drawingml/2006/main">
              <a:ext uri="{FF2B5EF4-FFF2-40B4-BE49-F238E27FC236}">
                <a16:creationId xmlns:a16="http://schemas.microsoft.com/office/drawing/2014/main" id="{2C7675CC-401F-46F3-8656-95CAE3B0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演示依赖实时后端与 WebSocket 代理</a:t>
            </a:r>
          </a:p>
        </p:txBody>
      </p:sp>
      <p:sp>
        <p:nvSpPr>
          <p:cNvPr id="17" name="text-276">
            <a:extLst xmlns:a="http://schemas.openxmlformats.org/drawingml/2006/main">
              <a:ext uri="{FF2B5EF4-FFF2-40B4-BE49-F238E27FC236}">
                <a16:creationId xmlns:a16="http://schemas.microsoft.com/office/drawing/2014/main" id="{303A00A0-EE68-48A0-B4AB-27638A8E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863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补监控、断线重连指标、离线队列与压测</a:t>
            </a:r>
          </a:p>
        </p:txBody>
      </p:sp>
    </p:spTree>
    <p:extLst>
      <p:ext uri="{BB962C8B-B14F-4D97-AF65-F5344CB8AC3E}">
        <p14:creationId xmlns:p14="http://schemas.microsoft.com/office/powerpoint/2010/main" val="10189116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77">
            <a:extLst xmlns:a="http://schemas.openxmlformats.org/drawingml/2006/main">
              <a:ext uri="{FF2B5EF4-FFF2-40B4-BE49-F238E27FC236}">
                <a16:creationId xmlns:a16="http://schemas.microsoft.com/office/drawing/2014/main" id="{76CBF9FB-4F6A-4A53-93BF-61A1462D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71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</a:t>
            </a:r>
          </a:p>
        </p:txBody>
      </p:sp>
      <p:sp>
        <p:nvSpPr>
          <p:cNvPr id="2" name="text-278">
            <a:extLst xmlns:a="http://schemas.openxmlformats.org/drawingml/2006/main">
              <a:ext uri="{FF2B5EF4-FFF2-40B4-BE49-F238E27FC236}">
                <a16:creationId xmlns:a16="http://schemas.microsoft.com/office/drawing/2014/main" id="{8FBD3578-3F94-4C14-9465-55F0EE37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9060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我们交付的是
可运行的协作系统</a:t>
            </a:r>
          </a:p>
        </p:txBody>
      </p:sp>
      <p:sp>
        <p:nvSpPr>
          <p:cNvPr id="3" name="text-279">
            <a:extLst xmlns:a="http://schemas.openxmlformats.org/drawingml/2006/main">
              <a:ext uri="{FF2B5EF4-FFF2-40B4-BE49-F238E27FC236}">
                <a16:creationId xmlns:a16="http://schemas.microsoft.com/office/drawing/2014/main" id="{D5185350-E8C9-44A7-B778-2C0B6A30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多端入口</a:t>
            </a:r>
          </a:p>
        </p:txBody>
      </p:sp>
      <p:sp>
        <p:nvSpPr>
          <p:cNvPr id="4" name="text-280">
            <a:extLst xmlns:a="http://schemas.openxmlformats.org/drawingml/2006/main">
              <a:ext uri="{FF2B5EF4-FFF2-40B4-BE49-F238E27FC236}">
                <a16:creationId xmlns:a16="http://schemas.microsoft.com/office/drawing/2014/main" id="{F43B5C12-D81A-40FC-9ACB-B55DF1E5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统一数据</a:t>
            </a:r>
          </a:p>
        </p:txBody>
      </p:sp>
      <p:sp>
        <p:nvSpPr>
          <p:cNvPr id="5" name="text-281">
            <a:extLst xmlns:a="http://schemas.openxmlformats.org/drawingml/2006/main">
              <a:ext uri="{FF2B5EF4-FFF2-40B4-BE49-F238E27FC236}">
                <a16:creationId xmlns:a16="http://schemas.microsoft.com/office/drawing/2014/main" id="{FBA6017D-4E05-4349-8C2A-626DB3B1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工程验证</a:t>
            </a:r>
          </a:p>
        </p:txBody>
      </p:sp>
      <p:sp>
        <p:nvSpPr>
          <p:cNvPr id="6" name="text-282">
            <a:extLst xmlns:a="http://schemas.openxmlformats.org/drawingml/2006/main">
              <a:ext uri="{FF2B5EF4-FFF2-40B4-BE49-F238E27FC236}">
                <a16:creationId xmlns:a16="http://schemas.microsoft.com/office/drawing/2014/main" id="{4EC1116C-C23E-4755-8098-E15FAC5B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清晰边界</a:t>
            </a:r>
          </a:p>
        </p:txBody>
      </p:sp>
      <p:sp>
        <p:nvSpPr>
          <p:cNvPr id="7" name="text-283">
            <a:extLst xmlns:a="http://schemas.openxmlformats.org/drawingml/2006/main">
              <a:ext uri="{FF2B5EF4-FFF2-40B4-BE49-F238E27FC236}">
                <a16:creationId xmlns:a16="http://schemas.microsoft.com/office/drawing/2014/main" id="{8484110D-AD51-49C5-A4F6-2928EEA0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桌面 / App / 小程序</a:t>
            </a:r>
          </a:p>
        </p:txBody>
      </p:sp>
      <p:sp>
        <p:nvSpPr>
          <p:cNvPr id="8" name="text-284">
            <a:extLst xmlns:a="http://schemas.openxmlformats.org/drawingml/2006/main">
              <a:ext uri="{FF2B5EF4-FFF2-40B4-BE49-F238E27FC236}">
                <a16:creationId xmlns:a16="http://schemas.microsoft.com/office/drawing/2014/main" id="{E8DAF7F3-843A-4941-904C-B7ACDC97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14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账号、组织、消息与文件</a:t>
            </a:r>
          </a:p>
        </p:txBody>
      </p:sp>
      <p:sp>
        <p:nvSpPr>
          <p:cNvPr id="9" name="text-285">
            <a:extLst xmlns:a="http://schemas.openxmlformats.org/drawingml/2006/main">
              <a:ext uri="{FF2B5EF4-FFF2-40B4-BE49-F238E27FC236}">
                <a16:creationId xmlns:a16="http://schemas.microsoft.com/office/drawing/2014/main" id="{816CB240-22B6-498F-AA8F-B22079D3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14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构建、测试、部署与健康检查</a:t>
            </a:r>
          </a:p>
        </p:txBody>
      </p:sp>
      <p:sp>
        <p:nvSpPr>
          <p:cNvPr id="10" name="text-286">
            <a:extLst xmlns:a="http://schemas.openxmlformats.org/drawingml/2006/main">
              <a:ext uri="{FF2B5EF4-FFF2-40B4-BE49-F238E27FC236}">
                <a16:creationId xmlns:a16="http://schemas.microsoft.com/office/drawing/2014/main" id="{4B67BFEB-A045-4856-A5F9-BE32FF50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47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性能、H5 与实时共编路线</a:t>
            </a:r>
          </a:p>
        </p:txBody>
      </p:sp>
      <p:sp>
        <p:nvSpPr>
          <p:cNvPr id="11" name="rect-287">
            <a:extLst xmlns:a="http://schemas.openxmlformats.org/drawingml/2006/main">
              <a:ext uri="{FF2B5EF4-FFF2-40B4-BE49-F238E27FC236}">
                <a16:creationId xmlns:a16="http://schemas.microsoft.com/office/drawing/2014/main" id="{DC66CC34-2562-4CCC-99F6-506816E3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88">
            <a:extLst xmlns:a="http://schemas.openxmlformats.org/drawingml/2006/main">
              <a:ext uri="{FF2B5EF4-FFF2-40B4-BE49-F238E27FC236}">
                <a16:creationId xmlns:a16="http://schemas.microsoft.com/office/drawing/2014/main" id="{41271814-C9EA-40D8-8CAB-4E64A99D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093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建议现场演示：登录 → 发群消息 → 新建文档 → 发起审批 → 查看管理后台</a:t>
            </a:r>
          </a:p>
        </p:txBody>
      </p:sp>
      <p:sp>
        <p:nvSpPr>
          <p:cNvPr id="13" name="text-289">
            <a:extLst xmlns:a="http://schemas.openxmlformats.org/drawingml/2006/main">
              <a:ext uri="{FF2B5EF4-FFF2-40B4-BE49-F238E27FC236}">
                <a16:creationId xmlns:a16="http://schemas.microsoft.com/office/drawing/2014/main" id="{C57E49D0-4ECB-4041-8A5C-D9FCB284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74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8055355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90">
            <a:extLst xmlns:a="http://schemas.openxmlformats.org/drawingml/2006/main">
              <a:ext uri="{FF2B5EF4-FFF2-40B4-BE49-F238E27FC236}">
                <a16:creationId xmlns:a16="http://schemas.microsoft.com/office/drawing/2014/main" id="{900C781E-A121-4F84-9F6C-2A228CF8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答辩问题：技术选择与整体架构</a:t>
            </a:r>
          </a:p>
        </p:txBody>
      </p:sp>
      <p:sp>
        <p:nvSpPr>
          <p:cNvPr id="2" name="text-291">
            <a:extLst xmlns:a="http://schemas.openxmlformats.org/drawingml/2006/main">
              <a:ext uri="{FF2B5EF4-FFF2-40B4-BE49-F238E27FC236}">
                <a16:creationId xmlns:a16="http://schemas.microsoft.com/office/drawing/2014/main" id="{EAAB57E3-7A9E-427A-AD64-E3A6AE5D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附录：建议回答请结合现场演示简洁复述</a:t>
            </a:r>
          </a:p>
        </p:txBody>
      </p:sp>
      <p:sp>
        <p:nvSpPr>
          <p:cNvPr id="3" name="text-292">
            <a:extLst xmlns:a="http://schemas.openxmlformats.org/drawingml/2006/main">
              <a:ext uri="{FF2B5EF4-FFF2-40B4-BE49-F238E27FC236}">
                <a16:creationId xmlns:a16="http://schemas.microsoft.com/office/drawing/2014/main" id="{55144259-B356-4882-B806-76BDFD4F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16</a:t>
            </a:r>
          </a:p>
        </p:txBody>
      </p:sp>
      <p:sp>
        <p:nvSpPr>
          <p:cNvPr id="4" name="text-293">
            <a:extLst xmlns:a="http://schemas.openxmlformats.org/drawingml/2006/main">
              <a:ext uri="{FF2B5EF4-FFF2-40B4-BE49-F238E27FC236}">
                <a16:creationId xmlns:a16="http://schemas.microsoft.com/office/drawing/2014/main" id="{2EDEBAD5-5925-4442-9294-46819A46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 为什么选 Vue 3 + ASP.NET Core？</a:t>
            </a:r>
          </a:p>
        </p:txBody>
      </p:sp>
      <p:sp>
        <p:nvSpPr>
          <p:cNvPr id="5" name="text-294">
            <a:extLst xmlns:a="http://schemas.openxmlformats.org/drawingml/2006/main">
              <a:ext uri="{FF2B5EF4-FFF2-40B4-BE49-F238E27FC236}">
                <a16:creationId xmlns:a16="http://schemas.microsoft.com/office/drawing/2014/main" id="{F77C0796-09CC-4399-B9DA-9FBD96FE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适合组件化多页面工作台；ASP.NET Core 8 在鉴权、EF Core、SignalR 与部署方面形成完整技术链，且与团队能力匹配。选择标准是可交付与可维护，而不是追求最潮技术。</a:t>
            </a:r>
          </a:p>
        </p:txBody>
      </p:sp>
      <p:sp>
        <p:nvSpPr>
          <p:cNvPr id="6" name="text-295">
            <a:extLst xmlns:a="http://schemas.openxmlformats.org/drawingml/2006/main">
              <a:ext uri="{FF2B5EF4-FFF2-40B4-BE49-F238E27FC236}">
                <a16:creationId xmlns:a16="http://schemas.microsoft.com/office/drawing/2014/main" id="{2CECE21D-4A37-437A-B3E5-1AF995DA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Q2 为什么没有拆成微服务？</a:t>
            </a:r>
          </a:p>
        </p:txBody>
      </p:sp>
      <p:sp>
        <p:nvSpPr>
          <p:cNvPr id="7" name="text-296">
            <a:extLst xmlns:a="http://schemas.openxmlformats.org/drawingml/2006/main">
              <a:ext uri="{FF2B5EF4-FFF2-40B4-BE49-F238E27FC236}">
                <a16:creationId xmlns:a16="http://schemas.microsoft.com/office/drawing/2014/main" id="{D146D7FD-54EC-4D76-B40D-F9762B9A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当前是实训规模，模块化单体能降低部署与联调成本。我们已按 Controller、Service、Domain、Data 分层；当团队和流量增长后，再按 IM、文档、文件拆服务更合适。</a:t>
            </a:r>
          </a:p>
        </p:txBody>
      </p:sp>
      <p:sp>
        <p:nvSpPr>
          <p:cNvPr id="8" name="text-297">
            <a:extLst xmlns:a="http://schemas.openxmlformats.org/drawingml/2006/main">
              <a:ext uri="{FF2B5EF4-FFF2-40B4-BE49-F238E27FC236}">
                <a16:creationId xmlns:a16="http://schemas.microsoft.com/office/drawing/2014/main" id="{8A5CAE0C-4EE7-4508-B5BA-58EBEE11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Q3 四端如何保证数据一致？</a:t>
            </a:r>
          </a:p>
        </p:txBody>
      </p:sp>
      <p:sp>
        <p:nvSpPr>
          <p:cNvPr id="9" name="text-298">
            <a:extLst xmlns:a="http://schemas.openxmlformats.org/drawingml/2006/main">
              <a:ext uri="{FF2B5EF4-FFF2-40B4-BE49-F238E27FC236}">
                <a16:creationId xmlns:a16="http://schemas.microsoft.com/office/drawing/2014/main" id="{95E6C75D-8151-4C56-BDF4-9B0A5FFC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四端不各自保存业务真相，而是共享 REST API、JWT 身份和 PostgreSQL 数据；SignalR 负责实时提示，列表接口负责恢复与最终一致。</a:t>
            </a:r>
          </a:p>
        </p:txBody>
      </p:sp>
      <p:sp>
        <p:nvSpPr>
          <p:cNvPr id="10" name="text-299">
            <a:extLst xmlns:a="http://schemas.openxmlformats.org/drawingml/2006/main">
              <a:ext uri="{FF2B5EF4-FFF2-40B4-BE49-F238E27FC236}">
                <a16:creationId xmlns:a16="http://schemas.microsoft.com/office/drawing/2014/main" id="{CBD2196A-CD29-4074-88EF-A512B480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Q4 项目的创新点是什么？</a:t>
            </a:r>
          </a:p>
        </p:txBody>
      </p:sp>
      <p:sp>
        <p:nvSpPr>
          <p:cNvPr id="11" name="text-300">
            <a:extLst xmlns:a="http://schemas.openxmlformats.org/drawingml/2006/main">
              <a:ext uri="{FF2B5EF4-FFF2-40B4-BE49-F238E27FC236}">
                <a16:creationId xmlns:a16="http://schemas.microsoft.com/office/drawing/2014/main" id="{E784848F-BEA2-482C-939A-5E259785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不是简单复刻 UI，而是把四端会话、实时事件、可切换文件存储、文档回收站、健康检查和自动化验证整合成一个可运行闭环。</a:t>
            </a:r>
          </a:p>
        </p:txBody>
      </p:sp>
    </p:spTree>
    <p:extLst>
      <p:ext uri="{BB962C8B-B14F-4D97-AF65-F5344CB8AC3E}">
        <p14:creationId xmlns:p14="http://schemas.microsoft.com/office/powerpoint/2010/main" val="10731115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01">
            <a:extLst xmlns:a="http://schemas.openxmlformats.org/drawingml/2006/main">
              <a:ext uri="{FF2B5EF4-FFF2-40B4-BE49-F238E27FC236}">
                <a16:creationId xmlns:a16="http://schemas.microsoft.com/office/drawing/2014/main" id="{047AC7EF-1DBF-47A7-9C19-B5CE08D2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答辩问题：安全、一致性与测试</a:t>
            </a:r>
          </a:p>
        </p:txBody>
      </p:sp>
      <p:sp>
        <p:nvSpPr>
          <p:cNvPr id="2" name="text-302">
            <a:extLst xmlns:a="http://schemas.openxmlformats.org/drawingml/2006/main">
              <a:ext uri="{FF2B5EF4-FFF2-40B4-BE49-F238E27FC236}">
                <a16:creationId xmlns:a16="http://schemas.microsoft.com/office/drawing/2014/main" id="{FD1C88F3-0E2A-4100-AE81-DC7185AE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附录：回答先讲机制，再给代码或测试证据</a:t>
            </a:r>
          </a:p>
        </p:txBody>
      </p:sp>
      <p:sp>
        <p:nvSpPr>
          <p:cNvPr id="3" name="text-303">
            <a:extLst xmlns:a="http://schemas.openxmlformats.org/drawingml/2006/main">
              <a:ext uri="{FF2B5EF4-FFF2-40B4-BE49-F238E27FC236}">
                <a16:creationId xmlns:a16="http://schemas.microsoft.com/office/drawing/2014/main" id="{636DC102-39EB-4D1D-BD83-AC879B14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17</a:t>
            </a:r>
          </a:p>
        </p:txBody>
      </p:sp>
      <p:sp>
        <p:nvSpPr>
          <p:cNvPr id="4" name="text-304">
            <a:extLst xmlns:a="http://schemas.openxmlformats.org/drawingml/2006/main">
              <a:ext uri="{FF2B5EF4-FFF2-40B4-BE49-F238E27FC236}">
                <a16:creationId xmlns:a16="http://schemas.microsoft.com/office/drawing/2014/main" id="{84CF8F05-0E32-4DB6-962C-3EBE1A24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Q5 JWT 泄露或退出后怎么办？</a:t>
            </a:r>
          </a:p>
        </p:txBody>
      </p:sp>
      <p:sp>
        <p:nvSpPr>
          <p:cNvPr id="5" name="text-305">
            <a:extLst xmlns:a="http://schemas.openxmlformats.org/drawingml/2006/main">
              <a:ext uri="{FF2B5EF4-FFF2-40B4-BE49-F238E27FC236}">
                <a16:creationId xmlns:a16="http://schemas.microsoft.com/office/drawing/2014/main" id="{F5EA3DBF-1CF9-4B71-BACE-7772610E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 带 jti，后端维护撤销表；每次认证还校验客户端会话版本。退出可撤销当前令牌，同类型客户端重新登录可让旧会话失效。</a:t>
            </a:r>
          </a:p>
        </p:txBody>
      </p:sp>
      <p:sp>
        <p:nvSpPr>
          <p:cNvPr id="6" name="text-306">
            <a:extLst xmlns:a="http://schemas.openxmlformats.org/drawingml/2006/main">
              <a:ext uri="{FF2B5EF4-FFF2-40B4-BE49-F238E27FC236}">
                <a16:creationId xmlns:a16="http://schemas.microsoft.com/office/drawing/2014/main" id="{1598D71B-6457-4AC8-B289-52647A4F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Q6 推送失败会不会丢数据？</a:t>
            </a:r>
          </a:p>
        </p:txBody>
      </p:sp>
      <p:sp>
        <p:nvSpPr>
          <p:cNvPr id="7" name="text-307">
            <a:extLst xmlns:a="http://schemas.openxmlformats.org/drawingml/2006/main">
              <a:ext uri="{FF2B5EF4-FFF2-40B4-BE49-F238E27FC236}">
                <a16:creationId xmlns:a16="http://schemas.microsoft.com/office/drawing/2014/main" id="{82D58737-53A4-4D81-B0B3-6D0C2869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业务数据先提交数据库，再发送 SignalR。推送失败只记录警告，不把成功写入误报成失败；客户端重连后可通过列表接口恢复。</a:t>
            </a:r>
          </a:p>
        </p:txBody>
      </p:sp>
      <p:sp>
        <p:nvSpPr>
          <p:cNvPr id="8" name="text-308">
            <a:extLst xmlns:a="http://schemas.openxmlformats.org/drawingml/2006/main">
              <a:ext uri="{FF2B5EF4-FFF2-40B4-BE49-F238E27FC236}">
                <a16:creationId xmlns:a16="http://schemas.microsoft.com/office/drawing/2014/main" id="{38356096-BD39-4187-BAF5-B3D1D9C7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Q7 如何证明项目不是只能演示？</a:t>
            </a:r>
          </a:p>
        </p:txBody>
      </p:sp>
      <p:sp>
        <p:nvSpPr>
          <p:cNvPr id="9" name="text-309">
            <a:extLst xmlns:a="http://schemas.openxmlformats.org/drawingml/2006/main">
              <a:ext uri="{FF2B5EF4-FFF2-40B4-BE49-F238E27FC236}">
                <a16:creationId xmlns:a16="http://schemas.microsoft.com/office/drawing/2014/main" id="{1B4B7FD3-B58B-49C0-8ED9-82D14651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本次实际执行后端 41/41 测试、Web 生产构建、App 构建和微信小程序构建，全部核心目标通过；同时保留 Docker、Nginx 与健康检查配置。</a:t>
            </a:r>
          </a:p>
        </p:txBody>
      </p:sp>
      <p:sp>
        <p:nvSpPr>
          <p:cNvPr id="10" name="text-310">
            <a:extLst xmlns:a="http://schemas.openxmlformats.org/drawingml/2006/main">
              <a:ext uri="{FF2B5EF4-FFF2-40B4-BE49-F238E27FC236}">
                <a16:creationId xmlns:a16="http://schemas.microsoft.com/office/drawing/2014/main" id="{F4EBE306-CCD3-48BB-B428-754F5171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Q8 文件存储为什么做两套？</a:t>
            </a:r>
          </a:p>
        </p:txBody>
      </p:sp>
      <p:sp>
        <p:nvSpPr>
          <p:cNvPr id="11" name="text-311">
            <a:extLst xmlns:a="http://schemas.openxmlformats.org/drawingml/2006/main">
              <a:ext uri="{FF2B5EF4-FFF2-40B4-BE49-F238E27FC236}">
                <a16:creationId xmlns:a16="http://schemas.microsoft.com/office/drawing/2014/main" id="{CA787BC9-9067-4269-AA21-013C0E3A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本地存储便于开发与演示，MinIO 适合服务器对象存储。它们实现同一 IFileStorageService，靠配置切换，业务控制器无需改代码。</a:t>
            </a:r>
          </a:p>
        </p:txBody>
      </p:sp>
    </p:spTree>
    <p:extLst>
      <p:ext uri="{BB962C8B-B14F-4D97-AF65-F5344CB8AC3E}">
        <p14:creationId xmlns:p14="http://schemas.microsoft.com/office/powerpoint/2010/main" val="13009297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12">
            <a:extLst xmlns:a="http://schemas.openxmlformats.org/drawingml/2006/main">
              <a:ext uri="{FF2B5EF4-FFF2-40B4-BE49-F238E27FC236}">
                <a16:creationId xmlns:a16="http://schemas.microsoft.com/office/drawing/2014/main" id="{55512196-BB09-4958-B1B6-19FFCDB5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答辩问题：组长贡献与项目边界</a:t>
            </a:r>
          </a:p>
        </p:txBody>
      </p:sp>
      <p:sp>
        <p:nvSpPr>
          <p:cNvPr id="2" name="text-313">
            <a:extLst xmlns:a="http://schemas.openxmlformats.org/drawingml/2006/main">
              <a:ext uri="{FF2B5EF4-FFF2-40B4-BE49-F238E27FC236}">
                <a16:creationId xmlns:a16="http://schemas.microsoft.com/office/drawing/2014/main" id="{467183AF-96CF-4068-B036-AECBEF25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附录：组长回答要强调决策、协调与闭环证据</a:t>
            </a:r>
          </a:p>
        </p:txBody>
      </p:sp>
      <p:sp>
        <p:nvSpPr>
          <p:cNvPr id="3" name="text-314">
            <a:extLst xmlns:a="http://schemas.openxmlformats.org/drawingml/2006/main">
              <a:ext uri="{FF2B5EF4-FFF2-40B4-BE49-F238E27FC236}">
                <a16:creationId xmlns:a16="http://schemas.microsoft.com/office/drawing/2014/main" id="{07268245-DD2C-40FA-B972-E115EC10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18</a:t>
            </a:r>
          </a:p>
        </p:txBody>
      </p:sp>
      <p:sp>
        <p:nvSpPr>
          <p:cNvPr id="4" name="text-315">
            <a:extLst xmlns:a="http://schemas.openxmlformats.org/drawingml/2006/main">
              <a:ext uri="{FF2B5EF4-FFF2-40B4-BE49-F238E27FC236}">
                <a16:creationId xmlns:a16="http://schemas.microsoft.com/office/drawing/2014/main" id="{144CADAD-5B3D-4665-AE47-26E2F3B7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Q9 你作为组长做了什么？</a:t>
            </a:r>
          </a:p>
        </p:txBody>
      </p:sp>
      <p:sp>
        <p:nvSpPr>
          <p:cNvPr id="5" name="text-316">
            <a:extLst xmlns:a="http://schemas.openxmlformats.org/drawingml/2006/main">
              <a:ext uri="{FF2B5EF4-FFF2-40B4-BE49-F238E27FC236}">
                <a16:creationId xmlns:a16="http://schemas.microsoft.com/office/drawing/2014/main" id="{39DDCB6F-3B42-4D48-AEBF-FCD572E4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我负责范围取舍、任务拆解、接口规范、关键后端能力、代码 Review、跨端联调、风险收敛和最终汇报。我的价值是让六个人的产出能合成一个可验收系统。</a:t>
            </a:r>
          </a:p>
        </p:txBody>
      </p:sp>
      <p:sp>
        <p:nvSpPr>
          <p:cNvPr id="6" name="text-317">
            <a:extLst xmlns:a="http://schemas.openxmlformats.org/drawingml/2006/main">
              <a:ext uri="{FF2B5EF4-FFF2-40B4-BE49-F238E27FC236}">
                <a16:creationId xmlns:a16="http://schemas.microsoft.com/office/drawing/2014/main" id="{56EEA403-FC04-40CE-ACE1-F1616E7D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Q10 最大技术难点是什么？</a:t>
            </a:r>
          </a:p>
        </p:txBody>
      </p:sp>
      <p:sp>
        <p:nvSpPr>
          <p:cNvPr id="7" name="text-318">
            <a:extLst xmlns:a="http://schemas.openxmlformats.org/drawingml/2006/main">
              <a:ext uri="{FF2B5EF4-FFF2-40B4-BE49-F238E27FC236}">
                <a16:creationId xmlns:a16="http://schemas.microsoft.com/office/drawing/2014/main" id="{78724FCE-2442-43DE-AC9E-F8FB8F9A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多端实时状态最难：既要实时，又不能让瞬时网络失败破坏业务成功语义。最终采用先落库、后推送、重连再拉取的策略。</a:t>
            </a:r>
          </a:p>
        </p:txBody>
      </p:sp>
      <p:sp>
        <p:nvSpPr>
          <p:cNvPr id="8" name="text-319">
            <a:extLst xmlns:a="http://schemas.openxmlformats.org/drawingml/2006/main">
              <a:ext uri="{FF2B5EF4-FFF2-40B4-BE49-F238E27FC236}">
                <a16:creationId xmlns:a16="http://schemas.microsoft.com/office/drawing/2014/main" id="{00A0500B-943A-41F2-BE03-5E704C56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Q11 哪些功能还不完整？</a:t>
            </a:r>
          </a:p>
        </p:txBody>
      </p:sp>
      <p:sp>
        <p:nvSpPr>
          <p:cNvPr id="9" name="text-320">
            <a:extLst xmlns:a="http://schemas.openxmlformats.org/drawingml/2006/main">
              <a:ext uri="{FF2B5EF4-FFF2-40B4-BE49-F238E27FC236}">
                <a16:creationId xmlns:a16="http://schemas.microsoft.com/office/drawing/2014/main" id="{FBC7FCDD-9E50-4184-B298-5E2E6E1F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文档尚未实现 CRDT 多光标共编；Messages 包体偏大；uni-app H5 缺入口文件。App 与小程序目标已通过，以上都已给出明确改进路径。</a:t>
            </a:r>
          </a:p>
        </p:txBody>
      </p:sp>
      <p:sp>
        <p:nvSpPr>
          <p:cNvPr id="10" name="text-321">
            <a:extLst xmlns:a="http://schemas.openxmlformats.org/drawingml/2006/main">
              <a:ext uri="{FF2B5EF4-FFF2-40B4-BE49-F238E27FC236}">
                <a16:creationId xmlns:a16="http://schemas.microsoft.com/office/drawing/2014/main" id="{FF82864B-982F-4DA7-872A-93F165EC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Q12 如果再给一周怎么安排？</a:t>
            </a:r>
          </a:p>
        </p:txBody>
      </p:sp>
      <p:sp>
        <p:nvSpPr>
          <p:cNvPr id="11" name="text-322">
            <a:extLst xmlns:a="http://schemas.openxmlformats.org/drawingml/2006/main">
              <a:ext uri="{FF2B5EF4-FFF2-40B4-BE49-F238E27FC236}">
                <a16:creationId xmlns:a16="http://schemas.microsoft.com/office/drawing/2014/main" id="{A09BEA75-1D49-4338-A73E-F90AC477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先做消息与会议拆包、补 H5 与 CI；再接 Yjs 文档协同；最后补可观测性、离线队列与并发压测，用指标验证而不是继续堆页面。</a:t>
            </a:r>
          </a:p>
        </p:txBody>
      </p:sp>
    </p:spTree>
    <p:extLst>
      <p:ext uri="{BB962C8B-B14F-4D97-AF65-F5344CB8AC3E}">
        <p14:creationId xmlns:p14="http://schemas.microsoft.com/office/powerpoint/2010/main" val="1095869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2026-07-19T02:10:29.4260000Z</dcterms:created>
  <dcterms:modified xsi:type="dcterms:W3CDTF">2026-07-19T02:10:29.4260000Z</dcterms:modified>
</coreProperties>
</file>