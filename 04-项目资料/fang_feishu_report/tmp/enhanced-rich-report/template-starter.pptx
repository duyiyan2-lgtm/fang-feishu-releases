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b61e5ebad041ae" /><Relationship Type="http://schemas.openxmlformats.org/officeDocument/2006/relationships/extended-properties" Target="/docProps/app.xml" Id="R2f32f7ab245a4948" /><Relationship Type="http://schemas.openxmlformats.org/officeDocument/2006/relationships/officeDocument" Target="/ppt/presentation.xml" Id="R120f276cd8804b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29c07ec99b4da3"/>
  </p:sldMasterIdLst>
  <p:notesMasterIdLst>
    <p:notesMasterId xmlns:r="http://schemas.openxmlformats.org/officeDocument/2006/relationships" r:id="R0903dd1801954aa5"/>
  </p:notesMasterIdLst>
  <p:sldIdLst>
    <p:sldId xmlns:r="http://schemas.openxmlformats.org/officeDocument/2006/relationships" id="256" r:id="R21d0113f55e34a9b"/>
    <p:sldId xmlns:r="http://schemas.openxmlformats.org/officeDocument/2006/relationships" id="257" r:id="R265fcd1cd7cf4fef"/>
    <p:sldId xmlns:r="http://schemas.openxmlformats.org/officeDocument/2006/relationships" id="258" r:id="Rff389b265de44dd5"/>
    <p:sldId xmlns:r="http://schemas.openxmlformats.org/officeDocument/2006/relationships" id="259" r:id="R4ca48de8f74c46ef"/>
    <p:sldId xmlns:r="http://schemas.openxmlformats.org/officeDocument/2006/relationships" id="260" r:id="Rd747134e430148db"/>
    <p:sldId xmlns:r="http://schemas.openxmlformats.org/officeDocument/2006/relationships" id="261" r:id="R19121281dc6e4d8a"/>
    <p:sldId xmlns:r="http://schemas.openxmlformats.org/officeDocument/2006/relationships" id="262" r:id="R391706325afa4704"/>
    <p:sldId xmlns:r="http://schemas.openxmlformats.org/officeDocument/2006/relationships" id="263" r:id="R93f599b594c54e00"/>
    <p:sldId xmlns:r="http://schemas.openxmlformats.org/officeDocument/2006/relationships" id="264" r:id="R11aa4d5be22c4fc9"/>
    <p:sldId xmlns:r="http://schemas.openxmlformats.org/officeDocument/2006/relationships" id="265" r:id="Rfbbfbb05e6cd40f4"/>
    <p:sldId xmlns:r="http://schemas.openxmlformats.org/officeDocument/2006/relationships" id="266" r:id="R25092cbbd9954466"/>
    <p:sldId xmlns:r="http://schemas.openxmlformats.org/officeDocument/2006/relationships" id="267" r:id="R1117d44f2fe44300"/>
    <p:sldId xmlns:r="http://schemas.openxmlformats.org/officeDocument/2006/relationships" id="268" r:id="R03f9e520fb014e38"/>
    <p:sldId xmlns:r="http://schemas.openxmlformats.org/officeDocument/2006/relationships" id="269" r:id="R8cf82778ea924258"/>
    <p:sldId xmlns:r="http://schemas.openxmlformats.org/officeDocument/2006/relationships" id="270" r:id="R64e82485af6a48e1"/>
    <p:sldId xmlns:r="http://schemas.openxmlformats.org/officeDocument/2006/relationships" id="271" r:id="Re917390bac6c42b9"/>
    <p:sldId xmlns:r="http://schemas.openxmlformats.org/officeDocument/2006/relationships" id="272" r:id="R27baa2ebaa914d52"/>
    <p:sldId xmlns:r="http://schemas.openxmlformats.org/officeDocument/2006/relationships" id="273" r:id="R449caaca81f342ae"/>
    <p:sldId xmlns:r="http://schemas.openxmlformats.org/officeDocument/2006/relationships" id="274" r:id="R6d334f36142440c5"/>
    <p:sldId xmlns:r="http://schemas.openxmlformats.org/officeDocument/2006/relationships" id="275" r:id="R0ed2ce9395934657"/>
    <p:sldId xmlns:r="http://schemas.openxmlformats.org/officeDocument/2006/relationships" id="276" r:id="R45aea76444cc4be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a10850a91a4c63" /><Relationship Type="http://schemas.openxmlformats.org/officeDocument/2006/relationships/slideMaster" Target="/ppt/slideMasters/slideMaster1.xml" Id="R3729c07ec99b4da3" /><Relationship Type="http://schemas.openxmlformats.org/officeDocument/2006/relationships/notesMaster" Target="/ppt/notesMasters/notesMaster1.xml" Id="R0903dd1801954aa5" /><Relationship Type="http://schemas.openxmlformats.org/officeDocument/2006/relationships/presProps" Target="/ppt/presProps.xml" Id="R881d3dd942a847b2" /><Relationship Type="http://schemas.openxmlformats.org/officeDocument/2006/relationships/viewProps" Target="/ppt/viewProps.xml" Id="R59ed07936ba04c3c" /><Relationship Type="http://schemas.openxmlformats.org/officeDocument/2006/relationships/tableStyles" Target="/ppt/tableStyles.xml" Id="R65da1c010239466d" /><Relationship Type="http://schemas.openxmlformats.org/officeDocument/2006/relationships/slide" Target="/ppt/slides/slide1.xml" Id="R21d0113f55e34a9b" /><Relationship Type="http://schemas.openxmlformats.org/officeDocument/2006/relationships/slide" Target="/ppt/slides/slide2.xml" Id="R265fcd1cd7cf4fef" /><Relationship Type="http://schemas.openxmlformats.org/officeDocument/2006/relationships/slide" Target="/ppt/slides/slide3.xml" Id="Rff389b265de44dd5" /><Relationship Type="http://schemas.openxmlformats.org/officeDocument/2006/relationships/slide" Target="/ppt/slides/slide4.xml" Id="R4ca48de8f74c46ef" /><Relationship Type="http://schemas.openxmlformats.org/officeDocument/2006/relationships/slide" Target="/ppt/slides/slide5.xml" Id="Rd747134e430148db" /><Relationship Type="http://schemas.openxmlformats.org/officeDocument/2006/relationships/slide" Target="/ppt/slides/slide6.xml" Id="R19121281dc6e4d8a" /><Relationship Type="http://schemas.openxmlformats.org/officeDocument/2006/relationships/slide" Target="/ppt/slides/slide7.xml" Id="R391706325afa4704" /><Relationship Type="http://schemas.openxmlformats.org/officeDocument/2006/relationships/slide" Target="/ppt/slides/slide8.xml" Id="R93f599b594c54e00" /><Relationship Type="http://schemas.openxmlformats.org/officeDocument/2006/relationships/slide" Target="/ppt/slides/slide9.xml" Id="R11aa4d5be22c4fc9" /><Relationship Type="http://schemas.openxmlformats.org/officeDocument/2006/relationships/slide" Target="/ppt/slides/slide10.xml" Id="Rfbbfbb05e6cd40f4" /><Relationship Type="http://schemas.openxmlformats.org/officeDocument/2006/relationships/slide" Target="/ppt/slides/slide11.xml" Id="R25092cbbd9954466" /><Relationship Type="http://schemas.openxmlformats.org/officeDocument/2006/relationships/slide" Target="/ppt/slides/slide12.xml" Id="R1117d44f2fe44300" /><Relationship Type="http://schemas.openxmlformats.org/officeDocument/2006/relationships/slide" Target="/ppt/slides/slide13.xml" Id="R03f9e520fb014e38" /><Relationship Type="http://schemas.openxmlformats.org/officeDocument/2006/relationships/slide" Target="/ppt/slides/slide14.xml" Id="R8cf82778ea924258" /><Relationship Type="http://schemas.openxmlformats.org/officeDocument/2006/relationships/slide" Target="/ppt/slides/slide15.xml" Id="R64e82485af6a48e1" /><Relationship Type="http://schemas.openxmlformats.org/officeDocument/2006/relationships/slide" Target="/ppt/slides/slide16.xml" Id="Re917390bac6c42b9" /><Relationship Type="http://schemas.openxmlformats.org/officeDocument/2006/relationships/slide" Target="/ppt/slides/slide17.xml" Id="R27baa2ebaa914d52" /><Relationship Type="http://schemas.openxmlformats.org/officeDocument/2006/relationships/slide" Target="/ppt/slides/slide18.xml" Id="R449caaca81f342ae" /><Relationship Type="http://schemas.openxmlformats.org/officeDocument/2006/relationships/slide" Target="/ppt/slides/slide19.xml" Id="R6d334f36142440c5" /><Relationship Type="http://schemas.openxmlformats.org/officeDocument/2006/relationships/slide" Target="/ppt/slides/slide20.xml" Id="R0ed2ce9395934657" /><Relationship Type="http://schemas.openxmlformats.org/officeDocument/2006/relationships/slide" Target="/ppt/slides/slide21.xml" Id="R45aea76444cc4b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212523487e4b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a213982f4747f3" /><Relationship Type="http://schemas.openxmlformats.org/officeDocument/2006/relationships/notesMaster" Target="/ppt/notesMasters/notesMaster1.xml" Id="Raa623202694441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8dd1a3a2f4440e" /><Relationship Type="http://schemas.openxmlformats.org/officeDocument/2006/relationships/notesMaster" Target="/ppt/notesMasters/notesMaster1.xml" Id="R4654bd78666f4e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81607ebab649ec" /><Relationship Type="http://schemas.openxmlformats.org/officeDocument/2006/relationships/notesMaster" Target="/ppt/notesMasters/notesMaster1.xml" Id="R9ad8ae1878064e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df8fa1426d471a" /><Relationship Type="http://schemas.openxmlformats.org/officeDocument/2006/relationships/notesMaster" Target="/ppt/notesMasters/notesMaster1.xml" Id="Re9004992a7444f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c8833c59734796" /><Relationship Type="http://schemas.openxmlformats.org/officeDocument/2006/relationships/notesMaster" Target="/ppt/notesMasters/notesMaster1.xml" Id="R6fd04d2b73f64b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1fffb6c23f48c9" /><Relationship Type="http://schemas.openxmlformats.org/officeDocument/2006/relationships/notesMaster" Target="/ppt/notesMasters/notesMaster1.xml" Id="R6cb6e0ed5f2b45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e96cca49314785" /><Relationship Type="http://schemas.openxmlformats.org/officeDocument/2006/relationships/notesMaster" Target="/ppt/notesMasters/notesMaster1.xml" Id="R296754e2c4a04a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8f0c50e6e644d5" /><Relationship Type="http://schemas.openxmlformats.org/officeDocument/2006/relationships/notesMaster" Target="/ppt/notesMasters/notesMaster1.xml" Id="R8b13399da18543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df12a7f0db4539" /><Relationship Type="http://schemas.openxmlformats.org/officeDocument/2006/relationships/notesMaster" Target="/ppt/notesMasters/notesMaster1.xml" Id="Rf4cc946ea6cc45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f03bf5a8bf4cb2" /><Relationship Type="http://schemas.openxmlformats.org/officeDocument/2006/relationships/notesMaster" Target="/ppt/notesMasters/notesMaster1.xml" Id="R2a8d2bddd98243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ac68425a2342d5" /><Relationship Type="http://schemas.openxmlformats.org/officeDocument/2006/relationships/notesMaster" Target="/ppt/notesMasters/notesMaster1.xml" Id="Re578a3509ad94e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796f890a8647ff" /><Relationship Type="http://schemas.openxmlformats.org/officeDocument/2006/relationships/notesMaster" Target="/ppt/notesMasters/notesMaster1.xml" Id="Re80aa739258945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f71dce275974891" /><Relationship Type="http://schemas.openxmlformats.org/officeDocument/2006/relationships/notesMaster" Target="/ppt/notesMasters/notesMaster1.xml" Id="R515688885ed74c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76e273771ff4e97" /><Relationship Type="http://schemas.openxmlformats.org/officeDocument/2006/relationships/notesMaster" Target="/ppt/notesMasters/notesMaster1.xml" Id="R36c44435c1644a2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2cad35f82d456e" /><Relationship Type="http://schemas.openxmlformats.org/officeDocument/2006/relationships/notesMaster" Target="/ppt/notesMasters/notesMaster1.xml" Id="R0c5aa3007d6543c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6cfae062aed4aae" /><Relationship Type="http://schemas.openxmlformats.org/officeDocument/2006/relationships/notesMaster" Target="/ppt/notesMasters/notesMaster1.xml" Id="R459edf7b43674aa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f9bb3f2366b406b" /><Relationship Type="http://schemas.openxmlformats.org/officeDocument/2006/relationships/notesMaster" Target="/ppt/notesMasters/notesMaster1.xml" Id="Rbad2bbe08521408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5390e236095417f" /><Relationship Type="http://schemas.openxmlformats.org/officeDocument/2006/relationships/notesMaster" Target="/ppt/notesMasters/notesMaster1.xml" Id="Rb18b4e0b573f47d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33457ed0d544fe3" /><Relationship Type="http://schemas.openxmlformats.org/officeDocument/2006/relationships/notesMaster" Target="/ppt/notesMasters/notesMaster1.xml" Id="R7df5246b884540d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1b686d8352640ea" /><Relationship Type="http://schemas.openxmlformats.org/officeDocument/2006/relationships/notesMaster" Target="/ppt/notesMasters/notesMaster1.xml" Id="R3eaa84443d81464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61b49c0014a4f8a" /><Relationship Type="http://schemas.openxmlformats.org/officeDocument/2006/relationships/notesMaster" Target="/ppt/notesMasters/notesMaster1.xml" Id="R6291eed857974a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58b94ce0f448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e023c48f4f4e63" /><Relationship Type="http://schemas.openxmlformats.org/officeDocument/2006/relationships/slideLayout" Target="/ppt/slideLayouts/slideLayout1.xml" Id="R571f4e93296140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1f4e93296140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bd1b1a44a4126" /><Relationship Type="http://schemas.openxmlformats.org/officeDocument/2006/relationships/image" Target="/ppt/media/image.png" Id="R709a32e4474249fc" /><Relationship Type="http://schemas.openxmlformats.org/officeDocument/2006/relationships/notesSlide" Target="/ppt/notesSlides/notesSlide1.xml" Id="R171a25c8df774f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aeb82e3a647e2" /><Relationship Type="http://schemas.openxmlformats.org/officeDocument/2006/relationships/notesSlide" Target="/ppt/notesSlides/notesSlide2.xml" Id="Rc9bd63f7ece14d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5472c181449e1" /><Relationship Type="http://schemas.openxmlformats.org/officeDocument/2006/relationships/notesSlide" Target="/ppt/notesSlides/notesSlide3.xml" Id="R7d8e13ad03da48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90ab37ef84ea0" /><Relationship Type="http://schemas.openxmlformats.org/officeDocument/2006/relationships/notesSlide" Target="/ppt/notesSlides/notesSlide4.xml" Id="Ra98533483e9c40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130d4294e4ac8" /><Relationship Type="http://schemas.openxmlformats.org/officeDocument/2006/relationships/image" Target="/ppt/media/image.png" Id="R52a2879f48cd450a" /><Relationship Type="http://schemas.openxmlformats.org/officeDocument/2006/relationships/notesSlide" Target="/ppt/notesSlides/notesSlide5.xml" Id="Rde88e476f4054e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d9a6e740e42d1" /><Relationship Type="http://schemas.openxmlformats.org/officeDocument/2006/relationships/image" Target="/ppt/media/image2.png" Id="R65e423c9722d4cdf" /><Relationship Type="http://schemas.openxmlformats.org/officeDocument/2006/relationships/image" Target="/ppt/media/image3.png" Id="R9af8281370c14f54" /><Relationship Type="http://schemas.openxmlformats.org/officeDocument/2006/relationships/notesSlide" Target="/ppt/notesSlides/notesSlide6.xml" Id="Rd581eaeab46b44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d9ceee66b4c27" /><Relationship Type="http://schemas.openxmlformats.org/officeDocument/2006/relationships/image" Target="/ppt/media/image2.png" Id="Rfd54ee6654924025" /><Relationship Type="http://schemas.openxmlformats.org/officeDocument/2006/relationships/image" Target="/ppt/media/image3.png" Id="Re196bc6d589d4d71" /><Relationship Type="http://schemas.openxmlformats.org/officeDocument/2006/relationships/notesSlide" Target="/ppt/notesSlides/notesSlide7.xml" Id="R4a351a29849344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c4faf13ff42b6" /><Relationship Type="http://schemas.openxmlformats.org/officeDocument/2006/relationships/notesSlide" Target="/ppt/notesSlides/notesSlide8.xml" Id="Ra9378ee848634c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a21b658e54a90" /><Relationship Type="http://schemas.openxmlformats.org/officeDocument/2006/relationships/notesSlide" Target="/ppt/notesSlides/notesSlide9.xml" Id="R99e24ce61b6d44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50c1f7c9d4097" /><Relationship Type="http://schemas.openxmlformats.org/officeDocument/2006/relationships/notesSlide" Target="/ppt/notesSlides/notesSlide10.xml" Id="R4b3e5e5936034a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bb83addda4774" /><Relationship Type="http://schemas.openxmlformats.org/officeDocument/2006/relationships/notesSlide" Target="/ppt/notesSlides/notesSlide11.xml" Id="R292bff793f6c42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458ea3bf842d7" /><Relationship Type="http://schemas.openxmlformats.org/officeDocument/2006/relationships/notesSlide" Target="/ppt/notesSlides/notesSlide12.xml" Id="R8fa9dee95fcd41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c06ec354542e9" /><Relationship Type="http://schemas.openxmlformats.org/officeDocument/2006/relationships/notesSlide" Target="/ppt/notesSlides/notesSlide13.xml" Id="R17b5946bf66a4f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42d25a8304e65" /><Relationship Type="http://schemas.openxmlformats.org/officeDocument/2006/relationships/notesSlide" Target="/ppt/notesSlides/notesSlide14.xml" Id="Re3de323589b14f6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fbb3c687042d6" /><Relationship Type="http://schemas.openxmlformats.org/officeDocument/2006/relationships/notesSlide" Target="/ppt/notesSlides/notesSlide15.xml" Id="Rc62ac4b1211a406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c7c54077a49be" /><Relationship Type="http://schemas.openxmlformats.org/officeDocument/2006/relationships/image" Target="/ppt/media/image2.png" Id="Re17daaccb2514375" /><Relationship Type="http://schemas.openxmlformats.org/officeDocument/2006/relationships/image" Target="/ppt/media/image3.png" Id="Rd75736e867334d9f" /><Relationship Type="http://schemas.openxmlformats.org/officeDocument/2006/relationships/image" Target="/ppt/media/image4.png" Id="Re5aa737186b840ea" /><Relationship Type="http://schemas.openxmlformats.org/officeDocument/2006/relationships/image" Target="/ppt/media/image5.png" Id="R11231fd3f4ce4a04" /><Relationship Type="http://schemas.openxmlformats.org/officeDocument/2006/relationships/notesSlide" Target="/ppt/notesSlides/notesSlide16.xml" Id="R1350fd072e1a444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e621ddb42458d" /><Relationship Type="http://schemas.openxmlformats.org/officeDocument/2006/relationships/image" Target="/ppt/media/image2.png" Id="R8239e1dd077e475a" /><Relationship Type="http://schemas.openxmlformats.org/officeDocument/2006/relationships/image" Target="/ppt/media/image3.png" Id="R1c6b8c453391411b" /><Relationship Type="http://schemas.openxmlformats.org/officeDocument/2006/relationships/notesSlide" Target="/ppt/notesSlides/notesSlide17.xml" Id="R81934788a16d4d3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c48f0a8f743aa" /><Relationship Type="http://schemas.openxmlformats.org/officeDocument/2006/relationships/notesSlide" Target="/ppt/notesSlides/notesSlide18.xml" Id="R42e5d92e4ec14a7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e637f807342e4" /><Relationship Type="http://schemas.openxmlformats.org/officeDocument/2006/relationships/notesSlide" Target="/ppt/notesSlides/notesSlide19.xml" Id="R3f8d36c87f6c47b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57035d23b4238" /><Relationship Type="http://schemas.openxmlformats.org/officeDocument/2006/relationships/notesSlide" Target="/ppt/notesSlides/notesSlide20.xml" Id="Rdf7fbcdb1e4e43e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aa897f4e34ca8" /><Relationship Type="http://schemas.openxmlformats.org/officeDocument/2006/relationships/notesSlide" Target="/ppt/notesSlides/notesSlide21.xml" Id="R04092d30cf004a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-1">
            <a:extLst xmlns:a="http://schemas.openxmlformats.org/drawingml/2006/main">
              <a:ext uri="{FF2B5EF4-FFF2-40B4-BE49-F238E27FC236}">
                <a16:creationId xmlns:a16="http://schemas.microsoft.com/office/drawing/2014/main" id="{ADFEBF21-DDC9-4241-BEF2-845BC78C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1950"/>
            <a:ext cx="5638800" cy="6134100"/>
          </a:xfrm>
          <a:prstGeom xmlns:a="http://schemas.openxmlformats.org/drawingml/2006/main" prst="roundRect">
            <a:avLst>
              <a:gd name="adj" fmla="val 135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C97E1B0-D186-4146-A61B-25C27656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FANG FEISHU · PROJECT REPORT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E4ACB942-33E8-4990-99B2-645ABA4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52197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仿飞书协同
办公平台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7FCEA5C-15A0-454A-B230-4E01934B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495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多端一体化协作工作台</a:t>
            </a:r>
          </a:p>
        </p:txBody>
      </p:sp>
      <p:cxnSp>
        <p:nvCxnSpPr>
          <p:cNvPr id="32" name="rule-5"/>
          <p:cNvCxnSpPr/>
          <p:nvPr/>
        </p:nvCxnSpPr>
        <p:spPr>
          <a:xfrm xmlns:a="http://schemas.openxmlformats.org/drawingml/2006/main">
            <a:off x="400050" y="447675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370FF"/>
            </a:solidFill>
            <a:prstDash val="solid"/>
          </a:ln>
        </p:spPr>
      </p:cxn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3A675216-A96E-4F23-96F0-C7022A13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第7组项目汇报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333BF560-0F69-4403-8218-54BFFF27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Web · Desktop · Android · WeChat Mini Program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F1CCBA2D-7004-498D-BA01-7FBB0D6E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2026.07</a:t>
            </a:r>
          </a:p>
        </p:txBody>
      </p:sp>
      <p:pic>
        <p:nvPicPr>
          <p:cNvPr id="36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a32e4474249fc"/>
          <a:srcRect xmlns:a="http://schemas.openxmlformats.org/drawingml/2006/main" l="21388" t="0" r="21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495300"/>
            <a:ext cx="5372100" cy="5867400"/>
          </a:xfrm>
          <a:prstGeom xmlns:a="http://schemas.openxmlformats.org/drawingml/2006/main" prst="roundRect">
            <a:avLst>
              <a:gd name="adj" fmla="val 1064"/>
            </a:avLst>
          </a:prstGeom>
        </p:spPr>
      </p:pic>
    </p:spTree>
    <p:extLst>
      <p:ext uri="{BB962C8B-B14F-4D97-AF65-F5344CB8AC3E}">
        <p14:creationId xmlns:p14="http://schemas.microsoft.com/office/powerpoint/2010/main" val="9385213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9">
            <a:extLst xmlns:a="http://schemas.openxmlformats.org/drawingml/2006/main">
              <a:ext uri="{FF2B5EF4-FFF2-40B4-BE49-F238E27FC236}">
                <a16:creationId xmlns:a16="http://schemas.microsoft.com/office/drawing/2014/main" id="{20059F21-C1A0-4D42-8441-02666085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10 天 MVP 最终形成多端交付闭环</a:t>
            </a:r>
          </a:p>
        </p:txBody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5A46569D-8A71-450C-B450-FC2308C1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1">
            <a:extLst xmlns:a="http://schemas.openxmlformats.org/drawingml/2006/main">
              <a:ext uri="{FF2B5EF4-FFF2-40B4-BE49-F238E27FC236}">
                <a16:creationId xmlns:a16="http://schemas.microsoft.com/office/drawing/2014/main" id="{64137E6E-0B6C-418A-8B48-C6BB7B60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C73DA58B-79F6-41CB-BEB0-98598803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最初目标</a:t>
            </a:r>
          </a:p>
        </p:txBody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490FBA61-5051-4D99-ACE7-E42D1CA5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495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做出可演示的仿飞书核心流程</a:t>
            </a:r>
          </a:p>
        </p:txBody>
      </p:sp>
      <p:sp>
        <p:nvSpPr>
          <p:cNvPr id="6" name="text-14">
            <a:extLst xmlns:a="http://schemas.openxmlformats.org/drawingml/2006/main">
              <a:ext uri="{FF2B5EF4-FFF2-40B4-BE49-F238E27FC236}">
                <a16:creationId xmlns:a16="http://schemas.microsoft.com/office/drawing/2014/main" id="{FB5B0AE9-24E8-4CBA-B1E7-0F2E1325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573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最终结果</a:t>
            </a:r>
          </a:p>
        </p:txBody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8C85E213-A8E6-4519-A868-C0E9CE6B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57350"/>
            <a:ext cx="495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形成共享后端的四端协作系统</a:t>
            </a:r>
          </a:p>
        </p:txBody>
      </p:sp>
      <p:cxnSp>
        <p:nvCxnSpPr>
          <p:cNvPr id="92" name="rule-16"/>
          <p:cNvCxnSpPr/>
          <p:nvPr/>
        </p:nvCxnSpPr>
        <p:spPr>
          <a:xfrm xmlns:a="http://schemas.openxmlformats.org/drawingml/2006/main">
            <a:off x="400050" y="24765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8E61651B-ADDC-4D66-98AC-FE18DD80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WEB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781115DA-3121-41D6-A1D2-D477C50F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238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24</a:t>
            </a:r>
          </a:p>
        </p:txBody>
      </p:sp>
      <p:sp>
        <p:nvSpPr>
          <p:cNvPr id="11" name="text-19">
            <a:extLst xmlns:a="http://schemas.openxmlformats.org/drawingml/2006/main">
              <a:ext uri="{FF2B5EF4-FFF2-40B4-BE49-F238E27FC236}">
                <a16:creationId xmlns:a16="http://schemas.microsoft.com/office/drawing/2014/main" id="{8C166A0C-83F9-46AF-8647-CD9463D4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2381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路由声明
核心业务主端</a:t>
            </a:r>
          </a:p>
        </p:txBody>
      </p:sp>
      <p:cxnSp>
        <p:nvCxnSpPr>
          <p:cNvPr id="96" name="rule-20"/>
          <p:cNvCxnSpPr/>
          <p:nvPr/>
        </p:nvCxnSpPr>
        <p:spPr>
          <a:xfrm xmlns:a="http://schemas.openxmlformats.org/drawingml/2006/main">
            <a:off x="3048000" y="289560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DB046FBC-C0CD-481E-892F-83A3CE79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527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DESKTOP</a:t>
            </a:r>
          </a:p>
        </p:txBody>
      </p:sp>
      <p:sp>
        <p:nvSpPr>
          <p:cNvPr id="14" name="text-22">
            <a:extLst xmlns:a="http://schemas.openxmlformats.org/drawingml/2006/main">
              <a:ext uri="{FF2B5EF4-FFF2-40B4-BE49-F238E27FC236}">
                <a16:creationId xmlns:a16="http://schemas.microsoft.com/office/drawing/2014/main" id="{77B8D58C-013C-4261-8A27-F34DF304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33750"/>
            <a:ext cx="238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0.4.0</a:t>
            </a:r>
          </a:p>
        </p:txBody>
      </p:sp>
      <p:sp>
        <p:nvSpPr>
          <p:cNvPr id="15" name="text-23">
            <a:extLst xmlns:a="http://schemas.openxmlformats.org/drawingml/2006/main">
              <a:ext uri="{FF2B5EF4-FFF2-40B4-BE49-F238E27FC236}">
                <a16:creationId xmlns:a16="http://schemas.microsoft.com/office/drawing/2014/main" id="{7F6F4F07-3E62-499E-AA50-AA30098D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71950"/>
            <a:ext cx="2381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Electron 复用 Web
可打包桌面应用</a:t>
            </a:r>
          </a:p>
        </p:txBody>
      </p:sp>
      <p:cxnSp>
        <p:nvCxnSpPr>
          <p:cNvPr id="100" name="rule-24"/>
          <p:cNvCxnSpPr/>
          <p:nvPr/>
        </p:nvCxnSpPr>
        <p:spPr>
          <a:xfrm xmlns:a="http://schemas.openxmlformats.org/drawingml/2006/main">
            <a:off x="5905500" y="289560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7" name="text-25">
            <a:extLst xmlns:a="http://schemas.openxmlformats.org/drawingml/2006/main">
              <a:ext uri="{FF2B5EF4-FFF2-40B4-BE49-F238E27FC236}">
                <a16:creationId xmlns:a16="http://schemas.microsoft.com/office/drawing/2014/main" id="{44707414-3E85-4186-8CCE-4386D6A8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527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ANDROID</a:t>
            </a:r>
          </a:p>
        </p:txBody>
      </p:sp>
      <p:sp>
        <p:nvSpPr>
          <p:cNvPr id="18" name="text-26">
            <a:extLst xmlns:a="http://schemas.openxmlformats.org/drawingml/2006/main">
              <a:ext uri="{FF2B5EF4-FFF2-40B4-BE49-F238E27FC236}">
                <a16:creationId xmlns:a16="http://schemas.microsoft.com/office/drawing/2014/main" id="{1B8BB2DA-0140-410C-ADE6-7DC5832A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238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NATIVE</a:t>
            </a:r>
          </a:p>
        </p:txBody>
      </p:sp>
      <p:sp>
        <p:nvSpPr>
          <p:cNvPr id="19" name="text-27">
            <a:extLst xmlns:a="http://schemas.openxmlformats.org/drawingml/2006/main">
              <a:ext uri="{FF2B5EF4-FFF2-40B4-BE49-F238E27FC236}">
                <a16:creationId xmlns:a16="http://schemas.microsoft.com/office/drawing/2014/main" id="{2C527D0C-012A-458E-9EA3-B9573BA5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71950"/>
            <a:ext cx="2381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Kotlin + Compose
Debug APK 构建通过</a:t>
            </a:r>
          </a:p>
        </p:txBody>
      </p:sp>
      <p:cxnSp>
        <p:nvCxnSpPr>
          <p:cNvPr id="104" name="rule-28"/>
          <p:cNvCxnSpPr/>
          <p:nvPr/>
        </p:nvCxnSpPr>
        <p:spPr>
          <a:xfrm xmlns:a="http://schemas.openxmlformats.org/drawingml/2006/main">
            <a:off x="8763000" y="289560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21" name="text-29">
            <a:extLst xmlns:a="http://schemas.openxmlformats.org/drawingml/2006/main">
              <a:ext uri="{FF2B5EF4-FFF2-40B4-BE49-F238E27FC236}">
                <a16:creationId xmlns:a16="http://schemas.microsoft.com/office/drawing/2014/main" id="{C5CF89B5-8A58-430E-9D7D-977F60FA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527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MINI PROGRAM</a:t>
            </a:r>
          </a:p>
        </p:txBody>
      </p:sp>
      <p:sp>
        <p:nvSpPr>
          <p:cNvPr id="22" name="text-30">
            <a:extLst xmlns:a="http://schemas.openxmlformats.org/drawingml/2006/main">
              <a:ext uri="{FF2B5EF4-FFF2-40B4-BE49-F238E27FC236}">
                <a16:creationId xmlns:a16="http://schemas.microsoft.com/office/drawing/2014/main" id="{4C723C3C-6D20-4576-BFFA-742F06EE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33750"/>
            <a:ext cx="2571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PASS</a:t>
            </a:r>
          </a:p>
        </p:txBody>
      </p:sp>
      <p:sp>
        <p:nvSpPr>
          <p:cNvPr id="23" name="text-31">
            <a:extLst xmlns:a="http://schemas.openxmlformats.org/drawingml/2006/main">
              <a:ext uri="{FF2B5EF4-FFF2-40B4-BE49-F238E27FC236}">
                <a16:creationId xmlns:a16="http://schemas.microsoft.com/office/drawing/2014/main" id="{E4EF640C-66F3-4E37-A884-5F76D58E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71950"/>
            <a:ext cx="2571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微信小程序
生产构建通过</a:t>
            </a:r>
          </a:p>
        </p:txBody>
      </p:sp>
      <p:sp>
        <p:nvSpPr>
          <p:cNvPr id="24" name="text-32">
            <a:extLst xmlns:a="http://schemas.openxmlformats.org/drawingml/2006/main">
              <a:ext uri="{FF2B5EF4-FFF2-40B4-BE49-F238E27FC236}">
                <a16:creationId xmlns:a16="http://schemas.microsoft.com/office/drawing/2014/main" id="{391032CC-592C-4613-A8DD-C118E54B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076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结论：交付重点已从“页面数量”转向“多端共用数据与工程闭环”。</a:t>
            </a:r>
          </a:p>
        </p:txBody>
      </p:sp>
    </p:spTree>
    <p:extLst>
      <p:ext uri="{BB962C8B-B14F-4D97-AF65-F5344CB8AC3E}">
        <p14:creationId xmlns:p14="http://schemas.microsoft.com/office/powerpoint/2010/main" val="1766307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33">
            <a:extLst xmlns:a="http://schemas.openxmlformats.org/drawingml/2006/main">
              <a:ext uri="{FF2B5EF4-FFF2-40B4-BE49-F238E27FC236}">
                <a16:creationId xmlns:a16="http://schemas.microsoft.com/office/drawing/2014/main" id="{C06F610A-B17E-47F0-B47D-50FE948C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一个账号、一套 API 连接四类客户端</a:t>
            </a:r>
          </a:p>
        </p:txBody>
      </p:sp>
      <p:sp>
        <p:nvSpPr>
          <p:cNvPr id="2" name="text-34">
            <a:extLst xmlns:a="http://schemas.openxmlformats.org/drawingml/2006/main">
              <a:ext uri="{FF2B5EF4-FFF2-40B4-BE49-F238E27FC236}">
                <a16:creationId xmlns:a16="http://schemas.microsoft.com/office/drawing/2014/main" id="{F9088A57-2CF4-47F1-A989-8B6BBEAE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35">
            <a:extLst xmlns:a="http://schemas.openxmlformats.org/drawingml/2006/main">
              <a:ext uri="{FF2B5EF4-FFF2-40B4-BE49-F238E27FC236}">
                <a16:creationId xmlns:a16="http://schemas.microsoft.com/office/drawing/2014/main" id="{0B7CBEA3-824C-498C-A913-56888890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cxnSp>
        <p:nvCxnSpPr>
          <p:cNvPr id="97" name="rule-36"/>
          <p:cNvCxnSpPr/>
          <p:nvPr/>
        </p:nvCxnSpPr>
        <p:spPr>
          <a:xfrm xmlns:a="http://schemas.openxmlformats.org/drawingml/2006/main">
            <a:off x="2381250" y="1943100"/>
            <a:ext cx="2781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98" name="rule-37"/>
          <p:cNvCxnSpPr/>
          <p:nvPr/>
        </p:nvCxnSpPr>
        <p:spPr>
          <a:xfrm xmlns:a="http://schemas.openxmlformats.org/drawingml/2006/main">
            <a:off x="2381250" y="2800350"/>
            <a:ext cx="2781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99" name="rule-38"/>
          <p:cNvCxnSpPr/>
          <p:nvPr/>
        </p:nvCxnSpPr>
        <p:spPr>
          <a:xfrm xmlns:a="http://schemas.openxmlformats.org/drawingml/2006/main">
            <a:off x="2381250" y="3657600"/>
            <a:ext cx="2781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100" name="rule-39"/>
          <p:cNvCxnSpPr/>
          <p:nvPr/>
        </p:nvCxnSpPr>
        <p:spPr>
          <a:xfrm xmlns:a="http://schemas.openxmlformats.org/drawingml/2006/main">
            <a:off x="2381250" y="4514850"/>
            <a:ext cx="2781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101" name="rule-40"/>
          <p:cNvCxnSpPr/>
          <p:nvPr/>
        </p:nvCxnSpPr>
        <p:spPr>
          <a:xfrm xmlns:a="http://schemas.openxmlformats.org/drawingml/2006/main">
            <a:off x="7219950" y="280035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102" name="rule-41"/>
          <p:cNvCxnSpPr/>
          <p:nvPr/>
        </p:nvCxnSpPr>
        <p:spPr>
          <a:xfrm xmlns:a="http://schemas.openxmlformats.org/drawingml/2006/main">
            <a:off x="7219950" y="365760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103" name="rule-42"/>
          <p:cNvCxnSpPr/>
          <p:nvPr/>
        </p:nvCxnSpPr>
        <p:spPr>
          <a:xfrm xmlns:a="http://schemas.openxmlformats.org/drawingml/2006/main">
            <a:off x="7219950" y="451485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sp>
        <p:nvSpPr>
          <p:cNvPr id="11" name="rect-43">
            <a:extLst xmlns:a="http://schemas.openxmlformats.org/drawingml/2006/main">
              <a:ext uri="{FF2B5EF4-FFF2-40B4-BE49-F238E27FC236}">
                <a16:creationId xmlns:a16="http://schemas.microsoft.com/office/drawing/2014/main" id="{85E0E9DB-5F0E-430E-A385-C1B355D8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98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2" name="rect-44">
            <a:extLst xmlns:a="http://schemas.openxmlformats.org/drawingml/2006/main">
              <a:ext uri="{FF2B5EF4-FFF2-40B4-BE49-F238E27FC236}">
                <a16:creationId xmlns:a16="http://schemas.microsoft.com/office/drawing/2014/main" id="{18AF81BA-3C20-4340-A90B-260EB282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198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3" name="rect-45">
            <a:extLst xmlns:a="http://schemas.openxmlformats.org/drawingml/2006/main">
              <a:ext uri="{FF2B5EF4-FFF2-40B4-BE49-F238E27FC236}">
                <a16:creationId xmlns:a16="http://schemas.microsoft.com/office/drawing/2014/main" id="{24BCCF99-951D-40BF-ACA5-169777B1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198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4" name="rect-46">
            <a:extLst xmlns:a="http://schemas.openxmlformats.org/drawingml/2006/main">
              <a:ext uri="{FF2B5EF4-FFF2-40B4-BE49-F238E27FC236}">
                <a16:creationId xmlns:a16="http://schemas.microsoft.com/office/drawing/2014/main" id="{55CEDBE1-2C4C-4E77-8059-F4139AF2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198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5" name="text-47">
            <a:extLst xmlns:a="http://schemas.openxmlformats.org/drawingml/2006/main">
              <a:ext uri="{FF2B5EF4-FFF2-40B4-BE49-F238E27FC236}">
                <a16:creationId xmlns:a16="http://schemas.microsoft.com/office/drawing/2014/main" id="{31080D66-5D88-49D1-A1E6-76A6DC6B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</a:t>
            </a:r>
          </a:p>
        </p:txBody>
      </p:sp>
      <p:sp>
        <p:nvSpPr>
          <p:cNvPr id="16" name="text-48">
            <a:extLst xmlns:a="http://schemas.openxmlformats.org/drawingml/2006/main">
              <a:ext uri="{FF2B5EF4-FFF2-40B4-BE49-F238E27FC236}">
                <a16:creationId xmlns:a16="http://schemas.microsoft.com/office/drawing/2014/main" id="{FE473579-AA44-4A72-9913-FFE7AAD0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2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Electron 桌面端</a:t>
            </a:r>
          </a:p>
        </p:txBody>
      </p:sp>
      <p:sp>
        <p:nvSpPr>
          <p:cNvPr id="17" name="text-49">
            <a:extLst xmlns:a="http://schemas.openxmlformats.org/drawingml/2006/main">
              <a:ext uri="{FF2B5EF4-FFF2-40B4-BE49-F238E27FC236}">
                <a16:creationId xmlns:a16="http://schemas.microsoft.com/office/drawing/2014/main" id="{0193B609-93FA-4892-9AAE-2DDF40BA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原生 Android</a:t>
            </a:r>
          </a:p>
        </p:txBody>
      </p:sp>
      <p:sp>
        <p:nvSpPr>
          <p:cNvPr id="18" name="text-50">
            <a:extLst xmlns:a="http://schemas.openxmlformats.org/drawingml/2006/main">
              <a:ext uri="{FF2B5EF4-FFF2-40B4-BE49-F238E27FC236}">
                <a16:creationId xmlns:a16="http://schemas.microsoft.com/office/drawing/2014/main" id="{CA607AA7-DE29-4D74-A666-26B305AA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微信小程序</a:t>
            </a:r>
          </a:p>
        </p:txBody>
      </p:sp>
      <p:sp>
        <p:nvSpPr>
          <p:cNvPr id="19" name="rect-51">
            <a:extLst xmlns:a="http://schemas.openxmlformats.org/drawingml/2006/main">
              <a:ext uri="{FF2B5EF4-FFF2-40B4-BE49-F238E27FC236}">
                <a16:creationId xmlns:a16="http://schemas.microsoft.com/office/drawing/2014/main" id="{50D2E89C-1075-48DE-BC7D-EA2EEF17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33600"/>
            <a:ext cx="20574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3370FF"/>
            </a:solidFill>
            <a:prstDash val="solid"/>
          </a:ln>
        </p:spPr>
      </p:sp>
      <p:sp>
        <p:nvSpPr>
          <p:cNvPr id="20" name="text-52">
            <a:extLst xmlns:a="http://schemas.openxmlformats.org/drawingml/2006/main">
              <a:ext uri="{FF2B5EF4-FFF2-40B4-BE49-F238E27FC236}">
                <a16:creationId xmlns:a16="http://schemas.microsoft.com/office/drawing/2014/main" id="{7D9B651C-9539-49CD-B2B8-FC8989B5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76500"/>
            <a:ext cx="1409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Nginx</a:t>
            </a:r>
          </a:p>
        </p:txBody>
      </p:sp>
      <p:cxnSp>
        <p:nvCxnSpPr>
          <p:cNvPr id="114" name="rule-53"/>
          <p:cNvCxnSpPr/>
          <p:nvPr/>
        </p:nvCxnSpPr>
        <p:spPr>
          <a:xfrm xmlns:a="http://schemas.openxmlformats.org/drawingml/2006/main">
            <a:off x="5505450" y="3009900"/>
            <a:ext cx="1371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sp>
        <p:nvSpPr>
          <p:cNvPr id="22" name="text-54">
            <a:extLst xmlns:a="http://schemas.openxmlformats.org/drawingml/2006/main">
              <a:ext uri="{FF2B5EF4-FFF2-40B4-BE49-F238E27FC236}">
                <a16:creationId xmlns:a16="http://schemas.microsoft.com/office/drawing/2014/main" id="{33AEFA92-7146-495A-89E9-8158DEAD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95650"/>
            <a:ext cx="1524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7816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ASP.NET Core
REST API</a:t>
            </a:r>
          </a:p>
        </p:txBody>
      </p:sp>
      <p:sp>
        <p:nvSpPr>
          <p:cNvPr id="23" name="text-55">
            <a:extLst xmlns:a="http://schemas.openxmlformats.org/drawingml/2006/main">
              <a:ext uri="{FF2B5EF4-FFF2-40B4-BE49-F238E27FC236}">
                <a16:creationId xmlns:a16="http://schemas.microsoft.com/office/drawing/2014/main" id="{B81EAE9B-B245-47D8-AC90-13C3444A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00550"/>
            <a:ext cx="1524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JWT · Swagger
SignalR Hub</a:t>
            </a:r>
          </a:p>
        </p:txBody>
      </p:sp>
      <p:sp>
        <p:nvSpPr>
          <p:cNvPr id="24" name="rect-56">
            <a:extLst xmlns:a="http://schemas.openxmlformats.org/drawingml/2006/main">
              <a:ext uri="{FF2B5EF4-FFF2-40B4-BE49-F238E27FC236}">
                <a16:creationId xmlns:a16="http://schemas.microsoft.com/office/drawing/2014/main" id="{B42D52A1-64AA-40A4-8828-CF4B6FE4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19350"/>
            <a:ext cx="2819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5" name="rect-57">
            <a:extLst xmlns:a="http://schemas.openxmlformats.org/drawingml/2006/main">
              <a:ext uri="{FF2B5EF4-FFF2-40B4-BE49-F238E27FC236}">
                <a16:creationId xmlns:a16="http://schemas.microsoft.com/office/drawing/2014/main" id="{D7C8F596-17E3-4B7D-B9C3-9CB451DF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76600"/>
            <a:ext cx="2819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6" name="rect-58">
            <a:extLst xmlns:a="http://schemas.openxmlformats.org/drawingml/2006/main">
              <a:ext uri="{FF2B5EF4-FFF2-40B4-BE49-F238E27FC236}">
                <a16:creationId xmlns:a16="http://schemas.microsoft.com/office/drawing/2014/main" id="{EA64EFE1-6B85-45F8-B400-76BED117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33850"/>
            <a:ext cx="2819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7" name="text-59">
            <a:extLst xmlns:a="http://schemas.openxmlformats.org/drawingml/2006/main">
              <a:ext uri="{FF2B5EF4-FFF2-40B4-BE49-F238E27FC236}">
                <a16:creationId xmlns:a16="http://schemas.microsoft.com/office/drawing/2014/main" id="{92B43B45-D1F0-46BF-AA0C-4508785F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9080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0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PostgreSQL · 业务数据</a:t>
            </a:r>
          </a:p>
        </p:txBody>
      </p:sp>
      <p:sp>
        <p:nvSpPr>
          <p:cNvPr id="28" name="text-60">
            <a:extLst xmlns:a="http://schemas.openxmlformats.org/drawingml/2006/main">
              <a:ext uri="{FF2B5EF4-FFF2-40B4-BE49-F238E27FC236}">
                <a16:creationId xmlns:a16="http://schemas.microsoft.com/office/drawing/2014/main" id="{D557BEC2-5DD8-424A-8CD3-4AACC373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4805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MinIO / Local · 文件</a:t>
            </a:r>
          </a:p>
        </p:txBody>
      </p:sp>
      <p:sp>
        <p:nvSpPr>
          <p:cNvPr id="29" name="text-61">
            <a:extLst xmlns:a="http://schemas.openxmlformats.org/drawingml/2006/main">
              <a:ext uri="{FF2B5EF4-FFF2-40B4-BE49-F238E27FC236}">
                <a16:creationId xmlns:a16="http://schemas.microsoft.com/office/drawing/2014/main" id="{9145AD62-EEDF-45A0-8C79-4EEBD0FD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0530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3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SignalR / Agora · 实时</a:t>
            </a:r>
          </a:p>
        </p:txBody>
      </p:sp>
      <p:sp>
        <p:nvSpPr>
          <p:cNvPr id="30" name="text-62">
            <a:extLst xmlns:a="http://schemas.openxmlformats.org/drawingml/2006/main">
              <a:ext uri="{FF2B5EF4-FFF2-40B4-BE49-F238E27FC236}">
                <a16:creationId xmlns:a16="http://schemas.microsoft.com/office/drawing/2014/main" id="{CABFA5B0-0ADB-49CC-AE02-67370CC0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04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client_type 区分终端会话；所有终端共享同一用户、组织与业务数据模型。</a:t>
            </a:r>
          </a:p>
        </p:txBody>
      </p:sp>
    </p:spTree>
    <p:extLst>
      <p:ext uri="{BB962C8B-B14F-4D97-AF65-F5344CB8AC3E}">
        <p14:creationId xmlns:p14="http://schemas.microsoft.com/office/powerpoint/2010/main" val="11577272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63">
            <a:extLst xmlns:a="http://schemas.openxmlformats.org/drawingml/2006/main">
              <a:ext uri="{FF2B5EF4-FFF2-40B4-BE49-F238E27FC236}">
                <a16:creationId xmlns:a16="http://schemas.microsoft.com/office/drawing/2014/main" id="{7FBEAE61-0AF7-4AF6-8B98-6DD2743D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四条主线覆盖完整协作场景</a:t>
            </a:r>
          </a:p>
        </p:txBody>
      </p:sp>
      <p:sp>
        <p:nvSpPr>
          <p:cNvPr id="2" name="text-64">
            <a:extLst xmlns:a="http://schemas.openxmlformats.org/drawingml/2006/main">
              <a:ext uri="{FF2B5EF4-FFF2-40B4-BE49-F238E27FC236}">
                <a16:creationId xmlns:a16="http://schemas.microsoft.com/office/drawing/2014/main" id="{340D08BE-B1F2-4F5E-A456-DEDE0C0B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65">
            <a:extLst xmlns:a="http://schemas.openxmlformats.org/drawingml/2006/main">
              <a:ext uri="{FF2B5EF4-FFF2-40B4-BE49-F238E27FC236}">
                <a16:creationId xmlns:a16="http://schemas.microsoft.com/office/drawing/2014/main" id="{B12BBDFE-FC56-4C15-9165-A6D4A2A8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cxnSp>
        <p:nvCxnSpPr>
          <p:cNvPr id="42" name="rule-66"/>
          <p:cNvCxnSpPr/>
          <p:nvPr/>
        </p:nvCxnSpPr>
        <p:spPr>
          <a:xfrm xmlns:a="http://schemas.openxmlformats.org/drawingml/2006/main">
            <a:off x="3028950" y="14668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cxnSp>
        <p:nvCxnSpPr>
          <p:cNvPr id="43" name="rule-67"/>
          <p:cNvCxnSpPr/>
          <p:nvPr/>
        </p:nvCxnSpPr>
        <p:spPr>
          <a:xfrm xmlns:a="http://schemas.openxmlformats.org/drawingml/2006/main">
            <a:off x="5924550" y="14668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cxnSp>
        <p:nvCxnSpPr>
          <p:cNvPr id="44" name="rule-68"/>
          <p:cNvCxnSpPr/>
          <p:nvPr/>
        </p:nvCxnSpPr>
        <p:spPr>
          <a:xfrm xmlns:a="http://schemas.openxmlformats.org/drawingml/2006/main">
            <a:off x="8820150" y="14668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7" name="text-69">
            <a:extLst xmlns:a="http://schemas.openxmlformats.org/drawingml/2006/main">
              <a:ext uri="{FF2B5EF4-FFF2-40B4-BE49-F238E27FC236}">
                <a16:creationId xmlns:a16="http://schemas.microsoft.com/office/drawing/2014/main" id="{EBC48678-3FBA-4AF2-A8D6-31F5F4C8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66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text-70">
            <a:extLst xmlns:a="http://schemas.openxmlformats.org/drawingml/2006/main">
              <a:ext uri="{FF2B5EF4-FFF2-40B4-BE49-F238E27FC236}">
                <a16:creationId xmlns:a16="http://schemas.microsoft.com/office/drawing/2014/main" id="{371B69D8-8E0F-4B49-B523-9382D5B8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沟通协作</a:t>
            </a:r>
          </a:p>
        </p:txBody>
      </p:sp>
      <p:sp>
        <p:nvSpPr>
          <p:cNvPr id="9" name="text-71">
            <a:extLst xmlns:a="http://schemas.openxmlformats.org/drawingml/2006/main">
              <a:ext uri="{FF2B5EF4-FFF2-40B4-BE49-F238E27FC236}">
                <a16:creationId xmlns:a16="http://schemas.microsoft.com/office/drawing/2014/main" id="{6F811067-EA22-48DC-8BD7-62646842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23241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单聊 / 群聊 / @成员
• 撤回、已读、搜索
• 好友与通知中心
• 视频会议与会中聊天</a:t>
            </a:r>
          </a:p>
        </p:txBody>
      </p:sp>
      <p:sp>
        <p:nvSpPr>
          <p:cNvPr id="10" name="text-72">
            <a:extLst xmlns:a="http://schemas.openxmlformats.org/drawingml/2006/main">
              <a:ext uri="{FF2B5EF4-FFF2-40B4-BE49-F238E27FC236}">
                <a16:creationId xmlns:a16="http://schemas.microsoft.com/office/drawing/2014/main" id="{B0658D6C-5736-4AF1-8623-DD3BABCB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85900"/>
            <a:ext cx="66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1" name="text-73">
            <a:extLst xmlns:a="http://schemas.openxmlformats.org/drawingml/2006/main">
              <a:ext uri="{FF2B5EF4-FFF2-40B4-BE49-F238E27FC236}">
                <a16:creationId xmlns:a16="http://schemas.microsoft.com/office/drawing/2014/main" id="{2AE8CA5A-1C38-4553-BD9B-6B14DD3A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621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内容协作</a:t>
            </a:r>
          </a:p>
        </p:txBody>
      </p:sp>
      <p:sp>
        <p:nvSpPr>
          <p:cNvPr id="12" name="text-74">
            <a:extLst xmlns:a="http://schemas.openxmlformats.org/drawingml/2006/main">
              <a:ext uri="{FF2B5EF4-FFF2-40B4-BE49-F238E27FC236}">
                <a16:creationId xmlns:a16="http://schemas.microsoft.com/office/drawing/2014/main" id="{7A631E24-0955-4D53-8A5E-8942BA1D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67000"/>
            <a:ext cx="23241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富文本云文档
• 评论、版本、协作者
• 云盘、文件夹、回收站
• 知识库空间与节点</a:t>
            </a:r>
          </a:p>
        </p:txBody>
      </p:sp>
      <p:sp>
        <p:nvSpPr>
          <p:cNvPr id="13" name="text-75">
            <a:extLst xmlns:a="http://schemas.openxmlformats.org/drawingml/2006/main">
              <a:ext uri="{FF2B5EF4-FFF2-40B4-BE49-F238E27FC236}">
                <a16:creationId xmlns:a16="http://schemas.microsoft.com/office/drawing/2014/main" id="{52636340-F690-4432-9900-B488B107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85900"/>
            <a:ext cx="66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4" name="text-76">
            <a:extLst xmlns:a="http://schemas.openxmlformats.org/drawingml/2006/main">
              <a:ext uri="{FF2B5EF4-FFF2-40B4-BE49-F238E27FC236}">
                <a16:creationId xmlns:a16="http://schemas.microsoft.com/office/drawing/2014/main" id="{C84BE10B-8275-4C0A-BF7E-ACC7704E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流程协作</a:t>
            </a:r>
          </a:p>
        </p:txBody>
      </p:sp>
      <p:sp>
        <p:nvSpPr>
          <p:cNvPr id="15" name="text-77">
            <a:extLst xmlns:a="http://schemas.openxmlformats.org/drawingml/2006/main">
              <a:ext uri="{FF2B5EF4-FFF2-40B4-BE49-F238E27FC236}">
                <a16:creationId xmlns:a16="http://schemas.microsoft.com/office/drawing/2014/main" id="{62C23422-8359-4406-AE4D-0CCEECFA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23241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月 / 周 / 日历
• 忙闲与参会回执
• 审批模板与实例
• 任务状态闭环</a:t>
            </a:r>
          </a:p>
        </p:txBody>
      </p:sp>
      <p:sp>
        <p:nvSpPr>
          <p:cNvPr id="16" name="text-78">
            <a:extLst xmlns:a="http://schemas.openxmlformats.org/drawingml/2006/main">
              <a:ext uri="{FF2B5EF4-FFF2-40B4-BE49-F238E27FC236}">
                <a16:creationId xmlns:a16="http://schemas.microsoft.com/office/drawing/2014/main" id="{1792A147-70D5-4193-9024-C7C792BD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85900"/>
            <a:ext cx="66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7" name="text-79">
            <a:extLst xmlns:a="http://schemas.openxmlformats.org/drawingml/2006/main">
              <a:ext uri="{FF2B5EF4-FFF2-40B4-BE49-F238E27FC236}">
                <a16:creationId xmlns:a16="http://schemas.microsoft.com/office/drawing/2014/main" id="{B1315E84-EC77-470A-B2E1-8DE25430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621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组织治理</a:t>
            </a:r>
          </a:p>
        </p:txBody>
      </p:sp>
      <p:sp>
        <p:nvSpPr>
          <p:cNvPr id="18" name="text-80">
            <a:extLst xmlns:a="http://schemas.openxmlformats.org/drawingml/2006/main">
              <a:ext uri="{FF2B5EF4-FFF2-40B4-BE49-F238E27FC236}">
                <a16:creationId xmlns:a16="http://schemas.microsoft.com/office/drawing/2014/main" id="{88ACEFC6-EB07-4535-8F3B-2889EE31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67000"/>
            <a:ext cx="23241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通讯录与部门树
• 用户、角色与权限
• 数据字典
• 操作日志与个人资料</a:t>
            </a:r>
          </a:p>
        </p:txBody>
      </p:sp>
      <p:sp>
        <p:nvSpPr>
          <p:cNvPr id="19" name="rect-81">
            <a:extLst xmlns:a="http://schemas.openxmlformats.org/drawingml/2006/main">
              <a:ext uri="{FF2B5EF4-FFF2-40B4-BE49-F238E27FC236}">
                <a16:creationId xmlns:a16="http://schemas.microsoft.com/office/drawing/2014/main" id="{2933B288-3E6F-4A50-AE17-DE3A29E1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82">
            <a:extLst xmlns:a="http://schemas.openxmlformats.org/drawingml/2006/main">
              <a:ext uri="{FF2B5EF4-FFF2-40B4-BE49-F238E27FC236}">
                <a16:creationId xmlns:a16="http://schemas.microsoft.com/office/drawing/2014/main" id="{62B4D4AC-8BB9-4CD7-B491-9FA84489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10934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核心价值：用户不必在多套系统间切换，沟通、内容与流程可以在同一工作台连续完成。</a:t>
            </a:r>
          </a:p>
        </p:txBody>
      </p:sp>
    </p:spTree>
    <p:extLst>
      <p:ext uri="{BB962C8B-B14F-4D97-AF65-F5344CB8AC3E}">
        <p14:creationId xmlns:p14="http://schemas.microsoft.com/office/powerpoint/2010/main" val="7438545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83">
            <a:extLst xmlns:a="http://schemas.openxmlformats.org/drawingml/2006/main">
              <a:ext uri="{FF2B5EF4-FFF2-40B4-BE49-F238E27FC236}">
                <a16:creationId xmlns:a16="http://schemas.microsoft.com/office/drawing/2014/main" id="{3E358A26-BAE0-49EA-9231-117298E0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即时通信已经跑通核心群聊场景</a:t>
            </a:r>
          </a:p>
        </p:txBody>
      </p:sp>
      <p:sp>
        <p:nvSpPr>
          <p:cNvPr id="2" name="text-84">
            <a:extLst xmlns:a="http://schemas.openxmlformats.org/drawingml/2006/main">
              <a:ext uri="{FF2B5EF4-FFF2-40B4-BE49-F238E27FC236}">
                <a16:creationId xmlns:a16="http://schemas.microsoft.com/office/drawing/2014/main" id="{6682547C-4693-402C-B4BE-D151CCAA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截图：真实后端测试账号；依据：IM 前后端代码</a:t>
            </a:r>
          </a:p>
        </p:txBody>
      </p:sp>
      <p:sp>
        <p:nvSpPr>
          <p:cNvPr id="3" name="text-85">
            <a:extLst xmlns:a="http://schemas.openxmlformats.org/drawingml/2006/main">
              <a:ext uri="{FF2B5EF4-FFF2-40B4-BE49-F238E27FC236}">
                <a16:creationId xmlns:a16="http://schemas.microsoft.com/office/drawing/2014/main" id="{C08DF485-E783-461C-AD17-D4463E58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4" name="rect-86">
            <a:extLst xmlns:a="http://schemas.openxmlformats.org/drawingml/2006/main">
              <a:ext uri="{FF2B5EF4-FFF2-40B4-BE49-F238E27FC236}">
                <a16:creationId xmlns:a16="http://schemas.microsoft.com/office/drawing/2014/main" id="{50830CBA-8BD5-4FA3-A40B-EDA5F31E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78676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text-87">
            <a:extLst xmlns:a="http://schemas.openxmlformats.org/drawingml/2006/main">
              <a:ext uri="{FF2B5EF4-FFF2-40B4-BE49-F238E27FC236}">
                <a16:creationId xmlns:a16="http://schemas.microsoft.com/office/drawing/2014/main" id="{1AF40F04-226A-4350-AE75-BCAE3B29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352550"/>
            <a:ext cx="247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真实数据</a:t>
            </a:r>
          </a:p>
        </p:txBody>
      </p:sp>
      <p:sp>
        <p:nvSpPr>
          <p:cNvPr id="6" name="text-88">
            <a:extLst xmlns:a="http://schemas.openxmlformats.org/drawingml/2006/main">
              <a:ext uri="{FF2B5EF4-FFF2-40B4-BE49-F238E27FC236}">
                <a16:creationId xmlns:a16="http://schemas.microsoft.com/office/drawing/2014/main" id="{C0CA38C4-827E-49FA-BC53-C9C656C2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52600"/>
            <a:ext cx="27622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会话列表、群成员和历史消息来自真实后端，不是静态原型。</a:t>
            </a:r>
          </a:p>
        </p:txBody>
      </p:sp>
      <p:cxnSp>
        <p:nvCxnSpPr>
          <p:cNvPr id="43" name="rule-89"/>
          <p:cNvCxnSpPr/>
          <p:nvPr/>
        </p:nvCxnSpPr>
        <p:spPr>
          <a:xfrm xmlns:a="http://schemas.openxmlformats.org/drawingml/2006/main">
            <a:off x="8705850" y="2800350"/>
            <a:ext cx="27622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8" name="text-90">
            <a:extLst xmlns:a="http://schemas.openxmlformats.org/drawingml/2006/main">
              <a:ext uri="{FF2B5EF4-FFF2-40B4-BE49-F238E27FC236}">
                <a16:creationId xmlns:a16="http://schemas.microsoft.com/office/drawing/2014/main" id="{715A4AB1-EB65-4875-9DAA-89369DBE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480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核心交互</a:t>
            </a:r>
          </a:p>
        </p:txBody>
      </p:sp>
      <p:sp>
        <p:nvSpPr>
          <p:cNvPr id="9" name="text-91">
            <a:extLst xmlns:a="http://schemas.openxmlformats.org/drawingml/2006/main">
              <a:ext uri="{FF2B5EF4-FFF2-40B4-BE49-F238E27FC236}">
                <a16:creationId xmlns:a16="http://schemas.microsoft.com/office/drawing/2014/main" id="{0811D796-92C3-4F86-B575-4E9E2BEC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86150"/>
            <a:ext cx="276225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单聊与群聊
• @成员、撤回、未读
• 群公告与成员管理
• 消息搜索与已读回执</a:t>
            </a:r>
          </a:p>
        </p:txBody>
      </p:sp>
      <p:sp>
        <p:nvSpPr>
          <p:cNvPr id="10" name="rect-92">
            <a:extLst xmlns:a="http://schemas.openxmlformats.org/drawingml/2006/main">
              <a:ext uri="{FF2B5EF4-FFF2-40B4-BE49-F238E27FC236}">
                <a16:creationId xmlns:a16="http://schemas.microsoft.com/office/drawing/2014/main" id="{CBF954AC-1000-4C72-A231-96BA15FA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334000"/>
            <a:ext cx="276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93">
            <a:extLst xmlns:a="http://schemas.openxmlformats.org/drawingml/2006/main">
              <a:ext uri="{FF2B5EF4-FFF2-40B4-BE49-F238E27FC236}">
                <a16:creationId xmlns:a16="http://schemas.microsoft.com/office/drawing/2014/main" id="{5198FDA6-3EE9-42D2-8FCC-EE397F21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467350"/>
            <a:ext cx="2381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SignalR 接收事件
REST API 持久化</a:t>
            </a:r>
          </a:p>
        </p:txBody>
      </p:sp>
      <p:pic>
        <p:nvPicPr>
          <p:cNvPr id="48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2879f48cd450a"/>
          <a:stretch xmlns:a="http://schemas.openxmlformats.org/drawingml/2006/main"/>
        </p:blipFill>
        <p:spPr>
          <a:xfrm xmlns:a="http://schemas.openxmlformats.org/drawingml/2006/main">
            <a:off x="630555" y="1314450"/>
            <a:ext cx="740664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</p:spTree>
    <p:extLst>
      <p:ext uri="{BB962C8B-B14F-4D97-AF65-F5344CB8AC3E}">
        <p14:creationId xmlns:p14="http://schemas.microsoft.com/office/powerpoint/2010/main" val="17844026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94">
            <a:extLst xmlns:a="http://schemas.openxmlformats.org/drawingml/2006/main">
              <a:ext uri="{FF2B5EF4-FFF2-40B4-BE49-F238E27FC236}">
                <a16:creationId xmlns:a16="http://schemas.microsoft.com/office/drawing/2014/main" id="{9A44811E-1528-415E-902A-73F7A4D6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内容协作覆盖创建、治理与回收</a:t>
            </a:r>
          </a:p>
        </p:txBody>
      </p:sp>
      <p:sp>
        <p:nvSpPr>
          <p:cNvPr id="2" name="text-95">
            <a:extLst xmlns:a="http://schemas.openxmlformats.org/drawingml/2006/main">
              <a:ext uri="{FF2B5EF4-FFF2-40B4-BE49-F238E27FC236}">
                <a16:creationId xmlns:a16="http://schemas.microsoft.com/office/drawing/2014/main" id="{1DC2F089-B3D5-46D7-9572-796A8621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截图：真实后端数据；依据：Documents / Files / Wiki 接口</a:t>
            </a:r>
          </a:p>
        </p:txBody>
      </p:sp>
      <p:sp>
        <p:nvSpPr>
          <p:cNvPr id="3" name="text-96">
            <a:extLst xmlns:a="http://schemas.openxmlformats.org/drawingml/2006/main">
              <a:ext uri="{FF2B5EF4-FFF2-40B4-BE49-F238E27FC236}">
                <a16:creationId xmlns:a16="http://schemas.microsoft.com/office/drawing/2014/main" id="{53B5D5C0-79B8-43D5-A9C0-873913A5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4" name="rect-97">
            <a:extLst xmlns:a="http://schemas.openxmlformats.org/drawingml/2006/main">
              <a:ext uri="{FF2B5EF4-FFF2-40B4-BE49-F238E27FC236}">
                <a16:creationId xmlns:a16="http://schemas.microsoft.com/office/drawing/2014/main" id="{8465D977-9CB7-49EB-9392-92876859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410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rect-98">
            <a:extLst xmlns:a="http://schemas.openxmlformats.org/drawingml/2006/main">
              <a:ext uri="{FF2B5EF4-FFF2-40B4-BE49-F238E27FC236}">
                <a16:creationId xmlns:a16="http://schemas.microsoft.com/office/drawing/2014/main" id="{412FB1C6-35C0-4770-9EBA-1260051C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38250"/>
            <a:ext cx="5810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6" name="text-99">
            <a:extLst xmlns:a="http://schemas.openxmlformats.org/drawingml/2006/main">
              <a:ext uri="{FF2B5EF4-FFF2-40B4-BE49-F238E27FC236}">
                <a16:creationId xmlns:a16="http://schemas.microsoft.com/office/drawing/2014/main" id="{00368409-5F8E-46AB-80CA-CADA674A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云文档</a:t>
            </a:r>
          </a:p>
        </p:txBody>
      </p:sp>
      <p:sp>
        <p:nvSpPr>
          <p:cNvPr id="7" name="text-100">
            <a:extLst xmlns:a="http://schemas.openxmlformats.org/drawingml/2006/main">
              <a:ext uri="{FF2B5EF4-FFF2-40B4-BE49-F238E27FC236}">
                <a16:creationId xmlns:a16="http://schemas.microsoft.com/office/drawing/2014/main" id="{0711AE81-BF09-4F2E-B654-627B235F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5276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创建与编辑、评论、版本历史、协作者、可见性、版本恢复与软删除。</a:t>
            </a:r>
          </a:p>
        </p:txBody>
      </p:sp>
      <p:sp>
        <p:nvSpPr>
          <p:cNvPr id="8" name="text-101">
            <a:extLst xmlns:a="http://schemas.openxmlformats.org/drawingml/2006/main">
              <a:ext uri="{FF2B5EF4-FFF2-40B4-BE49-F238E27FC236}">
                <a16:creationId xmlns:a16="http://schemas.microsoft.com/office/drawing/2014/main" id="{841FB177-13BB-4FBF-81EB-BC5FF088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768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云盘与知识库</a:t>
            </a:r>
          </a:p>
        </p:txBody>
      </p:sp>
      <p:sp>
        <p:nvSpPr>
          <p:cNvPr id="9" name="text-102">
            <a:extLst xmlns:a="http://schemas.openxmlformats.org/drawingml/2006/main">
              <a:ext uri="{FF2B5EF4-FFF2-40B4-BE49-F238E27FC236}">
                <a16:creationId xmlns:a16="http://schemas.microsoft.com/office/drawing/2014/main" id="{C2D90D12-730E-4F5C-9E7A-426E5D2F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76850"/>
            <a:ext cx="5657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文件夹、上传下载、预览、移动、分享、回收站；知识库支持空间、节点、成员和搜索。</a:t>
            </a:r>
          </a:p>
        </p:txBody>
      </p:sp>
      <p:pic>
        <p:nvPicPr>
          <p:cNvPr id="24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423c9722d4cdf"/>
          <a:stretch xmlns:a="http://schemas.openxmlformats.org/drawingml/2006/main"/>
        </p:blipFill>
        <p:spPr>
          <a:xfrm xmlns:a="http://schemas.openxmlformats.org/drawingml/2006/main">
            <a:off x="560070" y="1333500"/>
            <a:ext cx="5090160" cy="3181350"/>
          </a:xfrm>
          <a:prstGeom xmlns:a="http://schemas.openxmlformats.org/drawingml/2006/main" prst="roundRect">
            <a:avLst>
              <a:gd name="adj" fmla="val 1796"/>
            </a:avLst>
          </a:prstGeom>
        </p:spPr>
      </p:pic>
      <p:pic>
        <p:nvPicPr>
          <p:cNvPr id="2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f8281370c14f54"/>
          <a:stretch xmlns:a="http://schemas.openxmlformats.org/drawingml/2006/main"/>
        </p:blipFill>
        <p:spPr>
          <a:xfrm xmlns:a="http://schemas.openxmlformats.org/drawingml/2006/main">
            <a:off x="6341745" y="1333500"/>
            <a:ext cx="5090160" cy="3181350"/>
          </a:xfrm>
          <a:prstGeom xmlns:a="http://schemas.openxmlformats.org/drawingml/2006/main" prst="roundRect">
            <a:avLst>
              <a:gd name="adj" fmla="val 1796"/>
            </a:avLst>
          </a:prstGeom>
        </p:spPr>
      </p:pic>
    </p:spTree>
    <p:extLst>
      <p:ext uri="{BB962C8B-B14F-4D97-AF65-F5344CB8AC3E}">
        <p14:creationId xmlns:p14="http://schemas.microsoft.com/office/powerpoint/2010/main" val="17915021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94">
            <a:extLst xmlns:a="http://schemas.openxmlformats.org/drawingml/2006/main">
              <a:ext uri="{FF2B5EF4-FFF2-40B4-BE49-F238E27FC236}">
                <a16:creationId xmlns:a16="http://schemas.microsoft.com/office/drawing/2014/main" id="{9A44811E-1528-415E-902A-73F7A4D6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内容协作覆盖创建、治理与回收</a:t>
            </a:r>
          </a:p>
        </p:txBody>
      </p:sp>
      <p:sp>
        <p:nvSpPr>
          <p:cNvPr id="2" name="text-95">
            <a:extLst xmlns:a="http://schemas.openxmlformats.org/drawingml/2006/main">
              <a:ext uri="{FF2B5EF4-FFF2-40B4-BE49-F238E27FC236}">
                <a16:creationId xmlns:a16="http://schemas.microsoft.com/office/drawing/2014/main" id="{1DC2F089-B3D5-46D7-9572-796A8621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截图：真实后端数据；依据：Documents / Files / Wiki 接口</a:t>
            </a:r>
          </a:p>
        </p:txBody>
      </p:sp>
      <p:sp>
        <p:nvSpPr>
          <p:cNvPr id="3" name="text-96">
            <a:extLst xmlns:a="http://schemas.openxmlformats.org/drawingml/2006/main">
              <a:ext uri="{FF2B5EF4-FFF2-40B4-BE49-F238E27FC236}">
                <a16:creationId xmlns:a16="http://schemas.microsoft.com/office/drawing/2014/main" id="{53B5D5C0-79B8-43D5-A9C0-873913A5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4" name="rect-97">
            <a:extLst xmlns:a="http://schemas.openxmlformats.org/drawingml/2006/main">
              <a:ext uri="{FF2B5EF4-FFF2-40B4-BE49-F238E27FC236}">
                <a16:creationId xmlns:a16="http://schemas.microsoft.com/office/drawing/2014/main" id="{8465D977-9CB7-49EB-9392-92876859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410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rect-98">
            <a:extLst xmlns:a="http://schemas.openxmlformats.org/drawingml/2006/main">
              <a:ext uri="{FF2B5EF4-FFF2-40B4-BE49-F238E27FC236}">
                <a16:creationId xmlns:a16="http://schemas.microsoft.com/office/drawing/2014/main" id="{412FB1C6-35C0-4770-9EBA-1260051C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38250"/>
            <a:ext cx="5810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6" name="text-99">
            <a:extLst xmlns:a="http://schemas.openxmlformats.org/drawingml/2006/main">
              <a:ext uri="{FF2B5EF4-FFF2-40B4-BE49-F238E27FC236}">
                <a16:creationId xmlns:a16="http://schemas.microsoft.com/office/drawing/2014/main" id="{00368409-5F8E-46AB-80CA-CADA674A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云文档</a:t>
            </a:r>
          </a:p>
        </p:txBody>
      </p:sp>
      <p:sp>
        <p:nvSpPr>
          <p:cNvPr id="7" name="text-100">
            <a:extLst xmlns:a="http://schemas.openxmlformats.org/drawingml/2006/main">
              <a:ext uri="{FF2B5EF4-FFF2-40B4-BE49-F238E27FC236}">
                <a16:creationId xmlns:a16="http://schemas.microsoft.com/office/drawing/2014/main" id="{0711AE81-BF09-4F2E-B654-627B235F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5276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创建与编辑、评论、版本历史、协作者、可见性、版本恢复与软删除。</a:t>
            </a:r>
          </a:p>
        </p:txBody>
      </p:sp>
      <p:sp>
        <p:nvSpPr>
          <p:cNvPr id="8" name="text-101">
            <a:extLst xmlns:a="http://schemas.openxmlformats.org/drawingml/2006/main">
              <a:ext uri="{FF2B5EF4-FFF2-40B4-BE49-F238E27FC236}">
                <a16:creationId xmlns:a16="http://schemas.microsoft.com/office/drawing/2014/main" id="{841FB177-13BB-4FBF-81EB-BC5FF088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768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云盘与知识库</a:t>
            </a:r>
          </a:p>
        </p:txBody>
      </p:sp>
      <p:sp>
        <p:nvSpPr>
          <p:cNvPr id="9" name="text-102">
            <a:extLst xmlns:a="http://schemas.openxmlformats.org/drawingml/2006/main">
              <a:ext uri="{FF2B5EF4-FFF2-40B4-BE49-F238E27FC236}">
                <a16:creationId xmlns:a16="http://schemas.microsoft.com/office/drawing/2014/main" id="{C2D90D12-730E-4F5C-9E7A-426E5D2F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76850"/>
            <a:ext cx="5657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文件夹、上传下载、预览、移动、分享、回收站；知识库支持空间、节点、成员和搜索。</a:t>
            </a:r>
          </a:p>
        </p:txBody>
      </p:sp>
      <p:pic>
        <p:nvPicPr>
          <p:cNvPr id="24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4ee6654924025"/>
          <a:stretch xmlns:a="http://schemas.openxmlformats.org/drawingml/2006/main"/>
        </p:blipFill>
        <p:spPr>
          <a:xfrm xmlns:a="http://schemas.openxmlformats.org/drawingml/2006/main">
            <a:off x="560070" y="1333500"/>
            <a:ext cx="5090160" cy="3181350"/>
          </a:xfrm>
          <a:prstGeom xmlns:a="http://schemas.openxmlformats.org/drawingml/2006/main" prst="roundRect">
            <a:avLst>
              <a:gd name="adj" fmla="val 1796"/>
            </a:avLst>
          </a:prstGeom>
        </p:spPr>
      </p:pic>
      <p:pic>
        <p:nvPicPr>
          <p:cNvPr id="2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6bc6d589d4d71"/>
          <a:stretch xmlns:a="http://schemas.openxmlformats.org/drawingml/2006/main"/>
        </p:blipFill>
        <p:spPr>
          <a:xfrm xmlns:a="http://schemas.openxmlformats.org/drawingml/2006/main">
            <a:off x="6341745" y="1333500"/>
            <a:ext cx="5090160" cy="3181350"/>
          </a:xfrm>
          <a:prstGeom xmlns:a="http://schemas.openxmlformats.org/drawingml/2006/main" prst="roundRect">
            <a:avLst>
              <a:gd name="adj" fmla="val 1796"/>
            </a:avLst>
          </a:prstGeom>
        </p:spPr>
      </p:pic>
    </p:spTree>
    <p:extLst>
      <p:ext uri="{BB962C8B-B14F-4D97-AF65-F5344CB8AC3E}">
        <p14:creationId xmlns:p14="http://schemas.microsoft.com/office/powerpoint/2010/main" val="17915021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03">
            <a:extLst xmlns:a="http://schemas.openxmlformats.org/drawingml/2006/main">
              <a:ext uri="{FF2B5EF4-FFF2-40B4-BE49-F238E27FC236}">
                <a16:creationId xmlns:a16="http://schemas.microsoft.com/office/drawing/2014/main" id="{C43911A1-5FD7-4224-8651-9D8993FF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端侧技术按场景分工，共享同一套 API</a:t>
            </a:r>
          </a:p>
        </p:txBody>
      </p:sp>
      <p:sp>
        <p:nvSpPr>
          <p:cNvPr id="2" name="text-104">
            <a:extLst xmlns:a="http://schemas.openxmlformats.org/drawingml/2006/main">
              <a:ext uri="{FF2B5EF4-FFF2-40B4-BE49-F238E27FC236}">
                <a16:creationId xmlns:a16="http://schemas.microsoft.com/office/drawing/2014/main" id="{B4B5A27D-1271-40EC-A0FE-1E0CC589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05">
            <a:extLst xmlns:a="http://schemas.openxmlformats.org/drawingml/2006/main">
              <a:ext uri="{FF2B5EF4-FFF2-40B4-BE49-F238E27FC236}">
                <a16:creationId xmlns:a16="http://schemas.microsoft.com/office/drawing/2014/main" id="{47DDBB6F-8371-4F30-8B2B-008FFFFD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4" name="rect-106">
            <a:extLst xmlns:a="http://schemas.openxmlformats.org/drawingml/2006/main">
              <a:ext uri="{FF2B5EF4-FFF2-40B4-BE49-F238E27FC236}">
                <a16:creationId xmlns:a16="http://schemas.microsoft.com/office/drawing/2014/main" id="{8D3BFB00-1532-42BB-8B61-0639E81D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52006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rect-107">
            <a:extLst xmlns:a="http://schemas.openxmlformats.org/drawingml/2006/main">
              <a:ext uri="{FF2B5EF4-FFF2-40B4-BE49-F238E27FC236}">
                <a16:creationId xmlns:a16="http://schemas.microsoft.com/office/drawing/2014/main" id="{F077D911-0C4A-4A8F-840D-C602E4D2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14450"/>
            <a:ext cx="52006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6" name="text-108">
            <a:extLst xmlns:a="http://schemas.openxmlformats.org/drawingml/2006/main">
              <a:ext uri="{FF2B5EF4-FFF2-40B4-BE49-F238E27FC236}">
                <a16:creationId xmlns:a16="http://schemas.microsoft.com/office/drawing/2014/main" id="{3AF6F196-F8CA-4B8D-AD88-09EBAD57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+ Desktop</a:t>
            </a:r>
          </a:p>
        </p:txBody>
      </p:sp>
      <p:sp>
        <p:nvSpPr>
          <p:cNvPr id="7" name="text-109">
            <a:extLst xmlns:a="http://schemas.openxmlformats.org/drawingml/2006/main">
              <a:ext uri="{FF2B5EF4-FFF2-40B4-BE49-F238E27FC236}">
                <a16:creationId xmlns:a16="http://schemas.microsoft.com/office/drawing/2014/main" id="{B98D8DE2-1757-48AE-BB32-73473185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342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Vue 3 + Electron</a:t>
            </a:r>
          </a:p>
        </p:txBody>
      </p:sp>
      <p:sp>
        <p:nvSpPr>
          <p:cNvPr id="8" name="text-110">
            <a:extLst xmlns:a="http://schemas.openxmlformats.org/drawingml/2006/main">
              <a:ext uri="{FF2B5EF4-FFF2-40B4-BE49-F238E27FC236}">
                <a16:creationId xmlns:a16="http://schemas.microsoft.com/office/drawing/2014/main" id="{2DAC1B5A-1856-4CA1-BAC9-88B44772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41910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Web 是完整业务主端
• Electron 直接复用构建产物
• 统一路由、状态与 UI
• 减少桌面端重复开发</a:t>
            </a:r>
          </a:p>
        </p:txBody>
      </p:sp>
      <p:sp>
        <p:nvSpPr>
          <p:cNvPr id="9" name="rect-111">
            <a:extLst xmlns:a="http://schemas.openxmlformats.org/drawingml/2006/main">
              <a:ext uri="{FF2B5EF4-FFF2-40B4-BE49-F238E27FC236}">
                <a16:creationId xmlns:a16="http://schemas.microsoft.com/office/drawing/2014/main" id="{DAB41A87-FCC9-481B-A2E3-4131BCBF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4191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12">
            <a:extLst xmlns:a="http://schemas.openxmlformats.org/drawingml/2006/main">
              <a:ext uri="{FF2B5EF4-FFF2-40B4-BE49-F238E27FC236}">
                <a16:creationId xmlns:a16="http://schemas.microsoft.com/office/drawing/2014/main" id="{39F4B9C9-6A99-4FE8-B79A-27E388C0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3848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微信小程序：uni-app 独立实现 · 生产构建通过</a:t>
            </a:r>
          </a:p>
        </p:txBody>
      </p:sp>
      <p:sp>
        <p:nvSpPr>
          <p:cNvPr id="11" name="text-113">
            <a:extLst xmlns:a="http://schemas.openxmlformats.org/drawingml/2006/main">
              <a:ext uri="{FF2B5EF4-FFF2-40B4-BE49-F238E27FC236}">
                <a16:creationId xmlns:a16="http://schemas.microsoft.com/office/drawing/2014/main" id="{D699AD76-A981-4221-B76F-09240CE9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81150"/>
            <a:ext cx="3714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原生 Android</a:t>
            </a:r>
          </a:p>
        </p:txBody>
      </p:sp>
      <p:sp>
        <p:nvSpPr>
          <p:cNvPr id="12" name="text-114">
            <a:extLst xmlns:a="http://schemas.openxmlformats.org/drawingml/2006/main">
              <a:ext uri="{FF2B5EF4-FFF2-40B4-BE49-F238E27FC236}">
                <a16:creationId xmlns:a16="http://schemas.microsoft.com/office/drawing/2014/main" id="{6366FCAA-0044-4D19-8163-D77EAA0C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71700"/>
            <a:ext cx="4286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Kotlin + Jetpack Compose</a:t>
            </a:r>
          </a:p>
        </p:txBody>
      </p:sp>
      <p:sp>
        <p:nvSpPr>
          <p:cNvPr id="13" name="text-115">
            <a:extLst xmlns:a="http://schemas.openxmlformats.org/drawingml/2006/main">
              <a:ext uri="{FF2B5EF4-FFF2-40B4-BE49-F238E27FC236}">
                <a16:creationId xmlns:a16="http://schemas.microsoft.com/office/drawing/2014/main" id="{AAEF5ABD-5812-410E-893A-90AE7C51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42862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AppViewModel / StateFlow 状态驱动
• Retrofit / OkHttp 对接 REST
• SignalR 接收实时消息
• Agora RTC 视频会议</a:t>
            </a:r>
          </a:p>
        </p:txBody>
      </p:sp>
      <p:sp>
        <p:nvSpPr>
          <p:cNvPr id="14" name="rect-116">
            <a:extLst xmlns:a="http://schemas.openxmlformats.org/drawingml/2006/main">
              <a:ext uri="{FF2B5EF4-FFF2-40B4-BE49-F238E27FC236}">
                <a16:creationId xmlns:a16="http://schemas.microsoft.com/office/drawing/2014/main" id="{38401086-0767-45C8-8DCB-60CFE2E9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53000"/>
            <a:ext cx="4362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17">
            <a:extLst xmlns:a="http://schemas.openxmlformats.org/drawingml/2006/main">
              <a:ext uri="{FF2B5EF4-FFF2-40B4-BE49-F238E27FC236}">
                <a16:creationId xmlns:a16="http://schemas.microsoft.com/office/drawing/2014/main" id="{7E9AE6BA-B0D0-4304-BA33-FA91FDA1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4019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1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DataStore 会话 · Coil 图片 · 61 个 Compose 标记</a:t>
            </a:r>
          </a:p>
        </p:txBody>
      </p:sp>
      <p:sp>
        <p:nvSpPr>
          <p:cNvPr id="16" name="rect-118">
            <a:extLst xmlns:a="http://schemas.openxmlformats.org/drawingml/2006/main">
              <a:ext uri="{FF2B5EF4-FFF2-40B4-BE49-F238E27FC236}">
                <a16:creationId xmlns:a16="http://schemas.microsoft.com/office/drawing/2014/main" id="{12BBA73F-7E86-4550-8AF2-24A33851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81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119">
            <a:extLst xmlns:a="http://schemas.openxmlformats.org/drawingml/2006/main">
              <a:ext uri="{FF2B5EF4-FFF2-40B4-BE49-F238E27FC236}">
                <a16:creationId xmlns:a16="http://schemas.microsoft.com/office/drawing/2014/main" id="{CC3FC96F-5550-4957-9C3B-138AECC6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324225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16593799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120">
            <a:extLst xmlns:a="http://schemas.openxmlformats.org/drawingml/2006/main">
              <a:ext uri="{FF2B5EF4-FFF2-40B4-BE49-F238E27FC236}">
                <a16:creationId xmlns:a16="http://schemas.microsoft.com/office/drawing/2014/main" id="{A1DDDD2C-43B2-4F82-83E6-B438E40D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三条后端能力线支撑全部业务</a:t>
            </a:r>
          </a:p>
        </p:txBody>
      </p:sp>
      <p:sp>
        <p:nvSpPr>
          <p:cNvPr id="2" name="text-121">
            <a:extLst xmlns:a="http://schemas.openxmlformats.org/drawingml/2006/main">
              <a:ext uri="{FF2B5EF4-FFF2-40B4-BE49-F238E27FC236}">
                <a16:creationId xmlns:a16="http://schemas.microsoft.com/office/drawing/2014/main" id="{B7AA881D-897D-4A59-9AD7-9EDF922E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22">
            <a:extLst xmlns:a="http://schemas.openxmlformats.org/drawingml/2006/main">
              <a:ext uri="{FF2B5EF4-FFF2-40B4-BE49-F238E27FC236}">
                <a16:creationId xmlns:a16="http://schemas.microsoft.com/office/drawing/2014/main" id="{B55FBDF6-45EA-451A-AD30-902844F0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  <p:sp>
        <p:nvSpPr>
          <p:cNvPr id="4" name="text-123">
            <a:extLst xmlns:a="http://schemas.openxmlformats.org/drawingml/2006/main">
              <a:ext uri="{FF2B5EF4-FFF2-40B4-BE49-F238E27FC236}">
                <a16:creationId xmlns:a16="http://schemas.microsoft.com/office/drawing/2014/main" id="{130D1294-FBC1-4CC2-AD92-138F09B6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2286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16 controllers</a:t>
            </a:r>
          </a:p>
        </p:txBody>
      </p:sp>
      <p:sp>
        <p:nvSpPr>
          <p:cNvPr id="5" name="text-124">
            <a:extLst xmlns:a="http://schemas.openxmlformats.org/drawingml/2006/main">
              <a:ext uri="{FF2B5EF4-FFF2-40B4-BE49-F238E27FC236}">
                <a16:creationId xmlns:a16="http://schemas.microsoft.com/office/drawing/2014/main" id="{FD358020-F2D6-4B96-96CA-B587F9C1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57300"/>
            <a:ext cx="238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142 HTTP actions</a:t>
            </a:r>
          </a:p>
        </p:txBody>
      </p:sp>
      <p:sp>
        <p:nvSpPr>
          <p:cNvPr id="6" name="text-125">
            <a:extLst xmlns:a="http://schemas.openxmlformats.org/drawingml/2006/main">
              <a:ext uri="{FF2B5EF4-FFF2-40B4-BE49-F238E27FC236}">
                <a16:creationId xmlns:a16="http://schemas.microsoft.com/office/drawing/2014/main" id="{DE2021E6-A68D-4BED-ACAD-ACF846B1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573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36 DbSets</a:t>
            </a:r>
          </a:p>
        </p:txBody>
      </p:sp>
      <p:sp>
        <p:nvSpPr>
          <p:cNvPr id="7" name="text-126">
            <a:extLst xmlns:a="http://schemas.openxmlformats.org/drawingml/2006/main">
              <a:ext uri="{FF2B5EF4-FFF2-40B4-BE49-F238E27FC236}">
                <a16:creationId xmlns:a16="http://schemas.microsoft.com/office/drawing/2014/main" id="{6D082E4C-67A6-4FAF-8B8D-306F47CB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57300"/>
            <a:ext cx="2647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ASP.NET Core 8</a:t>
            </a:r>
          </a:p>
        </p:txBody>
      </p:sp>
      <p:cxnSp>
        <p:nvCxnSpPr>
          <p:cNvPr id="68" name="rule-127"/>
          <p:cNvCxnSpPr/>
          <p:nvPr/>
        </p:nvCxnSpPr>
        <p:spPr>
          <a:xfrm xmlns:a="http://schemas.openxmlformats.org/drawingml/2006/main">
            <a:off x="400050" y="18859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9" name="text-128">
            <a:extLst xmlns:a="http://schemas.openxmlformats.org/drawingml/2006/main">
              <a:ext uri="{FF2B5EF4-FFF2-40B4-BE49-F238E27FC236}">
                <a16:creationId xmlns:a16="http://schemas.microsoft.com/office/drawing/2014/main" id="{504F09C3-9475-4004-A3C3-F52B88E1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鉴权与治理</a:t>
            </a:r>
          </a:p>
        </p:txBody>
      </p:sp>
      <p:sp>
        <p:nvSpPr>
          <p:cNvPr id="10" name="text-129">
            <a:extLst xmlns:a="http://schemas.openxmlformats.org/drawingml/2006/main">
              <a:ext uri="{FF2B5EF4-FFF2-40B4-BE49-F238E27FC236}">
                <a16:creationId xmlns:a16="http://schemas.microsoft.com/office/drawing/2014/main" id="{22F38D72-53D4-4292-86D0-7E8DF616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304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JWT + jti 撤销
• 角色与权限持久化
• 客户端会话版本
• 统一异常与 traceId</a:t>
            </a:r>
          </a:p>
        </p:txBody>
      </p:sp>
      <p:cxnSp>
        <p:nvCxnSpPr>
          <p:cNvPr id="71" name="rule-130"/>
          <p:cNvCxnSpPr/>
          <p:nvPr/>
        </p:nvCxnSpPr>
        <p:spPr>
          <a:xfrm xmlns:a="http://schemas.openxmlformats.org/drawingml/2006/main">
            <a:off x="4000500" y="21526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2" name="text-131">
            <a:extLst xmlns:a="http://schemas.openxmlformats.org/drawingml/2006/main">
              <a:ext uri="{FF2B5EF4-FFF2-40B4-BE49-F238E27FC236}">
                <a16:creationId xmlns:a16="http://schemas.microsoft.com/office/drawing/2014/main" id="{0A8D4B69-FF29-49CF-A61E-0B66FE74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实时协作</a:t>
            </a:r>
          </a:p>
        </p:txBody>
      </p:sp>
      <p:sp>
        <p:nvSpPr>
          <p:cNvPr id="13" name="text-132">
            <a:extLst xmlns:a="http://schemas.openxmlformats.org/drawingml/2006/main">
              <a:ext uri="{FF2B5EF4-FFF2-40B4-BE49-F238E27FC236}">
                <a16:creationId xmlns:a16="http://schemas.microsoft.com/office/drawing/2014/main" id="{09DCA67E-EE65-4797-B8BD-0FB776EB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04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SignalR 用户组 / 会话组
• 消息与通知推送
• 好友与会议事件
• Agora 会议令牌</a:t>
            </a:r>
          </a:p>
        </p:txBody>
      </p:sp>
      <p:cxnSp>
        <p:nvCxnSpPr>
          <p:cNvPr id="74" name="rule-133"/>
          <p:cNvCxnSpPr/>
          <p:nvPr/>
        </p:nvCxnSpPr>
        <p:spPr>
          <a:xfrm xmlns:a="http://schemas.openxmlformats.org/drawingml/2006/main">
            <a:off x="8001000" y="21526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5" name="text-134">
            <a:extLst xmlns:a="http://schemas.openxmlformats.org/drawingml/2006/main">
              <a:ext uri="{FF2B5EF4-FFF2-40B4-BE49-F238E27FC236}">
                <a16:creationId xmlns:a16="http://schemas.microsoft.com/office/drawing/2014/main" id="{422C5F4E-502E-41C2-8A7A-58606954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241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数据与文件</a:t>
            </a:r>
          </a:p>
        </p:txBody>
      </p:sp>
      <p:sp>
        <p:nvSpPr>
          <p:cNvPr id="16" name="text-135">
            <a:extLst xmlns:a="http://schemas.openxmlformats.org/drawingml/2006/main">
              <a:ext uri="{FF2B5EF4-FFF2-40B4-BE49-F238E27FC236}">
                <a16:creationId xmlns:a16="http://schemas.microsoft.com/office/drawing/2014/main" id="{4E37CA22-660F-44E4-8DA3-BB6B93B5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04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EF Core + PostgreSQL
• 失败自动重试
• Local / MinIO 可切换
• 软删除与回收站</a:t>
            </a:r>
          </a:p>
        </p:txBody>
      </p:sp>
      <p:sp>
        <p:nvSpPr>
          <p:cNvPr id="17" name="rect-136">
            <a:extLst xmlns:a="http://schemas.openxmlformats.org/drawingml/2006/main">
              <a:ext uri="{FF2B5EF4-FFF2-40B4-BE49-F238E27FC236}">
                <a16:creationId xmlns:a16="http://schemas.microsoft.com/office/drawing/2014/main" id="{D71F2F36-D2D2-4591-A7EB-B74C695C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37">
            <a:extLst xmlns:a="http://schemas.openxmlformats.org/drawingml/2006/main">
              <a:ext uri="{FF2B5EF4-FFF2-40B4-BE49-F238E27FC236}">
                <a16:creationId xmlns:a16="http://schemas.microsoft.com/office/drawing/2014/main" id="{0EF7407B-BC08-4BC6-9D18-D3AE0CD5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934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后端不是单纯 CRUD：它同时处理会话安全、实时事件、文件生命周期与部署健康。</a:t>
            </a:r>
          </a:p>
        </p:txBody>
      </p:sp>
    </p:spTree>
    <p:extLst>
      <p:ext uri="{BB962C8B-B14F-4D97-AF65-F5344CB8AC3E}">
        <p14:creationId xmlns:p14="http://schemas.microsoft.com/office/powerpoint/2010/main" val="13471622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38">
            <a:extLst xmlns:a="http://schemas.openxmlformats.org/drawingml/2006/main">
              <a:ext uri="{FF2B5EF4-FFF2-40B4-BE49-F238E27FC236}">
                <a16:creationId xmlns:a16="http://schemas.microsoft.com/office/drawing/2014/main" id="{4D54D58A-9F55-40EB-AC9D-00A8A578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先落库再推送，保证最终一致</a:t>
            </a:r>
          </a:p>
        </p:txBody>
      </p:sp>
      <p:sp>
        <p:nvSpPr>
          <p:cNvPr id="2" name="text-139">
            <a:extLst xmlns:a="http://schemas.openxmlformats.org/drawingml/2006/main">
              <a:ext uri="{FF2B5EF4-FFF2-40B4-BE49-F238E27FC236}">
                <a16:creationId xmlns:a16="http://schemas.microsoft.com/office/drawing/2014/main" id="{54C1EA4C-0F8C-463E-95C2-DAB65DDD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40">
            <a:extLst xmlns:a="http://schemas.openxmlformats.org/drawingml/2006/main">
              <a:ext uri="{FF2B5EF4-FFF2-40B4-BE49-F238E27FC236}">
                <a16:creationId xmlns:a16="http://schemas.microsoft.com/office/drawing/2014/main" id="{7A88E79F-36D9-405C-92BC-9E74282A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09</a:t>
            </a:r>
          </a:p>
        </p:txBody>
      </p:sp>
      <p:cxnSp>
        <p:nvCxnSpPr>
          <p:cNvPr id="55" name="rule-141"/>
          <p:cNvCxnSpPr/>
          <p:nvPr/>
        </p:nvCxnSpPr>
        <p:spPr>
          <a:xfrm xmlns:a="http://schemas.openxmlformats.org/drawingml/2006/main">
            <a:off x="1143000" y="2971800"/>
            <a:ext cx="2381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cxnSp>
        <p:nvCxnSpPr>
          <p:cNvPr id="56" name="rule-142"/>
          <p:cNvCxnSpPr/>
          <p:nvPr/>
        </p:nvCxnSpPr>
        <p:spPr>
          <a:xfrm xmlns:a="http://schemas.openxmlformats.org/drawingml/2006/main">
            <a:off x="3714750" y="2971800"/>
            <a:ext cx="2381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cxnSp>
        <p:nvCxnSpPr>
          <p:cNvPr id="57" name="rule-143"/>
          <p:cNvCxnSpPr/>
          <p:nvPr/>
        </p:nvCxnSpPr>
        <p:spPr>
          <a:xfrm xmlns:a="http://schemas.openxmlformats.org/drawingml/2006/main">
            <a:off x="6286500" y="2971800"/>
            <a:ext cx="2381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cxnSp>
        <p:nvCxnSpPr>
          <p:cNvPr id="58" name="rule-144"/>
          <p:cNvCxnSpPr/>
          <p:nvPr/>
        </p:nvCxnSpPr>
        <p:spPr>
          <a:xfrm xmlns:a="http://schemas.openxmlformats.org/drawingml/2006/main">
            <a:off x="8858250" y="2971800"/>
            <a:ext cx="2000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sp>
        <p:nvSpPr>
          <p:cNvPr id="8" name="rect-145">
            <a:extLst xmlns:a="http://schemas.openxmlformats.org/drawingml/2006/main">
              <a:ext uri="{FF2B5EF4-FFF2-40B4-BE49-F238E27FC236}">
                <a16:creationId xmlns:a16="http://schemas.microsoft.com/office/drawing/2014/main" id="{BA8E7D6E-C052-4415-AE8C-E3E1114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-146">
            <a:extLst xmlns:a="http://schemas.openxmlformats.org/drawingml/2006/main">
              <a:ext uri="{FF2B5EF4-FFF2-40B4-BE49-F238E27FC236}">
                <a16:creationId xmlns:a16="http://schemas.microsoft.com/office/drawing/2014/main" id="{77792408-A014-4BEE-8F77-4DF99FD6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-147">
            <a:extLst xmlns:a="http://schemas.openxmlformats.org/drawingml/2006/main">
              <a:ext uri="{FF2B5EF4-FFF2-40B4-BE49-F238E27FC236}">
                <a16:creationId xmlns:a16="http://schemas.microsoft.com/office/drawing/2014/main" id="{9B484783-513B-4F67-86E4-0350C32B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-148">
            <a:extLst xmlns:a="http://schemas.openxmlformats.org/drawingml/2006/main">
              <a:ext uri="{FF2B5EF4-FFF2-40B4-BE49-F238E27FC236}">
                <a16:creationId xmlns:a16="http://schemas.microsoft.com/office/drawing/2014/main" id="{035D6B91-DC19-4E60-9979-C241AB5D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-149">
            <a:extLst xmlns:a="http://schemas.openxmlformats.org/drawingml/2006/main">
              <a:ext uri="{FF2B5EF4-FFF2-40B4-BE49-F238E27FC236}">
                <a16:creationId xmlns:a16="http://schemas.microsoft.com/office/drawing/2014/main" id="{294DF3F5-2DD3-4B1F-A5BB-F3FC6029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50">
            <a:extLst xmlns:a="http://schemas.openxmlformats.org/drawingml/2006/main">
              <a:ext uri="{FF2B5EF4-FFF2-40B4-BE49-F238E27FC236}">
                <a16:creationId xmlns:a16="http://schemas.microsoft.com/office/drawing/2014/main" id="{40D04E24-FC53-4FB4-97B3-241AF3F4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4" name="text-151">
            <a:extLst xmlns:a="http://schemas.openxmlformats.org/drawingml/2006/main">
              <a:ext uri="{FF2B5EF4-FFF2-40B4-BE49-F238E27FC236}">
                <a16:creationId xmlns:a16="http://schemas.microsoft.com/office/drawing/2014/main" id="{99C19F09-D7A8-42AC-B768-4D184C90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180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客户端提交</a:t>
            </a:r>
          </a:p>
        </p:txBody>
      </p:sp>
      <p:sp>
        <p:nvSpPr>
          <p:cNvPr id="15" name="text-152">
            <a:extLst xmlns:a="http://schemas.openxmlformats.org/drawingml/2006/main">
              <a:ext uri="{FF2B5EF4-FFF2-40B4-BE49-F238E27FC236}">
                <a16:creationId xmlns:a16="http://schemas.microsoft.com/office/drawing/2014/main" id="{0BF70C99-1EAD-4BB0-BD2B-2F726643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REST / Hub</a:t>
            </a:r>
          </a:p>
        </p:txBody>
      </p:sp>
      <p:sp>
        <p:nvSpPr>
          <p:cNvPr id="16" name="text-153">
            <a:extLst xmlns:a="http://schemas.openxmlformats.org/drawingml/2006/main">
              <a:ext uri="{FF2B5EF4-FFF2-40B4-BE49-F238E27FC236}">
                <a16:creationId xmlns:a16="http://schemas.microsoft.com/office/drawing/2014/main" id="{752300B8-384F-4C63-9A23-F33701BE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240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7" name="text-154">
            <a:extLst xmlns:a="http://schemas.openxmlformats.org/drawingml/2006/main">
              <a:ext uri="{FF2B5EF4-FFF2-40B4-BE49-F238E27FC236}">
                <a16:creationId xmlns:a16="http://schemas.microsoft.com/office/drawing/2014/main" id="{13DDEC70-72D7-4D85-980B-C8EB1F86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0505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鉴权与成员校验</a:t>
            </a:r>
          </a:p>
        </p:txBody>
      </p:sp>
      <p:sp>
        <p:nvSpPr>
          <p:cNvPr id="18" name="text-155">
            <a:extLst xmlns:a="http://schemas.openxmlformats.org/drawingml/2006/main">
              <a:ext uri="{FF2B5EF4-FFF2-40B4-BE49-F238E27FC236}">
                <a16:creationId xmlns:a16="http://schemas.microsoft.com/office/drawing/2014/main" id="{4EB3F2E2-7948-4DFD-B51A-FB189B95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766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JWT / RBAC</a:t>
            </a:r>
          </a:p>
        </p:txBody>
      </p:sp>
      <p:sp>
        <p:nvSpPr>
          <p:cNvPr id="19" name="text-156">
            <a:extLst xmlns:a="http://schemas.openxmlformats.org/drawingml/2006/main">
              <a:ext uri="{FF2B5EF4-FFF2-40B4-BE49-F238E27FC236}">
                <a16:creationId xmlns:a16="http://schemas.microsoft.com/office/drawing/2014/main" id="{FAE070BA-8CCB-446F-A418-8E61B0EE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20" name="text-157">
            <a:extLst xmlns:a="http://schemas.openxmlformats.org/drawingml/2006/main">
              <a:ext uri="{FF2B5EF4-FFF2-40B4-BE49-F238E27FC236}">
                <a16:creationId xmlns:a16="http://schemas.microsoft.com/office/drawing/2014/main" id="{FCC22F76-D7C1-4611-859A-F680B4A8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05050"/>
            <a:ext cx="180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数据库提交</a:t>
            </a:r>
          </a:p>
        </p:txBody>
      </p:sp>
      <p:sp>
        <p:nvSpPr>
          <p:cNvPr id="21" name="text-158">
            <a:extLst xmlns:a="http://schemas.openxmlformats.org/drawingml/2006/main">
              <a:ext uri="{FF2B5EF4-FFF2-40B4-BE49-F238E27FC236}">
                <a16:creationId xmlns:a16="http://schemas.microsoft.com/office/drawing/2014/main" id="{217219EF-B91C-4A9A-B4B5-3A72604F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766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EF Core</a:t>
            </a:r>
          </a:p>
        </p:txBody>
      </p:sp>
      <p:sp>
        <p:nvSpPr>
          <p:cNvPr id="22" name="text-159">
            <a:extLst xmlns:a="http://schemas.openxmlformats.org/drawingml/2006/main">
              <a:ext uri="{FF2B5EF4-FFF2-40B4-BE49-F238E27FC236}">
                <a16:creationId xmlns:a16="http://schemas.microsoft.com/office/drawing/2014/main" id="{A2C1CC72-48A0-49CC-8C2F-B6DBF44E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3" name="text-160">
            <a:extLst xmlns:a="http://schemas.openxmlformats.org/drawingml/2006/main">
              <a:ext uri="{FF2B5EF4-FFF2-40B4-BE49-F238E27FC236}">
                <a16:creationId xmlns:a16="http://schemas.microsoft.com/office/drawing/2014/main" id="{B8C4ACDD-AFF1-4402-8E1D-F1270420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05050"/>
            <a:ext cx="200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生成通知事件</a:t>
            </a:r>
          </a:p>
        </p:txBody>
      </p:sp>
      <p:sp>
        <p:nvSpPr>
          <p:cNvPr id="24" name="text-161">
            <a:extLst xmlns:a="http://schemas.openxmlformats.org/drawingml/2006/main">
              <a:ext uri="{FF2B5EF4-FFF2-40B4-BE49-F238E27FC236}">
                <a16:creationId xmlns:a16="http://schemas.microsoft.com/office/drawing/2014/main" id="{46A99290-2543-481B-83B0-8C77008F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766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Interceptor</a:t>
            </a:r>
          </a:p>
        </p:txBody>
      </p:sp>
      <p:sp>
        <p:nvSpPr>
          <p:cNvPr id="25" name="text-162">
            <a:extLst xmlns:a="http://schemas.openxmlformats.org/drawingml/2006/main">
              <a:ext uri="{FF2B5EF4-FFF2-40B4-BE49-F238E27FC236}">
                <a16:creationId xmlns:a16="http://schemas.microsoft.com/office/drawing/2014/main" id="{E218ED44-10CE-4EA7-B1CE-205D620F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240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6" name="text-163">
            <a:extLst xmlns:a="http://schemas.openxmlformats.org/drawingml/2006/main">
              <a:ext uri="{FF2B5EF4-FFF2-40B4-BE49-F238E27FC236}">
                <a16:creationId xmlns:a16="http://schemas.microsoft.com/office/drawing/2014/main" id="{E344E30B-31AE-4976-B835-86106B1D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050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分组推送</a:t>
            </a:r>
          </a:p>
        </p:txBody>
      </p:sp>
      <p:sp>
        <p:nvSpPr>
          <p:cNvPr id="27" name="text-164">
            <a:extLst xmlns:a="http://schemas.openxmlformats.org/drawingml/2006/main">
              <a:ext uri="{FF2B5EF4-FFF2-40B4-BE49-F238E27FC236}">
                <a16:creationId xmlns:a16="http://schemas.microsoft.com/office/drawing/2014/main" id="{6BC1B0DE-51DF-4B7B-AE8A-ACF27DF3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766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SignalR</a:t>
            </a:r>
          </a:p>
        </p:txBody>
      </p:sp>
      <p:sp>
        <p:nvSpPr>
          <p:cNvPr id="28" name="rect-165">
            <a:extLst xmlns:a="http://schemas.openxmlformats.org/drawingml/2006/main">
              <a:ext uri="{FF2B5EF4-FFF2-40B4-BE49-F238E27FC236}">
                <a16:creationId xmlns:a16="http://schemas.microsoft.com/office/drawing/2014/main" id="{2AEC4FF1-83BA-4868-A74F-201FB67C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11391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166">
            <a:extLst xmlns:a="http://schemas.openxmlformats.org/drawingml/2006/main">
              <a:ext uri="{FF2B5EF4-FFF2-40B4-BE49-F238E27FC236}">
                <a16:creationId xmlns:a16="http://schemas.microsoft.com/office/drawing/2014/main" id="{5A926A03-BDF6-4B89-AEB5-61F51853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238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为什么这样设计？</a:t>
            </a:r>
          </a:p>
        </p:txBody>
      </p:sp>
      <p:sp>
        <p:nvSpPr>
          <p:cNvPr id="30" name="text-167">
            <a:extLst xmlns:a="http://schemas.openxmlformats.org/drawingml/2006/main">
              <a:ext uri="{FF2B5EF4-FFF2-40B4-BE49-F238E27FC236}">
                <a16:creationId xmlns:a16="http://schemas.microsoft.com/office/drawing/2014/main" id="{7E49DA53-FD06-4F70-88B6-5591F659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1066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数据库写入一旦成功，即使瞬时推送失败，也只记录警告，不把成功业务误报成 HTTP 500；客户端重连后仍可从列表接口取回已存数据。</a:t>
            </a:r>
          </a:p>
        </p:txBody>
      </p:sp>
    </p:spTree>
    <p:extLst>
      <p:ext uri="{BB962C8B-B14F-4D97-AF65-F5344CB8AC3E}">
        <p14:creationId xmlns:p14="http://schemas.microsoft.com/office/powerpoint/2010/main" val="3212657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168">
            <a:extLst xmlns:a="http://schemas.openxmlformats.org/drawingml/2006/main">
              <a:ext uri="{FF2B5EF4-FFF2-40B4-BE49-F238E27FC236}">
                <a16:creationId xmlns:a16="http://schemas.microsoft.com/office/drawing/2014/main" id="{D4611955-D17A-4819-BCEF-457FD742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安全策略贯穿登录、权限与审计</a:t>
            </a:r>
          </a:p>
        </p:txBody>
      </p:sp>
      <p:sp>
        <p:nvSpPr>
          <p:cNvPr id="2" name="text-169">
            <a:extLst xmlns:a="http://schemas.openxmlformats.org/drawingml/2006/main">
              <a:ext uri="{FF2B5EF4-FFF2-40B4-BE49-F238E27FC236}">
                <a16:creationId xmlns:a16="http://schemas.microsoft.com/office/drawing/2014/main" id="{10828BBB-D08E-4DED-B7A1-92739ED2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70">
            <a:extLst xmlns:a="http://schemas.openxmlformats.org/drawingml/2006/main">
              <a:ext uri="{FF2B5EF4-FFF2-40B4-BE49-F238E27FC236}">
                <a16:creationId xmlns:a16="http://schemas.microsoft.com/office/drawing/2014/main" id="{1FA7A268-8DD9-4613-B2D0-0734A062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10</a:t>
            </a:r>
          </a:p>
        </p:txBody>
      </p:sp>
      <p:sp>
        <p:nvSpPr>
          <p:cNvPr id="4" name="text-171">
            <a:extLst xmlns:a="http://schemas.openxmlformats.org/drawingml/2006/main">
              <a:ext uri="{FF2B5EF4-FFF2-40B4-BE49-F238E27FC236}">
                <a16:creationId xmlns:a16="http://schemas.microsoft.com/office/drawing/2014/main" id="{A4EAC4F8-8278-4626-B4C3-B983A8D4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5" name="text-172">
            <a:extLst xmlns:a="http://schemas.openxmlformats.org/drawingml/2006/main">
              <a:ext uri="{FF2B5EF4-FFF2-40B4-BE49-F238E27FC236}">
                <a16:creationId xmlns:a16="http://schemas.microsoft.com/office/drawing/2014/main" id="{086C97FA-283C-494C-9C6D-16AEDF38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JWT 鉴权</a:t>
            </a:r>
          </a:p>
        </p:txBody>
      </p:sp>
      <p:sp>
        <p:nvSpPr>
          <p:cNvPr id="6" name="text-173">
            <a:extLst xmlns:a="http://schemas.openxmlformats.org/drawingml/2006/main">
              <a:ext uri="{FF2B5EF4-FFF2-40B4-BE49-F238E27FC236}">
                <a16:creationId xmlns:a16="http://schemas.microsoft.com/office/drawing/2014/main" id="{3DD90DA7-FBDE-43EA-9DF4-53AA1249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23812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校验 issuer、audience、有效期、签名和 jti；退出登录可撤销当前令牌。</a:t>
            </a:r>
          </a:p>
        </p:txBody>
      </p:sp>
      <p:cxnSp>
        <p:nvCxnSpPr>
          <p:cNvPr id="72" name="rule-174"/>
          <p:cNvCxnSpPr/>
          <p:nvPr/>
        </p:nvCxnSpPr>
        <p:spPr>
          <a:xfrm xmlns:a="http://schemas.openxmlformats.org/drawingml/2006/main">
            <a:off x="3028950" y="13906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8" name="text-175">
            <a:extLst xmlns:a="http://schemas.openxmlformats.org/drawingml/2006/main">
              <a:ext uri="{FF2B5EF4-FFF2-40B4-BE49-F238E27FC236}">
                <a16:creationId xmlns:a16="http://schemas.microsoft.com/office/drawing/2014/main" id="{7E1FC66E-DD40-45CD-BA9A-60F4B9FD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287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9" name="text-176">
            <a:extLst xmlns:a="http://schemas.openxmlformats.org/drawingml/2006/main">
              <a:ext uri="{FF2B5EF4-FFF2-40B4-BE49-F238E27FC236}">
                <a16:creationId xmlns:a16="http://schemas.microsoft.com/office/drawing/2014/main" id="{F20C066F-B9B3-4A6E-BF99-6F3B134B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47850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多端会话</a:t>
            </a:r>
          </a:p>
        </p:txBody>
      </p:sp>
      <p:sp>
        <p:nvSpPr>
          <p:cNvPr id="10" name="text-177">
            <a:extLst xmlns:a="http://schemas.openxmlformats.org/drawingml/2006/main">
              <a:ext uri="{FF2B5EF4-FFF2-40B4-BE49-F238E27FC236}">
                <a16:creationId xmlns:a16="http://schemas.microsoft.com/office/drawing/2014/main" id="{377ED72E-163D-4482-934A-2030C96D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76500"/>
            <a:ext cx="2381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client_type + session_version：同类型终端重新登录会让旧会话失效，不同类型终端可共存。</a:t>
            </a:r>
          </a:p>
        </p:txBody>
      </p:sp>
      <p:cxnSp>
        <p:nvCxnSpPr>
          <p:cNvPr id="76" name="rule-178"/>
          <p:cNvCxnSpPr/>
          <p:nvPr/>
        </p:nvCxnSpPr>
        <p:spPr>
          <a:xfrm xmlns:a="http://schemas.openxmlformats.org/drawingml/2006/main">
            <a:off x="5924550" y="13906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2" name="text-179">
            <a:extLst xmlns:a="http://schemas.openxmlformats.org/drawingml/2006/main">
              <a:ext uri="{FF2B5EF4-FFF2-40B4-BE49-F238E27FC236}">
                <a16:creationId xmlns:a16="http://schemas.microsoft.com/office/drawing/2014/main" id="{DB6F799E-1377-48C1-A589-C9E6C334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3" name="text-180">
            <a:extLst xmlns:a="http://schemas.openxmlformats.org/drawingml/2006/main">
              <a:ext uri="{FF2B5EF4-FFF2-40B4-BE49-F238E27FC236}">
                <a16:creationId xmlns:a16="http://schemas.microsoft.com/office/drawing/2014/main" id="{E68B5A64-91D7-4540-854A-5D138166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角色权限</a:t>
            </a:r>
          </a:p>
        </p:txBody>
      </p:sp>
      <p:sp>
        <p:nvSpPr>
          <p:cNvPr id="14" name="text-181">
            <a:extLst xmlns:a="http://schemas.openxmlformats.org/drawingml/2006/main">
              <a:ext uri="{FF2B5EF4-FFF2-40B4-BE49-F238E27FC236}">
                <a16:creationId xmlns:a16="http://schemas.microsoft.com/office/drawing/2014/main" id="{6C620AD9-DA54-423C-82FA-BD359B9D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2381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角色与 permissions[] 持久化；管理接口按身份授权，业务操作继续校验资源成员关系。</a:t>
            </a:r>
          </a:p>
        </p:txBody>
      </p:sp>
      <p:cxnSp>
        <p:nvCxnSpPr>
          <p:cNvPr id="80" name="rule-182"/>
          <p:cNvCxnSpPr/>
          <p:nvPr/>
        </p:nvCxnSpPr>
        <p:spPr>
          <a:xfrm xmlns:a="http://schemas.openxmlformats.org/drawingml/2006/main">
            <a:off x="8820150" y="13906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6" name="text-183">
            <a:extLst xmlns:a="http://schemas.openxmlformats.org/drawingml/2006/main">
              <a:ext uri="{FF2B5EF4-FFF2-40B4-BE49-F238E27FC236}">
                <a16:creationId xmlns:a16="http://schemas.microsoft.com/office/drawing/2014/main" id="{C717D05B-E048-458C-BE9B-7B9ABBD9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287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7" name="text-184">
            <a:extLst xmlns:a="http://schemas.openxmlformats.org/drawingml/2006/main">
              <a:ext uri="{FF2B5EF4-FFF2-40B4-BE49-F238E27FC236}">
                <a16:creationId xmlns:a16="http://schemas.microsoft.com/office/drawing/2014/main" id="{B3B7A997-E2AB-4156-93E1-B78EF170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47850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审计追踪</a:t>
            </a:r>
          </a:p>
        </p:txBody>
      </p:sp>
      <p:sp>
        <p:nvSpPr>
          <p:cNvPr id="18" name="text-185">
            <a:extLst xmlns:a="http://schemas.openxmlformats.org/drawingml/2006/main">
              <a:ext uri="{FF2B5EF4-FFF2-40B4-BE49-F238E27FC236}">
                <a16:creationId xmlns:a16="http://schemas.microsoft.com/office/drawing/2014/main" id="{515FBD4C-14CE-4024-8F50-82137058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76500"/>
            <a:ext cx="2381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操作日志记录关键管理动作；异常响应返回业务码与 traceId，便于定位线上问题。</a:t>
            </a:r>
          </a:p>
        </p:txBody>
      </p:sp>
      <p:sp>
        <p:nvSpPr>
          <p:cNvPr id="19" name="rect-186">
            <a:extLst xmlns:a="http://schemas.openxmlformats.org/drawingml/2006/main">
              <a:ext uri="{FF2B5EF4-FFF2-40B4-BE49-F238E27FC236}">
                <a16:creationId xmlns:a16="http://schemas.microsoft.com/office/drawing/2014/main" id="{5F3282BD-5C26-4480-827C-1001F4EF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87">
            <a:extLst xmlns:a="http://schemas.openxmlformats.org/drawingml/2006/main">
              <a:ext uri="{FF2B5EF4-FFF2-40B4-BE49-F238E27FC236}">
                <a16:creationId xmlns:a16="http://schemas.microsoft.com/office/drawing/2014/main" id="{72A2CCD8-02C4-4906-A039-CEDDC477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10934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046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安全不是只看“有没有登录页”，而是把身份、会话、权限、资源归属和追踪统一进后端请求链。</a:t>
            </a:r>
          </a:p>
        </p:txBody>
      </p:sp>
    </p:spTree>
    <p:extLst>
      <p:ext uri="{BB962C8B-B14F-4D97-AF65-F5344CB8AC3E}">
        <p14:creationId xmlns:p14="http://schemas.microsoft.com/office/powerpoint/2010/main" val="2673130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188">
            <a:extLst xmlns:a="http://schemas.openxmlformats.org/drawingml/2006/main">
              <a:ext uri="{FF2B5EF4-FFF2-40B4-BE49-F238E27FC236}">
                <a16:creationId xmlns:a16="http://schemas.microsoft.com/office/drawing/2014/main" id="{B9E04D99-EB89-4EE8-8A73-DAB11AAD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部署链路可复现、可检查、可回滚</a:t>
            </a:r>
          </a:p>
        </p:txBody>
      </p:sp>
      <p:sp>
        <p:nvSpPr>
          <p:cNvPr id="2" name="text-189">
            <a:extLst xmlns:a="http://schemas.openxmlformats.org/drawingml/2006/main">
              <a:ext uri="{FF2B5EF4-FFF2-40B4-BE49-F238E27FC236}">
                <a16:creationId xmlns:a16="http://schemas.microsoft.com/office/drawing/2014/main" id="{76042355-289B-4BE5-B7A5-D0072EAF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90">
            <a:extLst xmlns:a="http://schemas.openxmlformats.org/drawingml/2006/main">
              <a:ext uri="{FF2B5EF4-FFF2-40B4-BE49-F238E27FC236}">
                <a16:creationId xmlns:a16="http://schemas.microsoft.com/office/drawing/2014/main" id="{CC29A62C-B64F-4289-88AF-663A6B3D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11</a:t>
            </a:r>
          </a:p>
        </p:txBody>
      </p:sp>
      <p:cxnSp>
        <p:nvCxnSpPr>
          <p:cNvPr id="66" name="rule-191"/>
          <p:cNvCxnSpPr/>
          <p:nvPr/>
        </p:nvCxnSpPr>
        <p:spPr>
          <a:xfrm xmlns:a="http://schemas.openxmlformats.org/drawingml/2006/main">
            <a:off x="2667000" y="2895600"/>
            <a:ext cx="16383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cxnSp>
        <p:nvCxnSpPr>
          <p:cNvPr id="67" name="rule-192"/>
          <p:cNvCxnSpPr/>
          <p:nvPr/>
        </p:nvCxnSpPr>
        <p:spPr>
          <a:xfrm xmlns:a="http://schemas.openxmlformats.org/drawingml/2006/main">
            <a:off x="6667500" y="2495550"/>
            <a:ext cx="16002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cxnSp>
        <p:nvCxnSpPr>
          <p:cNvPr id="68" name="rule-193"/>
          <p:cNvCxnSpPr/>
          <p:nvPr/>
        </p:nvCxnSpPr>
        <p:spPr>
          <a:xfrm xmlns:a="http://schemas.openxmlformats.org/drawingml/2006/main">
            <a:off x="6667500" y="3714750"/>
            <a:ext cx="16002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sp>
        <p:nvSpPr>
          <p:cNvPr id="7" name="rect-194">
            <a:extLst xmlns:a="http://schemas.openxmlformats.org/drawingml/2006/main">
              <a:ext uri="{FF2B5EF4-FFF2-40B4-BE49-F238E27FC236}">
                <a16:creationId xmlns:a16="http://schemas.microsoft.com/office/drawing/2014/main" id="{5533296B-C31E-4DC8-8EDB-866B89A1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266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8" name="text-195">
            <a:extLst xmlns:a="http://schemas.openxmlformats.org/drawingml/2006/main">
              <a:ext uri="{FF2B5EF4-FFF2-40B4-BE49-F238E27FC236}">
                <a16:creationId xmlns:a16="http://schemas.microsoft.com/office/drawing/2014/main" id="{7F66FC1E-8347-4107-A654-D7D28A61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847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851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/ App / 小程序</a:t>
            </a:r>
          </a:p>
        </p:txBody>
      </p:sp>
      <p:sp>
        <p:nvSpPr>
          <p:cNvPr id="9" name="text-196">
            <a:extLst xmlns:a="http://schemas.openxmlformats.org/drawingml/2006/main">
              <a:ext uri="{FF2B5EF4-FFF2-40B4-BE49-F238E27FC236}">
                <a16:creationId xmlns:a16="http://schemas.microsoft.com/office/drawing/2014/main" id="{34ECA9B0-45EA-4CD9-ABAC-218B2CD0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847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HTTPS · WebSocket</a:t>
            </a:r>
          </a:p>
        </p:txBody>
      </p:sp>
      <p:sp>
        <p:nvSpPr>
          <p:cNvPr id="10" name="rect-197">
            <a:extLst xmlns:a="http://schemas.openxmlformats.org/drawingml/2006/main">
              <a:ext uri="{FF2B5EF4-FFF2-40B4-BE49-F238E27FC236}">
                <a16:creationId xmlns:a16="http://schemas.microsoft.com/office/drawing/2014/main" id="{7CE0B4EE-7AE5-438D-8C8B-EF1426EA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76450"/>
            <a:ext cx="2362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3370FF"/>
            </a:solidFill>
            <a:prstDash val="solid"/>
          </a:ln>
        </p:spPr>
      </p:sp>
      <p:sp>
        <p:nvSpPr>
          <p:cNvPr id="11" name="text-198">
            <a:extLst xmlns:a="http://schemas.openxmlformats.org/drawingml/2006/main">
              <a:ext uri="{FF2B5EF4-FFF2-40B4-BE49-F238E27FC236}">
                <a16:creationId xmlns:a16="http://schemas.microsoft.com/office/drawing/2014/main" id="{258D5391-2B95-4A24-B903-662322B9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622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Nginx</a:t>
            </a:r>
          </a:p>
        </p:txBody>
      </p:sp>
      <p:cxnSp>
        <p:nvCxnSpPr>
          <p:cNvPr id="74" name="rule-199"/>
          <p:cNvCxnSpPr/>
          <p:nvPr/>
        </p:nvCxnSpPr>
        <p:spPr>
          <a:xfrm xmlns:a="http://schemas.openxmlformats.org/drawingml/2006/main">
            <a:off x="4705350" y="2895600"/>
            <a:ext cx="15621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sp>
        <p:nvSpPr>
          <p:cNvPr id="13" name="text-200">
            <a:extLst xmlns:a="http://schemas.openxmlformats.org/drawingml/2006/main">
              <a:ext uri="{FF2B5EF4-FFF2-40B4-BE49-F238E27FC236}">
                <a16:creationId xmlns:a16="http://schemas.microsoft.com/office/drawing/2014/main" id="{68FCEA0B-6C73-4ACE-8CBE-06A28F56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81350"/>
            <a:ext cx="1866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186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ASP.NET Core API</a:t>
            </a:r>
          </a:p>
        </p:txBody>
      </p:sp>
      <p:sp>
        <p:nvSpPr>
          <p:cNvPr id="14" name="text-201">
            <a:extLst xmlns:a="http://schemas.openxmlformats.org/drawingml/2006/main">
              <a:ext uri="{FF2B5EF4-FFF2-40B4-BE49-F238E27FC236}">
                <a16:creationId xmlns:a16="http://schemas.microsoft.com/office/drawing/2014/main" id="{6BC10A63-D37C-400A-BF62-6FB86AAA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95700"/>
            <a:ext cx="1866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Docker Compose</a:t>
            </a:r>
          </a:p>
        </p:txBody>
      </p:sp>
      <p:sp>
        <p:nvSpPr>
          <p:cNvPr id="15" name="rect-202">
            <a:extLst xmlns:a="http://schemas.openxmlformats.org/drawingml/2006/main">
              <a:ext uri="{FF2B5EF4-FFF2-40B4-BE49-F238E27FC236}">
                <a16:creationId xmlns:a16="http://schemas.microsoft.com/office/drawing/2014/main" id="{2D36F7DC-5B66-41B6-9BEF-01FCC79A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76450"/>
            <a:ext cx="3524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6" name="text-203">
            <a:extLst xmlns:a="http://schemas.openxmlformats.org/drawingml/2006/main">
              <a:ext uri="{FF2B5EF4-FFF2-40B4-BE49-F238E27FC236}">
                <a16:creationId xmlns:a16="http://schemas.microsoft.com/office/drawing/2014/main" id="{6D411AC7-7126-4934-B291-242A1F81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050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PostgreSQL</a:t>
            </a:r>
          </a:p>
        </p:txBody>
      </p:sp>
      <p:sp>
        <p:nvSpPr>
          <p:cNvPr id="17" name="text-204">
            <a:extLst xmlns:a="http://schemas.openxmlformats.org/drawingml/2006/main">
              <a:ext uri="{FF2B5EF4-FFF2-40B4-BE49-F238E27FC236}">
                <a16:creationId xmlns:a16="http://schemas.microsoft.com/office/drawing/2014/main" id="{EB87578F-8601-4E74-9313-AD89ED3E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431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 + 自动重试</a:t>
            </a:r>
          </a:p>
        </p:txBody>
      </p:sp>
      <p:sp>
        <p:nvSpPr>
          <p:cNvPr id="18" name="rect-205">
            <a:extLst xmlns:a="http://schemas.openxmlformats.org/drawingml/2006/main">
              <a:ext uri="{FF2B5EF4-FFF2-40B4-BE49-F238E27FC236}">
                <a16:creationId xmlns:a16="http://schemas.microsoft.com/office/drawing/2014/main" id="{2925E67C-CC8F-474F-925B-60F99E0F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95650"/>
            <a:ext cx="3524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9" name="text-206">
            <a:extLst xmlns:a="http://schemas.openxmlformats.org/drawingml/2006/main">
              <a:ext uri="{FF2B5EF4-FFF2-40B4-BE49-F238E27FC236}">
                <a16:creationId xmlns:a16="http://schemas.microsoft.com/office/drawing/2014/main" id="{067B3B3F-273F-428B-B72F-ABDE57BB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242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MinIO / Local</a:t>
            </a:r>
          </a:p>
        </p:txBody>
      </p:sp>
      <p:sp>
        <p:nvSpPr>
          <p:cNvPr id="20" name="text-207">
            <a:extLst xmlns:a="http://schemas.openxmlformats.org/drawingml/2006/main">
              <a:ext uri="{FF2B5EF4-FFF2-40B4-BE49-F238E27FC236}">
                <a16:creationId xmlns:a16="http://schemas.microsoft.com/office/drawing/2014/main" id="{36E2E248-617C-41ED-8DD5-B2F0DC7F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623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文件存储可切换</a:t>
            </a:r>
          </a:p>
        </p:txBody>
      </p:sp>
      <p:sp>
        <p:nvSpPr>
          <p:cNvPr id="21" name="rect-208">
            <a:extLst xmlns:a="http://schemas.openxmlformats.org/drawingml/2006/main">
              <a:ext uri="{FF2B5EF4-FFF2-40B4-BE49-F238E27FC236}">
                <a16:creationId xmlns:a16="http://schemas.microsoft.com/office/drawing/2014/main" id="{E2AD0114-A2D1-4A87-9564-C03AB4F3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11391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2" name="text-209">
            <a:extLst xmlns:a="http://schemas.openxmlformats.org/drawingml/2006/main">
              <a:ext uri="{FF2B5EF4-FFF2-40B4-BE49-F238E27FC236}">
                <a16:creationId xmlns:a16="http://schemas.microsoft.com/office/drawing/2014/main" id="{7DD4A101-0FE0-46D5-B808-65F15675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健康检查</a:t>
            </a:r>
          </a:p>
        </p:txBody>
      </p:sp>
      <p:sp>
        <p:nvSpPr>
          <p:cNvPr id="23" name="text-210">
            <a:extLst xmlns:a="http://schemas.openxmlformats.org/drawingml/2006/main">
              <a:ext uri="{FF2B5EF4-FFF2-40B4-BE49-F238E27FC236}">
                <a16:creationId xmlns:a16="http://schemas.microsoft.com/office/drawing/2014/main" id="{0E7E06E2-0730-4E47-8134-FD50F057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435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/health/live 进程存活</a:t>
            </a:r>
          </a:p>
        </p:txBody>
      </p:sp>
      <p:sp>
        <p:nvSpPr>
          <p:cNvPr id="24" name="text-211">
            <a:extLst xmlns:a="http://schemas.openxmlformats.org/drawingml/2006/main">
              <a:ext uri="{FF2B5EF4-FFF2-40B4-BE49-F238E27FC236}">
                <a16:creationId xmlns:a16="http://schemas.microsoft.com/office/drawing/2014/main" id="{E5E0A421-9151-492A-8FE0-E960892C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1435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/health 数据库连通</a:t>
            </a:r>
          </a:p>
        </p:txBody>
      </p:sp>
      <p:sp>
        <p:nvSpPr>
          <p:cNvPr id="25" name="text-212">
            <a:extLst xmlns:a="http://schemas.openxmlformats.org/drawingml/2006/main">
              <a:ext uri="{FF2B5EF4-FFF2-40B4-BE49-F238E27FC236}">
                <a16:creationId xmlns:a16="http://schemas.microsoft.com/office/drawing/2014/main" id="{2D172268-EAA3-4C20-8E6E-186567BC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1435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 traceId</a:t>
            </a:r>
          </a:p>
        </p:txBody>
      </p:sp>
      <p:sp>
        <p:nvSpPr>
          <p:cNvPr id="26" name="text-213">
            <a:extLst xmlns:a="http://schemas.openxmlformats.org/drawingml/2006/main">
              <a:ext uri="{FF2B5EF4-FFF2-40B4-BE49-F238E27FC236}">
                <a16:creationId xmlns:a16="http://schemas.microsoft.com/office/drawing/2014/main" id="{260C0012-3881-4EA0-B038-DC86A830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435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WebSocket Upgrade</a:t>
            </a:r>
          </a:p>
        </p:txBody>
      </p:sp>
    </p:spTree>
    <p:extLst>
      <p:ext uri="{BB962C8B-B14F-4D97-AF65-F5344CB8AC3E}">
        <p14:creationId xmlns:p14="http://schemas.microsoft.com/office/powerpoint/2010/main" val="16000948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214">
            <a:extLst xmlns:a="http://schemas.openxmlformats.org/drawingml/2006/main">
              <a:ext uri="{FF2B5EF4-FFF2-40B4-BE49-F238E27FC236}">
                <a16:creationId xmlns:a16="http://schemas.microsoft.com/office/drawing/2014/main" id="{18BB0E8D-0790-495F-8F82-BA433E81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实际验证为完成度提供硬证据</a:t>
            </a:r>
          </a:p>
        </p:txBody>
      </p:sp>
      <p:sp>
        <p:nvSpPr>
          <p:cNvPr id="2" name="text-215">
            <a:extLst xmlns:a="http://schemas.openxmlformats.org/drawingml/2006/main">
              <a:ext uri="{FF2B5EF4-FFF2-40B4-BE49-F238E27FC236}">
                <a16:creationId xmlns:a16="http://schemas.microsoft.com/office/drawing/2014/main" id="{E538C51B-853A-4EC7-A33E-1CE5F2C7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验证日期：2026-07-19；来自 dotnet test / Vite / Gradle / uni-app 构建输出</a:t>
            </a:r>
          </a:p>
        </p:txBody>
      </p:sp>
      <p:sp>
        <p:nvSpPr>
          <p:cNvPr id="3" name="text-216">
            <a:extLst xmlns:a="http://schemas.openxmlformats.org/drawingml/2006/main">
              <a:ext uri="{FF2B5EF4-FFF2-40B4-BE49-F238E27FC236}">
                <a16:creationId xmlns:a16="http://schemas.microsoft.com/office/drawing/2014/main" id="{91588E79-51F2-40A2-85B2-1BD453C4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12</a:t>
            </a:r>
          </a:p>
        </p:txBody>
      </p:sp>
      <p:sp>
        <p:nvSpPr>
          <p:cNvPr id="4" name="text-217">
            <a:extLst xmlns:a="http://schemas.openxmlformats.org/drawingml/2006/main">
              <a:ext uri="{FF2B5EF4-FFF2-40B4-BE49-F238E27FC236}">
                <a16:creationId xmlns:a16="http://schemas.microsoft.com/office/drawing/2014/main" id="{B655B7BE-B7E7-4465-8D30-754CA552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所有数字均来自本次现场执行，不照抄旧版项目文档。</a:t>
            </a:r>
          </a:p>
        </p:txBody>
      </p:sp>
      <p:sp>
        <p:nvSpPr>
          <p:cNvPr id="5" name="rect-218">
            <a:extLst xmlns:a="http://schemas.openxmlformats.org/drawingml/2006/main">
              <a:ext uri="{FF2B5EF4-FFF2-40B4-BE49-F238E27FC236}">
                <a16:creationId xmlns:a16="http://schemas.microsoft.com/office/drawing/2014/main" id="{09BFBCD1-6C11-4598-8177-49D39D4B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6289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-219">
            <a:extLst xmlns:a="http://schemas.openxmlformats.org/drawingml/2006/main">
              <a:ext uri="{FF2B5EF4-FFF2-40B4-BE49-F238E27FC236}">
                <a16:creationId xmlns:a16="http://schemas.microsoft.com/office/drawing/2014/main" id="{EF7B2AAE-662A-4980-B45B-DF3DCEE2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6289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-220">
            <a:extLst xmlns:a="http://schemas.openxmlformats.org/drawingml/2006/main">
              <a:ext uri="{FF2B5EF4-FFF2-40B4-BE49-F238E27FC236}">
                <a16:creationId xmlns:a16="http://schemas.microsoft.com/office/drawing/2014/main" id="{D9E1971D-0400-44B6-96A7-DC980E2E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26289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-221">
            <a:extLst xmlns:a="http://schemas.openxmlformats.org/drawingml/2006/main">
              <a:ext uri="{FF2B5EF4-FFF2-40B4-BE49-F238E27FC236}">
                <a16:creationId xmlns:a16="http://schemas.microsoft.com/office/drawing/2014/main" id="{A5B0E154-CD94-4816-A3A9-CFE76D02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26479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222">
            <a:extLst xmlns:a="http://schemas.openxmlformats.org/drawingml/2006/main">
              <a:ext uri="{FF2B5EF4-FFF2-40B4-BE49-F238E27FC236}">
                <a16:creationId xmlns:a16="http://schemas.microsoft.com/office/drawing/2014/main" id="{011D1E00-015F-4840-BDE9-87CF54D0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41 / 41</a:t>
            </a:r>
          </a:p>
        </p:txBody>
      </p:sp>
      <p:sp>
        <p:nvSpPr>
          <p:cNvPr id="10" name="text-223">
            <a:extLst xmlns:a="http://schemas.openxmlformats.org/drawingml/2006/main">
              <a:ext uri="{FF2B5EF4-FFF2-40B4-BE49-F238E27FC236}">
                <a16:creationId xmlns:a16="http://schemas.microsoft.com/office/drawing/2014/main" id="{C3A5CE7C-2450-4C58-8DBD-90F52992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后端自动化测试</a:t>
            </a:r>
          </a:p>
        </p:txBody>
      </p:sp>
      <p:sp>
        <p:nvSpPr>
          <p:cNvPr id="11" name="text-224">
            <a:extLst xmlns:a="http://schemas.openxmlformats.org/drawingml/2006/main">
              <a:ext uri="{FF2B5EF4-FFF2-40B4-BE49-F238E27FC236}">
                <a16:creationId xmlns:a16="http://schemas.microsoft.com/office/drawing/2014/main" id="{79DB76A3-6728-4593-8196-7A828C02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 失败 · 0 跳过
Release 构建</a:t>
            </a:r>
          </a:p>
        </p:txBody>
      </p:sp>
      <p:sp>
        <p:nvSpPr>
          <p:cNvPr id="12" name="text-225">
            <a:extLst xmlns:a="http://schemas.openxmlformats.org/drawingml/2006/main">
              <a:ext uri="{FF2B5EF4-FFF2-40B4-BE49-F238E27FC236}">
                <a16:creationId xmlns:a16="http://schemas.microsoft.com/office/drawing/2014/main" id="{55F3A0B7-9B32-4C88-8FD8-9DF1C24E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812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635</a:t>
            </a:r>
          </a:p>
        </p:txBody>
      </p:sp>
      <p:sp>
        <p:nvSpPr>
          <p:cNvPr id="13" name="text-226">
            <a:extLst xmlns:a="http://schemas.openxmlformats.org/drawingml/2006/main">
              <a:ext uri="{FF2B5EF4-FFF2-40B4-BE49-F238E27FC236}">
                <a16:creationId xmlns:a16="http://schemas.microsoft.com/office/drawing/2014/main" id="{C3096A4A-6D7B-4503-B871-30B3829E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528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modules</a:t>
            </a:r>
          </a:p>
        </p:txBody>
      </p:sp>
      <p:sp>
        <p:nvSpPr>
          <p:cNvPr id="14" name="text-227">
            <a:extLst xmlns:a="http://schemas.openxmlformats.org/drawingml/2006/main">
              <a:ext uri="{FF2B5EF4-FFF2-40B4-BE49-F238E27FC236}">
                <a16:creationId xmlns:a16="http://schemas.microsoft.com/office/drawing/2014/main" id="{216FA259-C2F3-4FB8-9E2B-F5A5A555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4335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Vite 生产构建通过
路由级代码拆分</a:t>
            </a:r>
          </a:p>
        </p:txBody>
      </p:sp>
      <p:sp>
        <p:nvSpPr>
          <p:cNvPr id="15" name="text-228">
            <a:extLst xmlns:a="http://schemas.openxmlformats.org/drawingml/2006/main">
              <a:ext uri="{FF2B5EF4-FFF2-40B4-BE49-F238E27FC236}">
                <a16:creationId xmlns:a16="http://schemas.microsoft.com/office/drawing/2014/main" id="{1941847E-39A4-40D0-987D-2CB21D0D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2 / 2</a:t>
            </a:r>
          </a:p>
        </p:txBody>
      </p:sp>
      <p:sp>
        <p:nvSpPr>
          <p:cNvPr id="16" name="text-229">
            <a:extLst xmlns:a="http://schemas.openxmlformats.org/drawingml/2006/main">
              <a:ext uri="{FF2B5EF4-FFF2-40B4-BE49-F238E27FC236}">
                <a16:creationId xmlns:a16="http://schemas.microsoft.com/office/drawing/2014/main" id="{E858906D-0469-4803-9F40-6EE13329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528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端侧目标构建</a:t>
            </a:r>
          </a:p>
        </p:txBody>
      </p:sp>
      <p:sp>
        <p:nvSpPr>
          <p:cNvPr id="17" name="text-230">
            <a:extLst xmlns:a="http://schemas.openxmlformats.org/drawingml/2006/main">
              <a:ext uri="{FF2B5EF4-FFF2-40B4-BE49-F238E27FC236}">
                <a16:creationId xmlns:a16="http://schemas.microsoft.com/office/drawing/2014/main" id="{FAE5E010-438B-462C-9128-406BDBEE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4335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Android assembleDebug
微信小程序通过</a:t>
            </a:r>
          </a:p>
        </p:txBody>
      </p:sp>
      <p:sp>
        <p:nvSpPr>
          <p:cNvPr id="18" name="text-231">
            <a:extLst xmlns:a="http://schemas.openxmlformats.org/drawingml/2006/main">
              <a:ext uri="{FF2B5EF4-FFF2-40B4-BE49-F238E27FC236}">
                <a16:creationId xmlns:a16="http://schemas.microsoft.com/office/drawing/2014/main" id="{F0D4B5E5-303B-47EB-B2CC-FB00FFF9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812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142</a:t>
            </a:r>
          </a:p>
        </p:txBody>
      </p:sp>
      <p:sp>
        <p:nvSpPr>
          <p:cNvPr id="19" name="text-232">
            <a:extLst xmlns:a="http://schemas.openxmlformats.org/drawingml/2006/main">
              <a:ext uri="{FF2B5EF4-FFF2-40B4-BE49-F238E27FC236}">
                <a16:creationId xmlns:a16="http://schemas.microsoft.com/office/drawing/2014/main" id="{3C3F0B85-89AD-4007-8BCE-BAE4F7E3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528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HTTP actions</a:t>
            </a:r>
          </a:p>
        </p:txBody>
      </p:sp>
      <p:sp>
        <p:nvSpPr>
          <p:cNvPr id="20" name="text-233">
            <a:extLst xmlns:a="http://schemas.openxmlformats.org/drawingml/2006/main">
              <a:ext uri="{FF2B5EF4-FFF2-40B4-BE49-F238E27FC236}">
                <a16:creationId xmlns:a16="http://schemas.microsoft.com/office/drawing/2014/main" id="{B74D5262-2425-4FEE-9F52-4D1FC6EE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4335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16 控制器
36 个 DbSet</a:t>
            </a:r>
          </a:p>
        </p:txBody>
      </p:sp>
      <p:sp>
        <p:nvSpPr>
          <p:cNvPr id="21" name="text-234">
            <a:extLst xmlns:a="http://schemas.openxmlformats.org/drawingml/2006/main">
              <a:ext uri="{FF2B5EF4-FFF2-40B4-BE49-F238E27FC236}">
                <a16:creationId xmlns:a16="http://schemas.microsoft.com/office/drawing/2014/main" id="{80C7BD1D-729A-46B0-899C-491B3587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04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已知边界：Android 单元测试任务存在测试类加载失败；Web Messages 构建块约 1.64 MB。</a:t>
            </a:r>
          </a:p>
        </p:txBody>
      </p:sp>
    </p:spTree>
    <p:extLst>
      <p:ext uri="{BB962C8B-B14F-4D97-AF65-F5344CB8AC3E}">
        <p14:creationId xmlns:p14="http://schemas.microsoft.com/office/powerpoint/2010/main" val="1674231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235">
            <a:extLst xmlns:a="http://schemas.openxmlformats.org/drawingml/2006/main">
              <a:ext uri="{FF2B5EF4-FFF2-40B4-BE49-F238E27FC236}">
                <a16:creationId xmlns:a16="http://schemas.microsoft.com/office/drawing/2014/main" id="{5982B2A4-4506-4E7C-BC56-30F19EC6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4 开发 + 2 运维形成并行闭环</a:t>
            </a:r>
          </a:p>
        </p:txBody>
      </p:sp>
      <p:sp>
        <p:nvSpPr>
          <p:cNvPr id="2" name="text-236">
            <a:extLst xmlns:a="http://schemas.openxmlformats.org/drawingml/2006/main">
              <a:ext uri="{FF2B5EF4-FFF2-40B4-BE49-F238E27FC236}">
                <a16:creationId xmlns:a16="http://schemas.microsoft.com/office/drawing/2014/main" id="{0EB241EE-2DD7-4773-A780-3027ABDE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团队角色依据：项目初稿；成果描述依据：最终代码与交付物</a:t>
            </a:r>
          </a:p>
        </p:txBody>
      </p:sp>
      <p:sp>
        <p:nvSpPr>
          <p:cNvPr id="3" name="text-237">
            <a:extLst xmlns:a="http://schemas.openxmlformats.org/drawingml/2006/main">
              <a:ext uri="{FF2B5EF4-FFF2-40B4-BE49-F238E27FC236}">
                <a16:creationId xmlns:a16="http://schemas.microsoft.com/office/drawing/2014/main" id="{A204A7A9-5748-4E22-B0F6-F652749A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13</a:t>
            </a:r>
          </a:p>
        </p:txBody>
      </p:sp>
      <p:sp>
        <p:nvSpPr>
          <p:cNvPr id="4" name="rect-238">
            <a:extLst xmlns:a="http://schemas.openxmlformats.org/drawingml/2006/main">
              <a:ext uri="{FF2B5EF4-FFF2-40B4-BE49-F238E27FC236}">
                <a16:creationId xmlns:a16="http://schemas.microsoft.com/office/drawing/2014/main" id="{B635B86C-72A1-4A4E-9E78-11BAE33D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239">
            <a:extLst xmlns:a="http://schemas.openxmlformats.org/drawingml/2006/main">
              <a:ext uri="{FF2B5EF4-FFF2-40B4-BE49-F238E27FC236}">
                <a16:creationId xmlns:a16="http://schemas.microsoft.com/office/drawing/2014/main" id="{ADC31170-66C1-4594-96CE-A1EF1AE3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2724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组长 / 后端负责人</a:t>
            </a:r>
          </a:p>
        </p:txBody>
      </p:sp>
      <p:sp>
        <p:nvSpPr>
          <p:cNvPr id="6" name="text-240">
            <a:extLst xmlns:a="http://schemas.openxmlformats.org/drawingml/2006/main">
              <a:ext uri="{FF2B5EF4-FFF2-40B4-BE49-F238E27FC236}">
                <a16:creationId xmlns:a16="http://schemas.microsoft.com/office/drawing/2014/main" id="{58173930-542A-4144-92ED-8C37A065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28750"/>
            <a:ext cx="7905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拆任务 · 定接口 · 控进度 · Review · 联调兜底 · 汇报闭环</a:t>
            </a:r>
          </a:p>
        </p:txBody>
      </p:sp>
      <p:cxnSp>
        <p:nvCxnSpPr>
          <p:cNvPr id="104" name="rule-241"/>
          <p:cNvCxnSpPr/>
          <p:nvPr/>
        </p:nvCxnSpPr>
        <p:spPr>
          <a:xfrm xmlns:a="http://schemas.openxmlformats.org/drawingml/2006/main">
            <a:off x="400050" y="23812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8" name="text-242">
            <a:extLst xmlns:a="http://schemas.openxmlformats.org/drawingml/2006/main">
              <a:ext uri="{FF2B5EF4-FFF2-40B4-BE49-F238E27FC236}">
                <a16:creationId xmlns:a16="http://schemas.microsoft.com/office/drawing/2014/main" id="{292C68F7-2A89-411A-99EF-8BA5D3A6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汪炜康</a:t>
            </a:r>
          </a:p>
        </p:txBody>
      </p:sp>
      <p:sp>
        <p:nvSpPr>
          <p:cNvPr id="9" name="text-243">
            <a:extLst xmlns:a="http://schemas.openxmlformats.org/drawingml/2006/main">
              <a:ext uri="{FF2B5EF4-FFF2-40B4-BE49-F238E27FC236}">
                <a16:creationId xmlns:a16="http://schemas.microsoft.com/office/drawing/2014/main" id="{D49DCA10-6D8B-4E5E-BCDD-FA4B916A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前端负责人</a:t>
            </a:r>
          </a:p>
        </p:txBody>
      </p:sp>
      <p:sp>
        <p:nvSpPr>
          <p:cNvPr id="10" name="text-244">
            <a:extLst xmlns:a="http://schemas.openxmlformats.org/drawingml/2006/main">
              <a:ext uri="{FF2B5EF4-FFF2-40B4-BE49-F238E27FC236}">
                <a16:creationId xmlns:a16="http://schemas.microsoft.com/office/drawing/2014/main" id="{3EB0852B-05E3-4874-88B3-4051CE2D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框架、登录权限、主布局、管理后台</a:t>
            </a:r>
          </a:p>
        </p:txBody>
      </p:sp>
      <p:cxnSp>
        <p:nvCxnSpPr>
          <p:cNvPr id="108" name="rule-245"/>
          <p:cNvCxnSpPr/>
          <p:nvPr/>
        </p:nvCxnSpPr>
        <p:spPr>
          <a:xfrm xmlns:a="http://schemas.openxmlformats.org/drawingml/2006/main">
            <a:off x="2743200" y="25717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2" name="text-246">
            <a:extLst xmlns:a="http://schemas.openxmlformats.org/drawingml/2006/main">
              <a:ext uri="{FF2B5EF4-FFF2-40B4-BE49-F238E27FC236}">
                <a16:creationId xmlns:a16="http://schemas.microsoft.com/office/drawing/2014/main" id="{3623759F-9353-4337-A4E3-12C30AD3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860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黄美琪</a:t>
            </a:r>
          </a:p>
        </p:txBody>
      </p:sp>
      <p:sp>
        <p:nvSpPr>
          <p:cNvPr id="13" name="text-247">
            <a:extLst xmlns:a="http://schemas.openxmlformats.org/drawingml/2006/main">
              <a:ext uri="{FF2B5EF4-FFF2-40B4-BE49-F238E27FC236}">
                <a16:creationId xmlns:a16="http://schemas.microsoft.com/office/drawing/2014/main" id="{C9406CE0-83B2-46AA-98B6-055081CF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670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前端业务</a:t>
            </a:r>
          </a:p>
        </p:txBody>
      </p:sp>
      <p:sp>
        <p:nvSpPr>
          <p:cNvPr id="14" name="text-248">
            <a:extLst xmlns:a="http://schemas.openxmlformats.org/drawingml/2006/main">
              <a:ext uri="{FF2B5EF4-FFF2-40B4-BE49-F238E27FC236}">
                <a16:creationId xmlns:a16="http://schemas.microsoft.com/office/drawing/2014/main" id="{8F59E8E7-3CE2-4F62-B380-FFD79D63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004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IM、文档、云盘、日历、审批页面</a:t>
            </a:r>
          </a:p>
        </p:txBody>
      </p:sp>
      <p:cxnSp>
        <p:nvCxnSpPr>
          <p:cNvPr id="112" name="rule-249"/>
          <p:cNvCxnSpPr/>
          <p:nvPr/>
        </p:nvCxnSpPr>
        <p:spPr>
          <a:xfrm xmlns:a="http://schemas.openxmlformats.org/drawingml/2006/main">
            <a:off x="5353050" y="25717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6" name="text-250">
            <a:extLst xmlns:a="http://schemas.openxmlformats.org/drawingml/2006/main">
              <a:ext uri="{FF2B5EF4-FFF2-40B4-BE49-F238E27FC236}">
                <a16:creationId xmlns:a16="http://schemas.microsoft.com/office/drawing/2014/main" id="{0052CF49-8D1A-40B9-99E5-8A33DD2E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860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吴</a:t>
            </a:r>
            <a:r>
              <a:t>松青</a:t>
            </a:r>
          </a:p>
        </p:txBody>
      </p:sp>
      <p:sp>
        <p:nvSpPr>
          <p:cNvPr id="17" name="text-251">
            <a:extLst xmlns:a="http://schemas.openxmlformats.org/drawingml/2006/main">
              <a:ext uri="{FF2B5EF4-FFF2-40B4-BE49-F238E27FC236}">
                <a16:creationId xmlns:a16="http://schemas.microsoft.com/office/drawing/2014/main" id="{44779297-0F1F-4E70-903C-3F5AB74D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670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后端业务</a:t>
            </a:r>
          </a:p>
        </p:txBody>
      </p:sp>
      <p:sp>
        <p:nvSpPr>
          <p:cNvPr id="18" name="text-252">
            <a:extLst xmlns:a="http://schemas.openxmlformats.org/drawingml/2006/main">
              <a:ext uri="{FF2B5EF4-FFF2-40B4-BE49-F238E27FC236}">
                <a16:creationId xmlns:a16="http://schemas.microsoft.com/office/drawing/2014/main" id="{EF6352DB-3237-4165-A540-6BDECFF3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004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业务接口、数据模型、SignalR 逻辑</a:t>
            </a:r>
          </a:p>
        </p:txBody>
      </p:sp>
      <p:cxnSp>
        <p:nvCxnSpPr>
          <p:cNvPr id="116" name="rule-253"/>
          <p:cNvCxnSpPr/>
          <p:nvPr/>
        </p:nvCxnSpPr>
        <p:spPr>
          <a:xfrm xmlns:a="http://schemas.openxmlformats.org/drawingml/2006/main">
            <a:off x="7962900" y="25717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20" name="text-254">
            <a:extLst xmlns:a="http://schemas.openxmlformats.org/drawingml/2006/main">
              <a:ext uri="{FF2B5EF4-FFF2-40B4-BE49-F238E27FC236}">
                <a16:creationId xmlns:a16="http://schemas.microsoft.com/office/drawing/2014/main" id="{54CED43D-6C37-47EE-B281-FA754F09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成员 E</a:t>
            </a:r>
          </a:p>
        </p:txBody>
      </p:sp>
      <p:sp>
        <p:nvSpPr>
          <p:cNvPr id="21" name="text-255">
            <a:extLst xmlns:a="http://schemas.openxmlformats.org/drawingml/2006/main">
              <a:ext uri="{FF2B5EF4-FFF2-40B4-BE49-F238E27FC236}">
                <a16:creationId xmlns:a16="http://schemas.microsoft.com/office/drawing/2014/main" id="{D4BA427F-5FD7-4650-9993-C33328BF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部署与数据</a:t>
            </a:r>
          </a:p>
        </p:txBody>
      </p:sp>
      <p:sp>
        <p:nvSpPr>
          <p:cNvPr id="22" name="text-256">
            <a:extLst xmlns:a="http://schemas.openxmlformats.org/drawingml/2006/main">
              <a:ext uri="{FF2B5EF4-FFF2-40B4-BE49-F238E27FC236}">
                <a16:creationId xmlns:a16="http://schemas.microsoft.com/office/drawing/2014/main" id="{89E2BBCF-9D9F-476C-A2FA-AEF84D81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0450"/>
            <a:ext cx="1428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Docker、数据库、Nginx、演示环境</a:t>
            </a:r>
          </a:p>
        </p:txBody>
      </p:sp>
      <p:cxnSp>
        <p:nvCxnSpPr>
          <p:cNvPr id="120" name="rule-257"/>
          <p:cNvCxnSpPr/>
          <p:nvPr/>
        </p:nvCxnSpPr>
        <p:spPr>
          <a:xfrm xmlns:a="http://schemas.openxmlformats.org/drawingml/2006/main">
            <a:off x="9906000" y="25717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24" name="text-258">
            <a:extLst xmlns:a="http://schemas.openxmlformats.org/drawingml/2006/main">
              <a:ext uri="{FF2B5EF4-FFF2-40B4-BE49-F238E27FC236}">
                <a16:creationId xmlns:a16="http://schemas.microsoft.com/office/drawing/2014/main" id="{C3F1A3CF-DDC5-4D5E-8CDF-E6C8FDD6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860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成员 F</a:t>
            </a:r>
          </a:p>
        </p:txBody>
      </p:sp>
      <p:sp>
        <p:nvSpPr>
          <p:cNvPr id="25" name="text-259">
            <a:extLst xmlns:a="http://schemas.openxmlformats.org/drawingml/2006/main">
              <a:ext uri="{FF2B5EF4-FFF2-40B4-BE49-F238E27FC236}">
                <a16:creationId xmlns:a16="http://schemas.microsoft.com/office/drawing/2014/main" id="{E24E2BC6-3A7D-40F9-A2B6-94A13432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670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测试与文档</a:t>
            </a:r>
          </a:p>
        </p:txBody>
      </p:sp>
      <p:sp>
        <p:nvSpPr>
          <p:cNvPr id="26" name="text-260">
            <a:extLst xmlns:a="http://schemas.openxmlformats.org/drawingml/2006/main">
              <a:ext uri="{FF2B5EF4-FFF2-40B4-BE49-F238E27FC236}">
                <a16:creationId xmlns:a16="http://schemas.microsoft.com/office/drawing/2014/main" id="{718E96E4-22CF-4E88-937D-477150D5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600450"/>
            <a:ext cx="1428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用例、Bug、截图、验收材料</a:t>
            </a:r>
          </a:p>
        </p:txBody>
      </p:sp>
      <p:sp>
        <p:nvSpPr>
          <p:cNvPr id="27" name="rect-261">
            <a:extLst xmlns:a="http://schemas.openxmlformats.org/drawingml/2006/main">
              <a:ext uri="{FF2B5EF4-FFF2-40B4-BE49-F238E27FC236}">
                <a16:creationId xmlns:a16="http://schemas.microsoft.com/office/drawing/2014/main" id="{B69A4E74-640A-4938-B9C4-490384C6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1391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262">
            <a:extLst xmlns:a="http://schemas.openxmlformats.org/drawingml/2006/main">
              <a:ext uri="{FF2B5EF4-FFF2-40B4-BE49-F238E27FC236}">
                <a16:creationId xmlns:a16="http://schemas.microsoft.com/office/drawing/2014/main" id="{57EA05C1-5BCF-499B-B3AC-F5152C53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10934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组长的核心成果不是“写得最多”，而是让接口、人员、环境与验收在同一节奏上收敛。</a:t>
            </a:r>
          </a:p>
        </p:txBody>
      </p:sp>
    </p:spTree>
    <p:extLst>
      <p:ext uri="{BB962C8B-B14F-4D97-AF65-F5344CB8AC3E}">
        <p14:creationId xmlns:p14="http://schemas.microsoft.com/office/powerpoint/2010/main" val="17989313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263">
            <a:extLst xmlns:a="http://schemas.openxmlformats.org/drawingml/2006/main">
              <a:ext uri="{FF2B5EF4-FFF2-40B4-BE49-F238E27FC236}">
                <a16:creationId xmlns:a16="http://schemas.microsoft.com/office/drawing/2014/main" id="{DB5F53FE-A6AA-4EE1-A674-94ECE927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主动暴露边界，下一步才更可信</a:t>
            </a:r>
          </a:p>
        </p:txBody>
      </p:sp>
      <p:sp>
        <p:nvSpPr>
          <p:cNvPr id="2" name="text-264">
            <a:extLst xmlns:a="http://schemas.openxmlformats.org/drawingml/2006/main">
              <a:ext uri="{FF2B5EF4-FFF2-40B4-BE49-F238E27FC236}">
                <a16:creationId xmlns:a16="http://schemas.microsoft.com/office/drawing/2014/main" id="{CB3741FE-D00B-42F4-80C0-DA6F6F3C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265">
            <a:extLst xmlns:a="http://schemas.openxmlformats.org/drawingml/2006/main">
              <a:ext uri="{FF2B5EF4-FFF2-40B4-BE49-F238E27FC236}">
                <a16:creationId xmlns:a16="http://schemas.microsoft.com/office/drawing/2014/main" id="{EEB9B8CD-EBA8-4E8C-9539-5917DF00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14</a:t>
            </a:r>
          </a:p>
        </p:txBody>
      </p:sp>
      <p:sp>
        <p:nvSpPr>
          <p:cNvPr id="4" name="text-266">
            <a:extLst xmlns:a="http://schemas.openxmlformats.org/drawingml/2006/main">
              <a:ext uri="{FF2B5EF4-FFF2-40B4-BE49-F238E27FC236}">
                <a16:creationId xmlns:a16="http://schemas.microsoft.com/office/drawing/2014/main" id="{27CD1918-2C7F-4792-934A-D18CDF1E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当前边界</a:t>
            </a:r>
          </a:p>
        </p:txBody>
      </p:sp>
      <p:sp>
        <p:nvSpPr>
          <p:cNvPr id="5" name="text-267">
            <a:extLst xmlns:a="http://schemas.openxmlformats.org/drawingml/2006/main">
              <a:ext uri="{FF2B5EF4-FFF2-40B4-BE49-F238E27FC236}">
                <a16:creationId xmlns:a16="http://schemas.microsoft.com/office/drawing/2014/main" id="{2BF4AB64-19A1-43F5-BC5F-C39674BF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763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下一阶段</a:t>
            </a:r>
          </a:p>
        </p:txBody>
      </p:sp>
      <p:cxnSp>
        <p:nvCxnSpPr>
          <p:cNvPr id="68" name="rule-268"/>
          <p:cNvCxnSpPr/>
          <p:nvPr/>
        </p:nvCxnSpPr>
        <p:spPr>
          <a:xfrm xmlns:a="http://schemas.openxmlformats.org/drawingml/2006/main">
            <a:off x="400050" y="17907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7" name="text-269">
            <a:extLst xmlns:a="http://schemas.openxmlformats.org/drawingml/2006/main">
              <a:ext uri="{FF2B5EF4-FFF2-40B4-BE49-F238E27FC236}">
                <a16:creationId xmlns:a16="http://schemas.microsoft.com/office/drawing/2014/main" id="{836516D2-1017-48C9-882F-51143EA1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Messages 构建块约 1.64 MB</a:t>
            </a:r>
          </a:p>
        </p:txBody>
      </p:sp>
      <p:sp>
        <p:nvSpPr>
          <p:cNvPr id="8" name="text-270">
            <a:extLst xmlns:a="http://schemas.openxmlformats.org/drawingml/2006/main">
              <a:ext uri="{FF2B5EF4-FFF2-40B4-BE49-F238E27FC236}">
                <a16:creationId xmlns:a16="http://schemas.microsoft.com/office/drawing/2014/main" id="{5985D4CA-CAB2-4156-9BA4-B53C7F7C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526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472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按 Agora / 消息 / 编辑器继续懒加载与拆包</a:t>
            </a:r>
          </a:p>
        </p:txBody>
      </p:sp>
      <p:cxnSp>
        <p:nvCxnSpPr>
          <p:cNvPr id="71" name="rule-271"/>
          <p:cNvCxnSpPr/>
          <p:nvPr/>
        </p:nvCxnSpPr>
        <p:spPr>
          <a:xfrm xmlns:a="http://schemas.openxmlformats.org/drawingml/2006/main">
            <a:off x="400050" y="27241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0" name="text-272">
            <a:extLst xmlns:a="http://schemas.openxmlformats.org/drawingml/2006/main">
              <a:ext uri="{FF2B5EF4-FFF2-40B4-BE49-F238E27FC236}">
                <a16:creationId xmlns:a16="http://schemas.microsoft.com/office/drawing/2014/main" id="{EFFB295D-C3F9-48D9-9A3B-DD735401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文档支持编辑、评论与版本，但非多光标共编</a:t>
            </a:r>
          </a:p>
        </p:txBody>
      </p:sp>
      <p:sp>
        <p:nvSpPr>
          <p:cNvPr id="11" name="text-273">
            <a:extLst xmlns:a="http://schemas.openxmlformats.org/drawingml/2006/main">
              <a:ext uri="{FF2B5EF4-FFF2-40B4-BE49-F238E27FC236}">
                <a16:creationId xmlns:a16="http://schemas.microsoft.com/office/drawing/2014/main" id="{D1773205-44A9-46C9-874B-4DD5C6DA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接入 Yjs / CRDT，增加在线成员与冲突合并</a:t>
            </a:r>
          </a:p>
        </p:txBody>
      </p:sp>
      <p:cxnSp>
        <p:nvCxnSpPr>
          <p:cNvPr id="74" name="rule-274"/>
          <p:cNvCxnSpPr/>
          <p:nvPr/>
        </p:nvCxnSpPr>
        <p:spPr>
          <a:xfrm xmlns:a="http://schemas.openxmlformats.org/drawingml/2006/main">
            <a:off x="400050" y="3733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3" name="text-275">
            <a:extLst xmlns:a="http://schemas.openxmlformats.org/drawingml/2006/main">
              <a:ext uri="{FF2B5EF4-FFF2-40B4-BE49-F238E27FC236}">
                <a16:creationId xmlns:a16="http://schemas.microsoft.com/office/drawing/2014/main" id="{FB24C451-C247-47E8-8FEE-889BFCD7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Android Debug 构建通过；单元测试任务类加载失败</a:t>
            </a:r>
          </a:p>
        </p:txBody>
      </p:sp>
      <p:sp>
        <p:nvSpPr>
          <p:cNvPr id="14" name="text-276">
            <a:extLst xmlns:a="http://schemas.openxmlformats.org/drawingml/2006/main">
              <a:ext uri="{FF2B5EF4-FFF2-40B4-BE49-F238E27FC236}">
                <a16:creationId xmlns:a16="http://schemas.microsoft.com/office/drawing/2014/main" id="{BD0FF65C-9410-4E45-8B44-2F691C61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7670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修复测试执行链，补 Compose UI Test 与 Android CI</a:t>
            </a:r>
          </a:p>
        </p:txBody>
      </p:sp>
      <p:cxnSp>
        <p:nvCxnSpPr>
          <p:cNvPr id="77" name="rule-277"/>
          <p:cNvCxnSpPr/>
          <p:nvPr/>
        </p:nvCxnSpPr>
        <p:spPr>
          <a:xfrm xmlns:a="http://schemas.openxmlformats.org/drawingml/2006/main">
            <a:off x="400050" y="47434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6" name="text-278">
            <a:extLst xmlns:a="http://schemas.openxmlformats.org/drawingml/2006/main">
              <a:ext uri="{FF2B5EF4-FFF2-40B4-BE49-F238E27FC236}">
                <a16:creationId xmlns:a16="http://schemas.microsoft.com/office/drawing/2014/main" id="{B3696359-683B-4331-B172-6ED505CD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演示依赖实时后端与 WebSocket 代理</a:t>
            </a:r>
          </a:p>
        </p:txBody>
      </p:sp>
      <p:sp>
        <p:nvSpPr>
          <p:cNvPr id="17" name="text-279">
            <a:extLst xmlns:a="http://schemas.openxmlformats.org/drawingml/2006/main">
              <a:ext uri="{FF2B5EF4-FFF2-40B4-BE49-F238E27FC236}">
                <a16:creationId xmlns:a16="http://schemas.microsoft.com/office/drawing/2014/main" id="{87CA4237-4F92-4291-BCAF-7BB1D352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86350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补监控、断线重连指标、离线队列与压测</a:t>
            </a:r>
          </a:p>
        </p:txBody>
      </p:sp>
    </p:spTree>
    <p:extLst>
      <p:ext uri="{BB962C8B-B14F-4D97-AF65-F5344CB8AC3E}">
        <p14:creationId xmlns:p14="http://schemas.microsoft.com/office/powerpoint/2010/main" val="7911172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94">
            <a:extLst xmlns:a="http://schemas.openxmlformats.org/drawingml/2006/main">
              <a:ext uri="{FF2B5EF4-FFF2-40B4-BE49-F238E27FC236}">
                <a16:creationId xmlns:a16="http://schemas.microsoft.com/office/drawing/2014/main" id="{9A44811E-1528-415E-902A-73F7A4D6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桌面端与小程序延续同一套协作业务</a:t>
            </a:r>
          </a:p>
        </p:txBody>
      </p:sp>
      <p:sp>
        <p:nvSpPr>
          <p:cNvPr id="2" name="text-95">
            <a:extLst xmlns:a="http://schemas.openxmlformats.org/drawingml/2006/main">
              <a:ext uri="{FF2B5EF4-FFF2-40B4-BE49-F238E27FC236}">
                <a16:creationId xmlns:a16="http://schemas.microsoft.com/office/drawing/2014/main" id="{1DC2F089-B3D5-46D7-9572-796A8621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截图：本次实际运行；依据：Electron 复用 Web，uni-app H5 / 小程序同源</a:t>
            </a:r>
          </a:p>
        </p:txBody>
      </p:sp>
      <p:sp>
        <p:nvSpPr>
          <p:cNvPr id="3" name="text-96">
            <a:extLst xmlns:a="http://schemas.openxmlformats.org/drawingml/2006/main">
              <a:ext uri="{FF2B5EF4-FFF2-40B4-BE49-F238E27FC236}">
                <a16:creationId xmlns:a16="http://schemas.microsoft.com/office/drawing/2014/main" id="{53B5D5C0-79B8-43D5-A9C0-873913A5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15</a:t>
            </a:r>
          </a:p>
        </p:txBody>
      </p:sp>
      <p:sp>
        <p:nvSpPr>
          <p:cNvPr id="4" name="rect-97">
            <a:extLst xmlns:a="http://schemas.openxmlformats.org/drawingml/2006/main">
              <a:ext uri="{FF2B5EF4-FFF2-40B4-BE49-F238E27FC236}">
                <a16:creationId xmlns:a16="http://schemas.microsoft.com/office/drawing/2014/main" id="{8465D977-9CB7-49EB-9392-92876859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410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rect-98">
            <a:extLst xmlns:a="http://schemas.openxmlformats.org/drawingml/2006/main">
              <a:ext uri="{FF2B5EF4-FFF2-40B4-BE49-F238E27FC236}">
                <a16:creationId xmlns:a16="http://schemas.microsoft.com/office/drawing/2014/main" id="{412FB1C6-35C0-4770-9EBA-1260051C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38250"/>
            <a:ext cx="5810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6" name="text-99">
            <a:extLst xmlns:a="http://schemas.openxmlformats.org/drawingml/2006/main">
              <a:ext uri="{FF2B5EF4-FFF2-40B4-BE49-F238E27FC236}">
                <a16:creationId xmlns:a16="http://schemas.microsoft.com/office/drawing/2014/main" id="{00368409-5F8E-46AB-80CA-CADA674A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Electron 桌面端</a:t>
            </a:r>
          </a:p>
        </p:txBody>
      </p:sp>
      <p:sp>
        <p:nvSpPr>
          <p:cNvPr id="7" name="text-100">
            <a:extLst xmlns:a="http://schemas.openxmlformats.org/drawingml/2006/main">
              <a:ext uri="{FF2B5EF4-FFF2-40B4-BE49-F238E27FC236}">
                <a16:creationId xmlns:a16="http://schemas.microsoft.com/office/drawing/2014/main" id="{0711AE81-BF09-4F2E-B654-627B235F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5276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5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Electron 复用 Vue 3 界面，可打包桌面应用；登录、日历、文档与 Web 保持一致。</a:t>
            </a:r>
          </a:p>
        </p:txBody>
      </p:sp>
      <p:sp>
        <p:nvSpPr>
          <p:cNvPr id="8" name="text-101">
            <a:extLst xmlns:a="http://schemas.openxmlformats.org/drawingml/2006/main">
              <a:ext uri="{FF2B5EF4-FFF2-40B4-BE49-F238E27FC236}">
                <a16:creationId xmlns:a16="http://schemas.microsoft.com/office/drawing/2014/main" id="{841FB177-13BB-4FBF-81EB-BC5FF088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768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微信小程序</a:t>
            </a:r>
          </a:p>
        </p:txBody>
      </p:sp>
      <p:sp>
        <p:nvSpPr>
          <p:cNvPr id="9" name="text-102">
            <a:extLst xmlns:a="http://schemas.openxmlformats.org/drawingml/2006/main">
              <a:ext uri="{FF2B5EF4-FFF2-40B4-BE49-F238E27FC236}">
                <a16:creationId xmlns:a16="http://schemas.microsoft.com/office/drawing/2014/main" id="{C2D90D12-730E-4F5C-9E7A-426E5D2F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76850"/>
            <a:ext cx="5657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3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uni-app 独立实现；真实账号登录后可进入消息与工作台，共享同一套后端数据。</a:t>
            </a:r>
          </a:p>
        </p:txBody>
      </p:sp>
      <p:pic>
        <p:nvPicPr>
          <p:cNvPr id="26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daaccb2514375"/>
          <a:stretch xmlns:a="http://schemas.openxmlformats.org/drawingml/2006/main"/>
        </p:blipFill>
        <p:spPr>
          <a:xfrm xmlns:a="http://schemas.openxmlformats.org/drawingml/2006/main">
            <a:off x="560070" y="1333500"/>
            <a:ext cx="5090160" cy="3181350"/>
          </a:xfrm>
          <a:prstGeom xmlns:a="http://schemas.openxmlformats.org/drawingml/2006/main" prst="roundRect">
            <a:avLst>
              <a:gd name="adj" fmla="val 1796"/>
            </a:avLst>
          </a:prstGeom>
        </p:spPr>
      </p:pic>
      <p:pic>
        <p:nvPicPr>
          <p:cNvPr id="27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736e867334d9f"/>
          <a:stretch xmlns:a="http://schemas.openxmlformats.org/drawingml/2006/main"/>
        </p:blipFill>
        <p:spPr>
          <a:xfrm xmlns:a="http://schemas.openxmlformats.org/drawingml/2006/main">
            <a:off x="6341745" y="1333500"/>
            <a:ext cx="5090160" cy="3181350"/>
          </a:xfrm>
          <a:prstGeom xmlns:a="http://schemas.openxmlformats.org/drawingml/2006/main" prst="roundRect">
            <a:avLst>
              <a:gd name="adj" fmla="val 1796"/>
            </a:avLst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a737186b840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0070" y="1333500"/>
            <a:ext cx="5090160" cy="318135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31fd3f4ce4a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1745" y="1333500"/>
            <a:ext cx="5090160" cy="3181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5021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94">
            <a:extLst xmlns:a="http://schemas.openxmlformats.org/drawingml/2006/main">
              <a:ext uri="{FF2B5EF4-FFF2-40B4-BE49-F238E27FC236}">
                <a16:creationId xmlns:a16="http://schemas.microsoft.com/office/drawing/2014/main" id="{9A44811E-1528-415E-902A-73F7A4D6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内容协作覆盖创建、治理与回收</a:t>
            </a:r>
          </a:p>
        </p:txBody>
      </p:sp>
      <p:sp>
        <p:nvSpPr>
          <p:cNvPr id="2" name="text-95">
            <a:extLst xmlns:a="http://schemas.openxmlformats.org/drawingml/2006/main">
              <a:ext uri="{FF2B5EF4-FFF2-40B4-BE49-F238E27FC236}">
                <a16:creationId xmlns:a16="http://schemas.microsoft.com/office/drawing/2014/main" id="{1DC2F089-B3D5-46D7-9572-796A8621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截图：真实后端数据；依据：Documents / Files / Wiki 接口</a:t>
            </a:r>
          </a:p>
        </p:txBody>
      </p:sp>
      <p:sp>
        <p:nvSpPr>
          <p:cNvPr id="3" name="text-96">
            <a:extLst xmlns:a="http://schemas.openxmlformats.org/drawingml/2006/main">
              <a:ext uri="{FF2B5EF4-FFF2-40B4-BE49-F238E27FC236}">
                <a16:creationId xmlns:a16="http://schemas.microsoft.com/office/drawing/2014/main" id="{53B5D5C0-79B8-43D5-A9C0-873913A5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4" name="rect-97">
            <a:extLst xmlns:a="http://schemas.openxmlformats.org/drawingml/2006/main">
              <a:ext uri="{FF2B5EF4-FFF2-40B4-BE49-F238E27FC236}">
                <a16:creationId xmlns:a16="http://schemas.microsoft.com/office/drawing/2014/main" id="{8465D977-9CB7-49EB-9392-92876859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410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rect-98">
            <a:extLst xmlns:a="http://schemas.openxmlformats.org/drawingml/2006/main">
              <a:ext uri="{FF2B5EF4-FFF2-40B4-BE49-F238E27FC236}">
                <a16:creationId xmlns:a16="http://schemas.microsoft.com/office/drawing/2014/main" id="{412FB1C6-35C0-4770-9EBA-1260051C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38250"/>
            <a:ext cx="5810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6" name="text-99">
            <a:extLst xmlns:a="http://schemas.openxmlformats.org/drawingml/2006/main">
              <a:ext uri="{FF2B5EF4-FFF2-40B4-BE49-F238E27FC236}">
                <a16:creationId xmlns:a16="http://schemas.microsoft.com/office/drawing/2014/main" id="{00368409-5F8E-46AB-80CA-CADA674A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云文档</a:t>
            </a:r>
          </a:p>
        </p:txBody>
      </p:sp>
      <p:sp>
        <p:nvSpPr>
          <p:cNvPr id="7" name="text-100">
            <a:extLst xmlns:a="http://schemas.openxmlformats.org/drawingml/2006/main">
              <a:ext uri="{FF2B5EF4-FFF2-40B4-BE49-F238E27FC236}">
                <a16:creationId xmlns:a16="http://schemas.microsoft.com/office/drawing/2014/main" id="{0711AE81-BF09-4F2E-B654-627B235F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5276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创建与编辑、评论、版本历史、协作者、可见性、版本恢复与软删除。</a:t>
            </a:r>
          </a:p>
        </p:txBody>
      </p:sp>
      <p:sp>
        <p:nvSpPr>
          <p:cNvPr id="8" name="text-101">
            <a:extLst xmlns:a="http://schemas.openxmlformats.org/drawingml/2006/main">
              <a:ext uri="{FF2B5EF4-FFF2-40B4-BE49-F238E27FC236}">
                <a16:creationId xmlns:a16="http://schemas.microsoft.com/office/drawing/2014/main" id="{841FB177-13BB-4FBF-81EB-BC5FF088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768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云盘与知识库</a:t>
            </a:r>
          </a:p>
        </p:txBody>
      </p:sp>
      <p:sp>
        <p:nvSpPr>
          <p:cNvPr id="9" name="text-102">
            <a:extLst xmlns:a="http://schemas.openxmlformats.org/drawingml/2006/main">
              <a:ext uri="{FF2B5EF4-FFF2-40B4-BE49-F238E27FC236}">
                <a16:creationId xmlns:a16="http://schemas.microsoft.com/office/drawing/2014/main" id="{C2D90D12-730E-4F5C-9E7A-426E5D2F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76850"/>
            <a:ext cx="5657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文件夹、上传下载、预览、移动、分享、回收站；知识库支持空间、节点、成员和搜索。</a:t>
            </a:r>
          </a:p>
        </p:txBody>
      </p:sp>
      <p:pic>
        <p:nvPicPr>
          <p:cNvPr id="24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9e1dd077e475a"/>
          <a:stretch xmlns:a="http://schemas.openxmlformats.org/drawingml/2006/main"/>
        </p:blipFill>
        <p:spPr>
          <a:xfrm xmlns:a="http://schemas.openxmlformats.org/drawingml/2006/main">
            <a:off x="560070" y="1333500"/>
            <a:ext cx="5090160" cy="3181350"/>
          </a:xfrm>
          <a:prstGeom xmlns:a="http://schemas.openxmlformats.org/drawingml/2006/main" prst="roundRect">
            <a:avLst>
              <a:gd name="adj" fmla="val 1796"/>
            </a:avLst>
          </a:prstGeom>
        </p:spPr>
      </p:pic>
      <p:pic>
        <p:nvPicPr>
          <p:cNvPr id="2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b8c453391411b"/>
          <a:stretch xmlns:a="http://schemas.openxmlformats.org/drawingml/2006/main"/>
        </p:blipFill>
        <p:spPr>
          <a:xfrm xmlns:a="http://schemas.openxmlformats.org/drawingml/2006/main">
            <a:off x="6341745" y="1333500"/>
            <a:ext cx="5090160" cy="3181350"/>
          </a:xfrm>
          <a:prstGeom xmlns:a="http://schemas.openxmlformats.org/drawingml/2006/main" prst="roundRect">
            <a:avLst>
              <a:gd name="adj" fmla="val 1796"/>
            </a:avLst>
          </a:prstGeom>
        </p:spPr>
      </p:pic>
    </p:spTree>
    <p:extLst>
      <p:ext uri="{BB962C8B-B14F-4D97-AF65-F5344CB8AC3E}">
        <p14:creationId xmlns:p14="http://schemas.microsoft.com/office/powerpoint/2010/main" val="17915021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0">
            <a:extLst xmlns:a="http://schemas.openxmlformats.org/drawingml/2006/main">
              <a:ext uri="{FF2B5EF4-FFF2-40B4-BE49-F238E27FC236}">
                <a16:creationId xmlns:a16="http://schemas.microsoft.com/office/drawing/2014/main" id="{4E24A882-FC8D-4D0E-9FE7-3D0B0BBE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714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</a:t>
            </a:r>
          </a:p>
        </p:txBody>
      </p:sp>
      <p:sp>
        <p:nvSpPr>
          <p:cNvPr id="2" name="text-281">
            <a:extLst xmlns:a="http://schemas.openxmlformats.org/drawingml/2006/main">
              <a:ext uri="{FF2B5EF4-FFF2-40B4-BE49-F238E27FC236}">
                <a16:creationId xmlns:a16="http://schemas.microsoft.com/office/drawing/2014/main" id="{B9DDB418-2B8B-41E0-96DC-B0292ECA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990600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我们交付的是
可运行的协作系统</a:t>
            </a:r>
          </a:p>
        </p:txBody>
      </p:sp>
      <p:sp>
        <p:nvSpPr>
          <p:cNvPr id="3" name="text-282">
            <a:extLst xmlns:a="http://schemas.openxmlformats.org/drawingml/2006/main">
              <a:ext uri="{FF2B5EF4-FFF2-40B4-BE49-F238E27FC236}">
                <a16:creationId xmlns:a16="http://schemas.microsoft.com/office/drawing/2014/main" id="{0D71BBD1-4A7C-4036-9DD1-F6FBF9B3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多端入口</a:t>
            </a:r>
          </a:p>
        </p:txBody>
      </p:sp>
      <p:sp>
        <p:nvSpPr>
          <p:cNvPr id="4" name="text-283">
            <a:extLst xmlns:a="http://schemas.openxmlformats.org/drawingml/2006/main">
              <a:ext uri="{FF2B5EF4-FFF2-40B4-BE49-F238E27FC236}">
                <a16:creationId xmlns:a16="http://schemas.microsoft.com/office/drawing/2014/main" id="{EAF7F066-3164-4AC5-A8C8-E7A46980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957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统一数据</a:t>
            </a:r>
          </a:p>
        </p:txBody>
      </p:sp>
      <p:sp>
        <p:nvSpPr>
          <p:cNvPr id="5" name="text-284">
            <a:extLst xmlns:a="http://schemas.openxmlformats.org/drawingml/2006/main">
              <a:ext uri="{FF2B5EF4-FFF2-40B4-BE49-F238E27FC236}">
                <a16:creationId xmlns:a16="http://schemas.microsoft.com/office/drawing/2014/main" id="{03E24536-8B86-45AE-8756-17B57A08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957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工程验证</a:t>
            </a:r>
          </a:p>
        </p:txBody>
      </p:sp>
      <p:sp>
        <p:nvSpPr>
          <p:cNvPr id="6" name="text-285">
            <a:extLst xmlns:a="http://schemas.openxmlformats.org/drawingml/2006/main">
              <a:ext uri="{FF2B5EF4-FFF2-40B4-BE49-F238E27FC236}">
                <a16:creationId xmlns:a16="http://schemas.microsoft.com/office/drawing/2014/main" id="{45C62238-B126-4775-8D22-D72BCB56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清晰边界</a:t>
            </a:r>
          </a:p>
        </p:txBody>
      </p:sp>
      <p:sp>
        <p:nvSpPr>
          <p:cNvPr id="7" name="text-286">
            <a:extLst xmlns:a="http://schemas.openxmlformats.org/drawingml/2006/main">
              <a:ext uri="{FF2B5EF4-FFF2-40B4-BE49-F238E27FC236}">
                <a16:creationId xmlns:a16="http://schemas.microsoft.com/office/drawing/2014/main" id="{7E13A611-3F5C-4D16-AFA4-DDB2586D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/ 桌面 / App / 小程序</a:t>
            </a:r>
          </a:p>
        </p:txBody>
      </p:sp>
      <p:sp>
        <p:nvSpPr>
          <p:cNvPr id="8" name="text-287">
            <a:extLst xmlns:a="http://schemas.openxmlformats.org/drawingml/2006/main">
              <a:ext uri="{FF2B5EF4-FFF2-40B4-BE49-F238E27FC236}">
                <a16:creationId xmlns:a16="http://schemas.microsoft.com/office/drawing/2014/main" id="{AE9CDBF9-D602-4BE1-980F-B044C282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1485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账号、组织、消息与文件</a:t>
            </a:r>
          </a:p>
        </p:txBody>
      </p:sp>
      <p:sp>
        <p:nvSpPr>
          <p:cNvPr id="9" name="text-288">
            <a:extLst xmlns:a="http://schemas.openxmlformats.org/drawingml/2006/main">
              <a:ext uri="{FF2B5EF4-FFF2-40B4-BE49-F238E27FC236}">
                <a16:creationId xmlns:a16="http://schemas.microsoft.com/office/drawing/2014/main" id="{F38BBE2C-0A71-4F45-A4B3-85C32EAA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1485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构建、测试、部署与健康检查</a:t>
            </a:r>
          </a:p>
        </p:txBody>
      </p:sp>
      <p:sp>
        <p:nvSpPr>
          <p:cNvPr id="10" name="text-289">
            <a:extLst xmlns:a="http://schemas.openxmlformats.org/drawingml/2006/main">
              <a:ext uri="{FF2B5EF4-FFF2-40B4-BE49-F238E27FC236}">
                <a16:creationId xmlns:a16="http://schemas.microsoft.com/office/drawing/2014/main" id="{550D38C7-96C6-4317-A65E-78640ECA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148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性能、Android 测试与共编路线</a:t>
            </a:r>
          </a:p>
        </p:txBody>
      </p:sp>
      <p:sp>
        <p:nvSpPr>
          <p:cNvPr id="11" name="rect-290">
            <a:extLst xmlns:a="http://schemas.openxmlformats.org/drawingml/2006/main">
              <a:ext uri="{FF2B5EF4-FFF2-40B4-BE49-F238E27FC236}">
                <a16:creationId xmlns:a16="http://schemas.microsoft.com/office/drawing/2014/main" id="{8FBF18CF-1714-423C-8A79-CB241817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291">
            <a:extLst xmlns:a="http://schemas.openxmlformats.org/drawingml/2006/main">
              <a:ext uri="{FF2B5EF4-FFF2-40B4-BE49-F238E27FC236}">
                <a16:creationId xmlns:a16="http://schemas.microsoft.com/office/drawing/2014/main" id="{046D1D26-AAC3-4163-9100-5A46F766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10934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建议现场演示：登录 → 发群消息 → 新建文档 → 发起审批 → 查看管理后台</a:t>
            </a:r>
          </a:p>
        </p:txBody>
      </p:sp>
      <p:sp>
        <p:nvSpPr>
          <p:cNvPr id="13" name="text-292">
            <a:extLst xmlns:a="http://schemas.openxmlformats.org/drawingml/2006/main">
              <a:ext uri="{FF2B5EF4-FFF2-40B4-BE49-F238E27FC236}">
                <a16:creationId xmlns:a16="http://schemas.microsoft.com/office/drawing/2014/main" id="{B354FEFF-05C7-4FC8-BB49-096CC691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742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1291375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293">
            <a:extLst xmlns:a="http://schemas.openxmlformats.org/drawingml/2006/main">
              <a:ext uri="{FF2B5EF4-FFF2-40B4-BE49-F238E27FC236}">
                <a16:creationId xmlns:a16="http://schemas.microsoft.com/office/drawing/2014/main" id="{9FA0FDB0-0AEC-4EC8-81B9-32E493E4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答辩问题：技术选择与整体架构</a:t>
            </a:r>
          </a:p>
        </p:txBody>
      </p:sp>
      <p:sp>
        <p:nvSpPr>
          <p:cNvPr id="2" name="text-294">
            <a:extLst xmlns:a="http://schemas.openxmlformats.org/drawingml/2006/main">
              <a:ext uri="{FF2B5EF4-FFF2-40B4-BE49-F238E27FC236}">
                <a16:creationId xmlns:a16="http://schemas.microsoft.com/office/drawing/2014/main" id="{E80C4FDC-5E5B-42E2-80D7-5FCF3859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附录：建议回答请结合现场演示简洁复述</a:t>
            </a:r>
          </a:p>
        </p:txBody>
      </p:sp>
      <p:sp>
        <p:nvSpPr>
          <p:cNvPr id="3" name="text-295">
            <a:extLst xmlns:a="http://schemas.openxmlformats.org/drawingml/2006/main">
              <a:ext uri="{FF2B5EF4-FFF2-40B4-BE49-F238E27FC236}">
                <a16:creationId xmlns:a16="http://schemas.microsoft.com/office/drawing/2014/main" id="{50204393-773B-430B-A64D-BA012665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17</a:t>
            </a:r>
          </a:p>
        </p:txBody>
      </p:sp>
      <p:sp>
        <p:nvSpPr>
          <p:cNvPr id="4" name="text-296">
            <a:extLst xmlns:a="http://schemas.openxmlformats.org/drawingml/2006/main">
              <a:ext uri="{FF2B5EF4-FFF2-40B4-BE49-F238E27FC236}">
                <a16:creationId xmlns:a16="http://schemas.microsoft.com/office/drawing/2014/main" id="{C316B398-F2E3-4B43-8B37-A6093FE3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 为什么选 Vue 3 + ASP.NET Core？</a:t>
            </a:r>
          </a:p>
        </p:txBody>
      </p:sp>
      <p:sp>
        <p:nvSpPr>
          <p:cNvPr id="5" name="text-297">
            <a:extLst xmlns:a="http://schemas.openxmlformats.org/drawingml/2006/main">
              <a:ext uri="{FF2B5EF4-FFF2-40B4-BE49-F238E27FC236}">
                <a16:creationId xmlns:a16="http://schemas.microsoft.com/office/drawing/2014/main" id="{97B38FCA-4B25-45E9-8071-04C5058B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Vue 3 适合组件化多页面工作台；ASP.NET Core 8 在鉴权、EF Core、SignalR 与部署方面形成完整技术链，且与团队能力匹配。选择标准是可交付与可维护，而不是追求最潮技术。</a:t>
            </a:r>
          </a:p>
        </p:txBody>
      </p:sp>
      <p:sp>
        <p:nvSpPr>
          <p:cNvPr id="6" name="text-298">
            <a:extLst xmlns:a="http://schemas.openxmlformats.org/drawingml/2006/main">
              <a:ext uri="{FF2B5EF4-FFF2-40B4-BE49-F238E27FC236}">
                <a16:creationId xmlns:a16="http://schemas.microsoft.com/office/drawing/2014/main" id="{F731BF0A-14EA-4592-9E54-3E1B5D01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Q2 为什么没有拆成微服务？</a:t>
            </a:r>
          </a:p>
        </p:txBody>
      </p:sp>
      <p:sp>
        <p:nvSpPr>
          <p:cNvPr id="7" name="text-299">
            <a:extLst xmlns:a="http://schemas.openxmlformats.org/drawingml/2006/main">
              <a:ext uri="{FF2B5EF4-FFF2-40B4-BE49-F238E27FC236}">
                <a16:creationId xmlns:a16="http://schemas.microsoft.com/office/drawing/2014/main" id="{50B4D63E-C3FC-40BE-802F-553A8FF9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当前是实训规模，模块化单体能降低部署与联调成本。我们已按 Controller、Service、Domain、Data 分层；当团队和流量增长后，再按 IM、文档、文件拆服务更合适。</a:t>
            </a:r>
          </a:p>
        </p:txBody>
      </p:sp>
      <p:sp>
        <p:nvSpPr>
          <p:cNvPr id="8" name="text-300">
            <a:extLst xmlns:a="http://schemas.openxmlformats.org/drawingml/2006/main">
              <a:ext uri="{FF2B5EF4-FFF2-40B4-BE49-F238E27FC236}">
                <a16:creationId xmlns:a16="http://schemas.microsoft.com/office/drawing/2014/main" id="{01994F9C-0F3B-48DE-9B4F-E904A2B1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Q3 四端如何保证数据一致？</a:t>
            </a:r>
          </a:p>
        </p:txBody>
      </p:sp>
      <p:sp>
        <p:nvSpPr>
          <p:cNvPr id="9" name="text-301">
            <a:extLst xmlns:a="http://schemas.openxmlformats.org/drawingml/2006/main">
              <a:ext uri="{FF2B5EF4-FFF2-40B4-BE49-F238E27FC236}">
                <a16:creationId xmlns:a16="http://schemas.microsoft.com/office/drawing/2014/main" id="{173596A8-8CED-4F57-8C05-2F0FE756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四端不各自保存业务真相，而是共享 REST API、JWT 身份和 PostgreSQL 数据；SignalR 负责实时提示，列表接口负责恢复与最终一致。</a:t>
            </a:r>
          </a:p>
        </p:txBody>
      </p:sp>
      <p:sp>
        <p:nvSpPr>
          <p:cNvPr id="10" name="text-302">
            <a:extLst xmlns:a="http://schemas.openxmlformats.org/drawingml/2006/main">
              <a:ext uri="{FF2B5EF4-FFF2-40B4-BE49-F238E27FC236}">
                <a16:creationId xmlns:a16="http://schemas.microsoft.com/office/drawing/2014/main" id="{3062211B-7240-40FA-832D-3002B672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Q4 为什么 Android 采用原生 Compose？</a:t>
            </a:r>
          </a:p>
        </p:txBody>
      </p:sp>
      <p:sp>
        <p:nvSpPr>
          <p:cNvPr id="11" name="text-303">
            <a:extLst xmlns:a="http://schemas.openxmlformats.org/drawingml/2006/main">
              <a:ext uri="{FF2B5EF4-FFF2-40B4-BE49-F238E27FC236}">
                <a16:creationId xmlns:a16="http://schemas.microsoft.com/office/drawing/2014/main" id="{253676B9-AAC3-48A2-BFFB-FF030ABC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3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原生方案更适合相机、麦克风、生命周期和 RTC 场景。Compose 用状态驱动 UI，StateFlow 统一状态，SignalR 与 Agora 分别承担实时消息和音视频；小程序仍用 uni-app 提高交付效率。</a:t>
            </a:r>
          </a:p>
        </p:txBody>
      </p:sp>
    </p:spTree>
    <p:extLst>
      <p:ext uri="{BB962C8B-B14F-4D97-AF65-F5344CB8AC3E}">
        <p14:creationId xmlns:p14="http://schemas.microsoft.com/office/powerpoint/2010/main" val="2449239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304">
            <a:extLst xmlns:a="http://schemas.openxmlformats.org/drawingml/2006/main">
              <a:ext uri="{FF2B5EF4-FFF2-40B4-BE49-F238E27FC236}">
                <a16:creationId xmlns:a16="http://schemas.microsoft.com/office/drawing/2014/main" id="{FA15DEAD-5739-4615-941E-507F5F23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答辩问题：安全、一致性与测试</a:t>
            </a:r>
          </a:p>
        </p:txBody>
      </p:sp>
      <p:sp>
        <p:nvSpPr>
          <p:cNvPr id="2" name="text-305">
            <a:extLst xmlns:a="http://schemas.openxmlformats.org/drawingml/2006/main">
              <a:ext uri="{FF2B5EF4-FFF2-40B4-BE49-F238E27FC236}">
                <a16:creationId xmlns:a16="http://schemas.microsoft.com/office/drawing/2014/main" id="{6F449753-95AA-43BF-82C6-096EE1C9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附录：回答先讲机制，再给代码或测试证据</a:t>
            </a:r>
          </a:p>
        </p:txBody>
      </p:sp>
      <p:sp>
        <p:nvSpPr>
          <p:cNvPr id="3" name="text-306">
            <a:extLst xmlns:a="http://schemas.openxmlformats.org/drawingml/2006/main">
              <a:ext uri="{FF2B5EF4-FFF2-40B4-BE49-F238E27FC236}">
                <a16:creationId xmlns:a16="http://schemas.microsoft.com/office/drawing/2014/main" id="{849C146B-B722-4570-9193-C78670BA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18</a:t>
            </a:r>
          </a:p>
        </p:txBody>
      </p:sp>
      <p:sp>
        <p:nvSpPr>
          <p:cNvPr id="4" name="text-307">
            <a:extLst xmlns:a="http://schemas.openxmlformats.org/drawingml/2006/main">
              <a:ext uri="{FF2B5EF4-FFF2-40B4-BE49-F238E27FC236}">
                <a16:creationId xmlns:a16="http://schemas.microsoft.com/office/drawing/2014/main" id="{36053BF5-7E36-4EF5-93C9-CE0142BE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Q5 JWT 泄露或退出后怎么办？</a:t>
            </a:r>
          </a:p>
        </p:txBody>
      </p:sp>
      <p:sp>
        <p:nvSpPr>
          <p:cNvPr id="5" name="text-308">
            <a:extLst xmlns:a="http://schemas.openxmlformats.org/drawingml/2006/main">
              <a:ext uri="{FF2B5EF4-FFF2-40B4-BE49-F238E27FC236}">
                <a16:creationId xmlns:a16="http://schemas.microsoft.com/office/drawing/2014/main" id="{645361E6-ADE3-4618-A9B5-0641893F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 带 jti，后端维护撤销表；每次认证还校验客户端会话版本。退出可撤销当前令牌，同类型客户端重新登录可让旧会话失效。</a:t>
            </a:r>
          </a:p>
        </p:txBody>
      </p:sp>
      <p:sp>
        <p:nvSpPr>
          <p:cNvPr id="6" name="text-309">
            <a:extLst xmlns:a="http://schemas.openxmlformats.org/drawingml/2006/main">
              <a:ext uri="{FF2B5EF4-FFF2-40B4-BE49-F238E27FC236}">
                <a16:creationId xmlns:a16="http://schemas.microsoft.com/office/drawing/2014/main" id="{8D4652B0-58F3-48AD-8F14-34CA6775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Q6 推送失败会不会丢数据？</a:t>
            </a:r>
          </a:p>
        </p:txBody>
      </p:sp>
      <p:sp>
        <p:nvSpPr>
          <p:cNvPr id="7" name="text-310">
            <a:extLst xmlns:a="http://schemas.openxmlformats.org/drawingml/2006/main">
              <a:ext uri="{FF2B5EF4-FFF2-40B4-BE49-F238E27FC236}">
                <a16:creationId xmlns:a16="http://schemas.microsoft.com/office/drawing/2014/main" id="{17C640E4-7928-4E55-B0F7-7C3556D2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业务数据先提交数据库，再发送 SignalR。推送失败只记录警告，不把成功写入误报成失败；客户端重连后可通过列表接口恢复。</a:t>
            </a:r>
          </a:p>
        </p:txBody>
      </p:sp>
      <p:sp>
        <p:nvSpPr>
          <p:cNvPr id="8" name="text-311">
            <a:extLst xmlns:a="http://schemas.openxmlformats.org/drawingml/2006/main">
              <a:ext uri="{FF2B5EF4-FFF2-40B4-BE49-F238E27FC236}">
                <a16:creationId xmlns:a16="http://schemas.microsoft.com/office/drawing/2014/main" id="{1319111D-7F5A-45FA-8C07-9BB57BFB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Q7 如何证明项目不是只能演示？</a:t>
            </a:r>
          </a:p>
        </p:txBody>
      </p:sp>
      <p:sp>
        <p:nvSpPr>
          <p:cNvPr id="9" name="text-312">
            <a:extLst xmlns:a="http://schemas.openxmlformats.org/drawingml/2006/main">
              <a:ext uri="{FF2B5EF4-FFF2-40B4-BE49-F238E27FC236}">
                <a16:creationId xmlns:a16="http://schemas.microsoft.com/office/drawing/2014/main" id="{386C0FE9-9C54-402A-82FB-BFA8E746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本次实际执行后端 41/41 测试、Web 生产构建、Android assembleDebug 和微信小程序构建，核心交付目标通过；Android 单元测试类加载问题也被如实记录为质量边界。</a:t>
            </a:r>
          </a:p>
        </p:txBody>
      </p:sp>
      <p:sp>
        <p:nvSpPr>
          <p:cNvPr id="10" name="text-313">
            <a:extLst xmlns:a="http://schemas.openxmlformats.org/drawingml/2006/main">
              <a:ext uri="{FF2B5EF4-FFF2-40B4-BE49-F238E27FC236}">
                <a16:creationId xmlns:a16="http://schemas.microsoft.com/office/drawing/2014/main" id="{CDC792A7-682C-471E-8E4A-C8FE54D5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Q8 文件存储为什么做两套？</a:t>
            </a:r>
          </a:p>
        </p:txBody>
      </p:sp>
      <p:sp>
        <p:nvSpPr>
          <p:cNvPr id="11" name="text-314">
            <a:extLst xmlns:a="http://schemas.openxmlformats.org/drawingml/2006/main">
              <a:ext uri="{FF2B5EF4-FFF2-40B4-BE49-F238E27FC236}">
                <a16:creationId xmlns:a16="http://schemas.microsoft.com/office/drawing/2014/main" id="{28EA3FA5-BE39-4779-BDF2-F5D9BD3A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本地存储便于开发与演示，MinIO 适合服务器对象存储。它们实现同一 IFileStorageService，靠配置切换，业务控制器无需改代码。</a:t>
            </a:r>
          </a:p>
        </p:txBody>
      </p:sp>
    </p:spTree>
    <p:extLst>
      <p:ext uri="{BB962C8B-B14F-4D97-AF65-F5344CB8AC3E}">
        <p14:creationId xmlns:p14="http://schemas.microsoft.com/office/powerpoint/2010/main" val="26258891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315">
            <a:extLst xmlns:a="http://schemas.openxmlformats.org/drawingml/2006/main">
              <a:ext uri="{FF2B5EF4-FFF2-40B4-BE49-F238E27FC236}">
                <a16:creationId xmlns:a16="http://schemas.microsoft.com/office/drawing/2014/main" id="{3E6ADCC1-3709-4EFC-A784-54596F14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答辩问题：组长贡献与项目边界</a:t>
            </a:r>
          </a:p>
        </p:txBody>
      </p:sp>
      <p:sp>
        <p:nvSpPr>
          <p:cNvPr id="2" name="text-316">
            <a:extLst xmlns:a="http://schemas.openxmlformats.org/drawingml/2006/main">
              <a:ext uri="{FF2B5EF4-FFF2-40B4-BE49-F238E27FC236}">
                <a16:creationId xmlns:a16="http://schemas.microsoft.com/office/drawing/2014/main" id="{BBB4A5F6-CC0E-49CA-A622-D62BBE7E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附录：组长回答要强调决策、协调与闭环证据</a:t>
            </a:r>
          </a:p>
        </p:txBody>
      </p:sp>
      <p:sp>
        <p:nvSpPr>
          <p:cNvPr id="3" name="text-317">
            <a:extLst xmlns:a="http://schemas.openxmlformats.org/drawingml/2006/main">
              <a:ext uri="{FF2B5EF4-FFF2-40B4-BE49-F238E27FC236}">
                <a16:creationId xmlns:a16="http://schemas.microsoft.com/office/drawing/2014/main" id="{AACC53EE-72FC-4B34-BF6F-7F35171B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19</a:t>
            </a:r>
          </a:p>
        </p:txBody>
      </p:sp>
      <p:sp>
        <p:nvSpPr>
          <p:cNvPr id="4" name="text-318">
            <a:extLst xmlns:a="http://schemas.openxmlformats.org/drawingml/2006/main">
              <a:ext uri="{FF2B5EF4-FFF2-40B4-BE49-F238E27FC236}">
                <a16:creationId xmlns:a16="http://schemas.microsoft.com/office/drawing/2014/main" id="{C20E5A7F-5EC1-48C6-B936-7B6DACE0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Q9 你作为组长做了什么？</a:t>
            </a:r>
          </a:p>
        </p:txBody>
      </p:sp>
      <p:sp>
        <p:nvSpPr>
          <p:cNvPr id="5" name="text-319">
            <a:extLst xmlns:a="http://schemas.openxmlformats.org/drawingml/2006/main">
              <a:ext uri="{FF2B5EF4-FFF2-40B4-BE49-F238E27FC236}">
                <a16:creationId xmlns:a16="http://schemas.microsoft.com/office/drawing/2014/main" id="{6FFB1253-B963-48C9-AB72-83E398F2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我负责范围取舍、任务拆解、接口规范、关键后端能力、代码 Review、跨端联调、风险收敛和最终汇报。我的价值是让六个人的产出能合成一个可验收系统。</a:t>
            </a:r>
          </a:p>
        </p:txBody>
      </p:sp>
      <p:sp>
        <p:nvSpPr>
          <p:cNvPr id="6" name="text-320">
            <a:extLst xmlns:a="http://schemas.openxmlformats.org/drawingml/2006/main">
              <a:ext uri="{FF2B5EF4-FFF2-40B4-BE49-F238E27FC236}">
                <a16:creationId xmlns:a16="http://schemas.microsoft.com/office/drawing/2014/main" id="{674EBA60-D4AA-4A02-8947-1A35FFA9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Q10 最大技术难点是什么？</a:t>
            </a:r>
          </a:p>
        </p:txBody>
      </p:sp>
      <p:sp>
        <p:nvSpPr>
          <p:cNvPr id="7" name="text-321">
            <a:extLst xmlns:a="http://schemas.openxmlformats.org/drawingml/2006/main">
              <a:ext uri="{FF2B5EF4-FFF2-40B4-BE49-F238E27FC236}">
                <a16:creationId xmlns:a16="http://schemas.microsoft.com/office/drawing/2014/main" id="{16E02528-30FF-485B-9F7D-5670451C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多端实时状态最难：既要实时，又不能让瞬时网络失败破坏业务成功语义。最终采用先落库、后推送、重连再拉取的策略。</a:t>
            </a:r>
          </a:p>
        </p:txBody>
      </p:sp>
      <p:sp>
        <p:nvSpPr>
          <p:cNvPr id="8" name="text-322">
            <a:extLst xmlns:a="http://schemas.openxmlformats.org/drawingml/2006/main">
              <a:ext uri="{FF2B5EF4-FFF2-40B4-BE49-F238E27FC236}">
                <a16:creationId xmlns:a16="http://schemas.microsoft.com/office/drawing/2014/main" id="{5E98A24C-B461-47E8-B27F-FEBCCAC7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Q11 哪些功能还不完整？</a:t>
            </a:r>
          </a:p>
        </p:txBody>
      </p:sp>
      <p:sp>
        <p:nvSpPr>
          <p:cNvPr id="9" name="text-323">
            <a:extLst xmlns:a="http://schemas.openxmlformats.org/drawingml/2006/main">
              <a:ext uri="{FF2B5EF4-FFF2-40B4-BE49-F238E27FC236}">
                <a16:creationId xmlns:a16="http://schemas.microsoft.com/office/drawing/2014/main" id="{FFE8B553-8183-4A7B-AB09-369436F8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文档尚未实现 CRDT 多光标共编；Messages 包体偏大；Android 单元测试任务仍有类加载问题。Debug APK 与小程序构建已通过，以上边界都有明确改进路径。</a:t>
            </a:r>
          </a:p>
        </p:txBody>
      </p:sp>
      <p:sp>
        <p:nvSpPr>
          <p:cNvPr id="10" name="text-324">
            <a:extLst xmlns:a="http://schemas.openxmlformats.org/drawingml/2006/main">
              <a:ext uri="{FF2B5EF4-FFF2-40B4-BE49-F238E27FC236}">
                <a16:creationId xmlns:a16="http://schemas.microsoft.com/office/drawing/2014/main" id="{D3FB2B42-2CA0-4BC8-9908-B74F2DB6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Q12 如果再给一周怎么安排？</a:t>
            </a:r>
          </a:p>
        </p:txBody>
      </p:sp>
      <p:sp>
        <p:nvSpPr>
          <p:cNvPr id="11" name="text-325">
            <a:extLst xmlns:a="http://schemas.openxmlformats.org/drawingml/2006/main">
              <a:ext uri="{FF2B5EF4-FFF2-40B4-BE49-F238E27FC236}">
                <a16:creationId xmlns:a16="http://schemas.microsoft.com/office/drawing/2014/main" id="{9E775A2C-B124-48A2-990A-FD6C67E9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先修复 Android 测试执行链并接入 CI，同时拆分消息与会议包体；再接 Yjs 文档协同；最后补可观测性、离线队列与并发压测，用指标验证改进。</a:t>
            </a:r>
          </a:p>
        </p:txBody>
      </p:sp>
    </p:spTree>
    <p:extLst>
      <p:ext uri="{BB962C8B-B14F-4D97-AF65-F5344CB8AC3E}">
        <p14:creationId xmlns:p14="http://schemas.microsoft.com/office/powerpoint/2010/main" val="21057551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2026-07-20T06:19:54.8790000Z</dcterms:created>
  <dcterms:modified xsi:type="dcterms:W3CDTF">2026-07-20T06:19:54.8790000Z</dcterms:modified>
</coreProperties>
</file>