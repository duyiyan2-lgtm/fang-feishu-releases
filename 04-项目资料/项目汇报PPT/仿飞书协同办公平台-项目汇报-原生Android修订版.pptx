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e07a13f884422" /><Relationship Type="http://schemas.openxmlformats.org/officeDocument/2006/relationships/extended-properties" Target="/docProps/app.xml" Id="R4885332774704d62" /><Relationship Type="http://schemas.openxmlformats.org/officeDocument/2006/relationships/officeDocument" Target="/ppt/presentation.xml" Id="Rb6c21d71030c46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adfadc4ee4556"/>
  </p:sldMasterIdLst>
  <p:notesMasterIdLst>
    <p:notesMasterId xmlns:r="http://schemas.openxmlformats.org/officeDocument/2006/relationships" r:id="Rc1e2e7c4bc7a4b6b"/>
  </p:notesMasterIdLst>
  <p:sldIdLst>
    <p:sldId xmlns:r="http://schemas.openxmlformats.org/officeDocument/2006/relationships" id="256" r:id="Rfaea2d56d19a4c13"/>
    <p:sldId xmlns:r="http://schemas.openxmlformats.org/officeDocument/2006/relationships" id="257" r:id="R6ef705b5d736481f"/>
    <p:sldId xmlns:r="http://schemas.openxmlformats.org/officeDocument/2006/relationships" id="258" r:id="R86b57da882b64315"/>
    <p:sldId xmlns:r="http://schemas.openxmlformats.org/officeDocument/2006/relationships" id="259" r:id="Ra0909c35d3434961"/>
    <p:sldId xmlns:r="http://schemas.openxmlformats.org/officeDocument/2006/relationships" id="260" r:id="R19c897b679e145f9"/>
    <p:sldId xmlns:r="http://schemas.openxmlformats.org/officeDocument/2006/relationships" id="261" r:id="R6fc90a5cd25a4818"/>
    <p:sldId xmlns:r="http://schemas.openxmlformats.org/officeDocument/2006/relationships" id="262" r:id="Rc7b3406fd4e6484b"/>
    <p:sldId xmlns:r="http://schemas.openxmlformats.org/officeDocument/2006/relationships" id="263" r:id="R641b97fb41c04bc3"/>
    <p:sldId xmlns:r="http://schemas.openxmlformats.org/officeDocument/2006/relationships" id="264" r:id="Re1beb5f841c141c1"/>
    <p:sldId xmlns:r="http://schemas.openxmlformats.org/officeDocument/2006/relationships" id="265" r:id="Rc0bb735619be4f56"/>
    <p:sldId xmlns:r="http://schemas.openxmlformats.org/officeDocument/2006/relationships" id="266" r:id="R287ec840243a4a19"/>
    <p:sldId xmlns:r="http://schemas.openxmlformats.org/officeDocument/2006/relationships" id="267" r:id="R1201e74ad0674226"/>
    <p:sldId xmlns:r="http://schemas.openxmlformats.org/officeDocument/2006/relationships" id="268" r:id="R1478de805ec2402c"/>
    <p:sldId xmlns:r="http://schemas.openxmlformats.org/officeDocument/2006/relationships" id="269" r:id="Rb57a88a17a324557"/>
    <p:sldId xmlns:r="http://schemas.openxmlformats.org/officeDocument/2006/relationships" id="270" r:id="Ra93969a840aa4dda"/>
    <p:sldId xmlns:r="http://schemas.openxmlformats.org/officeDocument/2006/relationships" id="271" r:id="R0c0702d228fa4532"/>
    <p:sldId xmlns:r="http://schemas.openxmlformats.org/officeDocument/2006/relationships" id="272" r:id="R51cef7ff34ba4692"/>
    <p:sldId xmlns:r="http://schemas.openxmlformats.org/officeDocument/2006/relationships" id="273" r:id="R1340ce4aa09b44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13bc09dfd24d22" /><Relationship Type="http://schemas.openxmlformats.org/officeDocument/2006/relationships/slideMaster" Target="/ppt/slideMasters/slideMaster1.xml" Id="R71dadfadc4ee4556" /><Relationship Type="http://schemas.openxmlformats.org/officeDocument/2006/relationships/notesMaster" Target="/ppt/notesMasters/notesMaster1.xml" Id="Rc1e2e7c4bc7a4b6b" /><Relationship Type="http://schemas.openxmlformats.org/officeDocument/2006/relationships/presProps" Target="/ppt/presProps.xml" Id="R8d07b0f52cd04e01" /><Relationship Type="http://schemas.openxmlformats.org/officeDocument/2006/relationships/tableStyles" Target="/ppt/tableStyles.xml" Id="R4485a59961e04d23" /><Relationship Type="http://schemas.openxmlformats.org/officeDocument/2006/relationships/slide" Target="/ppt/slides/slide1.xml" Id="Rfaea2d56d19a4c13" /><Relationship Type="http://schemas.openxmlformats.org/officeDocument/2006/relationships/slide" Target="/ppt/slides/slide2.xml" Id="R6ef705b5d736481f" /><Relationship Type="http://schemas.openxmlformats.org/officeDocument/2006/relationships/slide" Target="/ppt/slides/slide3.xml" Id="R86b57da882b64315" /><Relationship Type="http://schemas.openxmlformats.org/officeDocument/2006/relationships/slide" Target="/ppt/slides/slide4.xml" Id="Ra0909c35d3434961" /><Relationship Type="http://schemas.openxmlformats.org/officeDocument/2006/relationships/slide" Target="/ppt/slides/slide5.xml" Id="R19c897b679e145f9" /><Relationship Type="http://schemas.openxmlformats.org/officeDocument/2006/relationships/slide" Target="/ppt/slides/slide6.xml" Id="R6fc90a5cd25a4818" /><Relationship Type="http://schemas.openxmlformats.org/officeDocument/2006/relationships/slide" Target="/ppt/slides/slide7.xml" Id="Rc7b3406fd4e6484b" /><Relationship Type="http://schemas.openxmlformats.org/officeDocument/2006/relationships/slide" Target="/ppt/slides/slide8.xml" Id="R641b97fb41c04bc3" /><Relationship Type="http://schemas.openxmlformats.org/officeDocument/2006/relationships/slide" Target="/ppt/slides/slide9.xml" Id="Re1beb5f841c141c1" /><Relationship Type="http://schemas.openxmlformats.org/officeDocument/2006/relationships/slide" Target="/ppt/slides/slide10.xml" Id="Rc0bb735619be4f56" /><Relationship Type="http://schemas.openxmlformats.org/officeDocument/2006/relationships/slide" Target="/ppt/slides/slide11.xml" Id="R287ec840243a4a19" /><Relationship Type="http://schemas.openxmlformats.org/officeDocument/2006/relationships/slide" Target="/ppt/slides/slide12.xml" Id="R1201e74ad0674226" /><Relationship Type="http://schemas.openxmlformats.org/officeDocument/2006/relationships/slide" Target="/ppt/slides/slide13.xml" Id="R1478de805ec2402c" /><Relationship Type="http://schemas.openxmlformats.org/officeDocument/2006/relationships/slide" Target="/ppt/slides/slide14.xml" Id="Rb57a88a17a324557" /><Relationship Type="http://schemas.openxmlformats.org/officeDocument/2006/relationships/slide" Target="/ppt/slides/slide15.xml" Id="Ra93969a840aa4dda" /><Relationship Type="http://schemas.openxmlformats.org/officeDocument/2006/relationships/slide" Target="/ppt/slides/slide16.xml" Id="R0c0702d228fa4532" /><Relationship Type="http://schemas.openxmlformats.org/officeDocument/2006/relationships/slide" Target="/ppt/slides/slide17.xml" Id="R51cef7ff34ba4692" /><Relationship Type="http://schemas.openxmlformats.org/officeDocument/2006/relationships/slide" Target="/ppt/slides/slide18.xml" Id="R1340ce4aa09b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543ca31108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3f78552a6d43e7" /><Relationship Type="http://schemas.openxmlformats.org/officeDocument/2006/relationships/notesMaster" Target="/ppt/notesMasters/notesMaster1.xml" Id="Ra42be89caecd46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37aedf153949fa" /><Relationship Type="http://schemas.openxmlformats.org/officeDocument/2006/relationships/notesMaster" Target="/ppt/notesMasters/notesMaster1.xml" Id="Rf1f3045bbc2743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6684ba3370452d" /><Relationship Type="http://schemas.openxmlformats.org/officeDocument/2006/relationships/notesMaster" Target="/ppt/notesMasters/notesMaster1.xml" Id="R1fe89079ac8748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725a5940bf42b3" /><Relationship Type="http://schemas.openxmlformats.org/officeDocument/2006/relationships/notesMaster" Target="/ppt/notesMasters/notesMaster1.xml" Id="Rff6e43edcded4f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da589ed9b94178" /><Relationship Type="http://schemas.openxmlformats.org/officeDocument/2006/relationships/notesMaster" Target="/ppt/notesMasters/notesMaster1.xml" Id="Ra701a19e2ad845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f6d3a8d6fa4f8a" /><Relationship Type="http://schemas.openxmlformats.org/officeDocument/2006/relationships/notesMaster" Target="/ppt/notesMasters/notesMaster1.xml" Id="R236d855e15e444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f08d20f434aea" /><Relationship Type="http://schemas.openxmlformats.org/officeDocument/2006/relationships/notesMaster" Target="/ppt/notesMasters/notesMaster1.xml" Id="R2f3411e43e8246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437d4bf2ae4e56" /><Relationship Type="http://schemas.openxmlformats.org/officeDocument/2006/relationships/notesMaster" Target="/ppt/notesMasters/notesMaster1.xml" Id="Rb2a551f9d4b944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5cf6262d684ddd" /><Relationship Type="http://schemas.openxmlformats.org/officeDocument/2006/relationships/notesMaster" Target="/ppt/notesMasters/notesMaster1.xml" Id="R412b9dfca5a14d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b741baecd14613" /><Relationship Type="http://schemas.openxmlformats.org/officeDocument/2006/relationships/notesMaster" Target="/ppt/notesMasters/notesMaster1.xml" Id="R11d6b08223c242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2aafbb56bc40f1" /><Relationship Type="http://schemas.openxmlformats.org/officeDocument/2006/relationships/notesMaster" Target="/ppt/notesMasters/notesMaster1.xml" Id="R2d7f5959eafa47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0a6804c0864946" /><Relationship Type="http://schemas.openxmlformats.org/officeDocument/2006/relationships/notesMaster" Target="/ppt/notesMasters/notesMaster1.xml" Id="R51c462fc951449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5ee20e81444936" /><Relationship Type="http://schemas.openxmlformats.org/officeDocument/2006/relationships/notesMaster" Target="/ppt/notesMasters/notesMaster1.xml" Id="Rf8db0b1bf09e43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829eca2a3145c9" /><Relationship Type="http://schemas.openxmlformats.org/officeDocument/2006/relationships/notesMaster" Target="/ppt/notesMasters/notesMaster1.xml" Id="Rcc2fb1d1be7749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5ef82e4b2a44b3" /><Relationship Type="http://schemas.openxmlformats.org/officeDocument/2006/relationships/notesMaster" Target="/ppt/notesMasters/notesMaster1.xml" Id="Rf623ce80b0694a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4ce98afe4545f8" /><Relationship Type="http://schemas.openxmlformats.org/officeDocument/2006/relationships/notesMaster" Target="/ppt/notesMasters/notesMaster1.xml" Id="Rb69b3eb5ed5646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e758c518a944be" /><Relationship Type="http://schemas.openxmlformats.org/officeDocument/2006/relationships/notesMaster" Target="/ppt/notesMasters/notesMaster1.xml" Id="Rd60ab5b5372c46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feea966a864c83" /><Relationship Type="http://schemas.openxmlformats.org/officeDocument/2006/relationships/notesMaster" Target="/ppt/notesMasters/notesMaster1.xml" Id="Re3a1ab38ba4c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3feaa341641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9c4decd0c4096" /><Relationship Type="http://schemas.openxmlformats.org/officeDocument/2006/relationships/slideLayout" Target="/ppt/slideLayouts/slideLayout1.xml" Id="R1ad327319f4344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d327319f4344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bea6f058e40cc" /><Relationship Type="http://schemas.openxmlformats.org/officeDocument/2006/relationships/image" Target="/ppt/media/image.png" Id="R256bbbd641714116" /><Relationship Type="http://schemas.openxmlformats.org/officeDocument/2006/relationships/notesSlide" Target="/ppt/notesSlides/notesSlide1.xml" Id="Re2abf54443574b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21d85fc8b4e49" /><Relationship Type="http://schemas.openxmlformats.org/officeDocument/2006/relationships/notesSlide" Target="/ppt/notesSlides/notesSlide2.xml" Id="R8e54677aa00b4f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5e1a41b99408f" /><Relationship Type="http://schemas.openxmlformats.org/officeDocument/2006/relationships/notesSlide" Target="/ppt/notesSlides/notesSlide3.xml" Id="R8b566a486b5d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22ce6e73f4e89" /><Relationship Type="http://schemas.openxmlformats.org/officeDocument/2006/relationships/notesSlide" Target="/ppt/notesSlides/notesSlide4.xml" Id="R254305ce642d40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5c0e7d404934" /><Relationship Type="http://schemas.openxmlformats.org/officeDocument/2006/relationships/image" Target="/ppt/media/image2.png" Id="Rca47f18700d345a9" /><Relationship Type="http://schemas.openxmlformats.org/officeDocument/2006/relationships/notesSlide" Target="/ppt/notesSlides/notesSlide5.xml" Id="Re25e8a03a4d449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9623ecf924a03" /><Relationship Type="http://schemas.openxmlformats.org/officeDocument/2006/relationships/image" Target="/ppt/media/image3.png" Id="R0e6694b0c70140ef" /><Relationship Type="http://schemas.openxmlformats.org/officeDocument/2006/relationships/image" Target="/ppt/media/image4.png" Id="R7216fe0d3e954be5" /><Relationship Type="http://schemas.openxmlformats.org/officeDocument/2006/relationships/notesSlide" Target="/ppt/notesSlides/notesSlide6.xml" Id="R601263fb2d3b4c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ef2ed14ac4a9e" /><Relationship Type="http://schemas.openxmlformats.org/officeDocument/2006/relationships/notesSlide" Target="/ppt/notesSlides/notesSlide7.xml" Id="R36587a8dc8b14e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339abc2674032" /><Relationship Type="http://schemas.openxmlformats.org/officeDocument/2006/relationships/notesSlide" Target="/ppt/notesSlides/notesSlide8.xml" Id="R5b3a51d8f6d849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5e755df524224" /><Relationship Type="http://schemas.openxmlformats.org/officeDocument/2006/relationships/notesSlide" Target="/ppt/notesSlides/notesSlide9.xml" Id="R9a4e4ee4748c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07dd973c849ee" /><Relationship Type="http://schemas.openxmlformats.org/officeDocument/2006/relationships/notesSlide" Target="/ppt/notesSlides/notesSlide10.xml" Id="R56b71bc0d3ca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38090fd5b46a6" /><Relationship Type="http://schemas.openxmlformats.org/officeDocument/2006/relationships/notesSlide" Target="/ppt/notesSlides/notesSlide11.xml" Id="R9955eec63f0142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2a48fb4334cbe" /><Relationship Type="http://schemas.openxmlformats.org/officeDocument/2006/relationships/notesSlide" Target="/ppt/notesSlides/notesSlide12.xml" Id="Rb392527b069141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2fee5fb954a15" /><Relationship Type="http://schemas.openxmlformats.org/officeDocument/2006/relationships/notesSlide" Target="/ppt/notesSlides/notesSlide13.xml" Id="Re56f7c78eca049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41db63957428c" /><Relationship Type="http://schemas.openxmlformats.org/officeDocument/2006/relationships/notesSlide" Target="/ppt/notesSlides/notesSlide14.xml" Id="Rcb7ddd8f1c5443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335c5f5cb43fc" /><Relationship Type="http://schemas.openxmlformats.org/officeDocument/2006/relationships/notesSlide" Target="/ppt/notesSlides/notesSlide15.xml" Id="R841d21c2eda847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7240e091d403a" /><Relationship Type="http://schemas.openxmlformats.org/officeDocument/2006/relationships/notesSlide" Target="/ppt/notesSlides/notesSlide16.xml" Id="R7d52705e1e874e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db466f85c4605" /><Relationship Type="http://schemas.openxmlformats.org/officeDocument/2006/relationships/notesSlide" Target="/ppt/notesSlides/notesSlide17.xml" Id="R2da6917118d34f3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9950ec24b4a0e" /><Relationship Type="http://schemas.openxmlformats.org/officeDocument/2006/relationships/notesSlide" Target="/ppt/notesSlides/notesSlide18.xml" Id="R61cc1fda05ec4f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-1">
            <a:extLst xmlns:a="http://schemas.openxmlformats.org/drawingml/2006/main">
              <a:ext uri="{FF2B5EF4-FFF2-40B4-BE49-F238E27FC236}">
                <a16:creationId xmlns:a16="http://schemas.microsoft.com/office/drawing/2014/main" id="{71494147-2F1E-4259-BF12-77437F51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"/>
            <a:ext cx="5638800" cy="613410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B5843C7-A0F3-45E2-9D06-BABD9356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FANG FEISHU · PROJECT REPORT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8B4D0B4-4448-41A6-8EF4-8BA372C0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52197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仿飞书协同
办公平台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9473874-F4A3-4F08-A87B-B49DC69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多端一体化协作工作台</a:t>
            </a:r>
          </a:p>
        </p:txBody>
      </p:sp>
      <p:cxnSp>
        <p:nvCxnSpPr>
          <p:cNvPr id="14" name="rule-5"/>
          <p:cNvCxnSpPr/>
          <p:nvPr/>
        </p:nvCxnSpPr>
        <p:spPr>
          <a:xfrm xmlns:a="http://schemas.openxmlformats.org/drawingml/2006/main">
            <a:off x="400050" y="44767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370FF"/>
            </a:solidFill>
            <a:prstDash val="solid"/>
          </a:ln>
        </p:spPr>
      </p:cxn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7BDAC6B-3DA6-4F36-AE7F-F84F5340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项目组长汇报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C89FF4A-965A-486A-9631-5C2E96B2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Web · Desktop · Android · WeChat Mini Program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430E321-66FF-4DBD-80D0-0B712009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2026.07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bbbd641714116"/>
          <a:srcRect xmlns:a="http://schemas.openxmlformats.org/drawingml/2006/main" l="21388" t="0" r="21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95300"/>
            <a:ext cx="5372100" cy="5867400"/>
          </a:xfrm>
          <a:prstGeom xmlns:a="http://schemas.openxmlformats.org/drawingml/2006/main" prst="roundRect">
            <a:avLst>
              <a:gd name="adj" fmla="val 1064"/>
            </a:avLst>
          </a:prstGeom>
        </p:spPr>
      </p:pic>
    </p:spTree>
    <p:extLst>
      <p:ext uri="{BB962C8B-B14F-4D97-AF65-F5344CB8AC3E}">
        <p14:creationId xmlns:p14="http://schemas.microsoft.com/office/powerpoint/2010/main" val="1079526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9">
            <a:extLst xmlns:a="http://schemas.openxmlformats.org/drawingml/2006/main">
              <a:ext uri="{FF2B5EF4-FFF2-40B4-BE49-F238E27FC236}">
                <a16:creationId xmlns:a16="http://schemas.microsoft.com/office/drawing/2014/main" id="{9E2DB8E9-2CCC-4DD5-9FF6-F8032C8F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10 天 MVP 最终形成多端交付闭环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A98D5558-5C1D-48D1-AA5B-A9B62A96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FAFE437F-F6ED-482E-8839-93427740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89461607-6E9F-44CD-9DD8-409BFDF2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最初目标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672C4273-6782-4D24-931D-A9AB714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做出可演示的仿飞书核心流程</a:t>
            </a:r>
          </a:p>
        </p:txBody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5F873884-0105-4372-98A8-0FFA49EA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573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最终结果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AF2ABCD0-4EB0-4234-8F49-F9E59F41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形成共享后端的四端协作系统</a:t>
            </a:r>
          </a:p>
        </p:txBody>
      </p:sp>
      <p:cxnSp>
        <p:nvCxnSpPr>
          <p:cNvPr id="32" name="rule-16"/>
          <p:cNvCxnSpPr/>
          <p:nvPr/>
        </p:nvCxnSpPr>
        <p:spPr>
          <a:xfrm xmlns:a="http://schemas.openxmlformats.org/drawingml/2006/main">
            <a:off x="400050" y="24765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20743884-D4B2-451F-9EEA-1549667B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D37DB3C8-AC8C-4D5E-9801-2047030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24</a:t>
            </a:r>
          </a:p>
        </p:txBody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99CE476D-41EE-4B89-89D8-72B779C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路由声明
核心业务主端</a:t>
            </a:r>
          </a:p>
        </p:txBody>
      </p:sp>
      <p:cxnSp>
        <p:nvCxnSpPr>
          <p:cNvPr id="36" name="rule-20"/>
          <p:cNvCxnSpPr/>
          <p:nvPr/>
        </p:nvCxnSpPr>
        <p:spPr>
          <a:xfrm xmlns:a="http://schemas.openxmlformats.org/drawingml/2006/main">
            <a:off x="3048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AD02755D-539C-4747-AD9A-960E0977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DESKTOP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BDE1AED4-57D2-419E-B4B8-CE2BD56E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0.4.0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BB23AF3F-7551-4FD2-B49F-02364924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复用 Web
可打包桌面应用</a:t>
            </a:r>
          </a:p>
        </p:txBody>
      </p:sp>
      <p:cxnSp>
        <p:nvCxnSpPr>
          <p:cNvPr id="40" name="rule-24"/>
          <p:cNvCxnSpPr/>
          <p:nvPr/>
        </p:nvCxnSpPr>
        <p:spPr>
          <a:xfrm xmlns:a="http://schemas.openxmlformats.org/drawingml/2006/main">
            <a:off x="59055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CE7AF3B1-61E5-42D5-91E6-ED5471E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55976BD0-1C81-4E6F-9D67-7190ECDE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NATIVE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C2280F07-D1B4-4467-89CF-66DEDDC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Compose
Debug APK 构建通过</a:t>
            </a:r>
          </a:p>
        </p:txBody>
      </p:sp>
      <p:cxnSp>
        <p:nvCxnSpPr>
          <p:cNvPr id="44" name="rule-28"/>
          <p:cNvCxnSpPr/>
          <p:nvPr/>
        </p:nvCxnSpPr>
        <p:spPr>
          <a:xfrm xmlns:a="http://schemas.openxmlformats.org/drawingml/2006/main">
            <a:off x="8763000" y="289560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1F544496-266C-48C3-8C64-33D3A0C6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MINI PROGRAM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253832B9-C167-46EF-B80E-5795AADB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PASS</a:t>
            </a:r>
          </a:p>
        </p:txBody>
      </p:sp>
      <p:sp>
        <p:nvSpPr>
          <p:cNvPr id="23" name="text-31">
            <a:extLst xmlns:a="http://schemas.openxmlformats.org/drawingml/2006/main">
              <a:ext uri="{FF2B5EF4-FFF2-40B4-BE49-F238E27FC236}">
                <a16:creationId xmlns:a16="http://schemas.microsoft.com/office/drawing/2014/main" id="{B05F4E06-008D-4FE8-BE38-5BC4433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571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
生产构建通过</a:t>
            </a:r>
          </a:p>
        </p:txBody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3F618E0A-F390-4AB0-8024-065019AF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76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结论：交付重点已从“页面数量”转向“多端共用数据与工程闭环”。</a:t>
            </a:r>
          </a:p>
        </p:txBody>
      </p:sp>
    </p:spTree>
    <p:extLst>
      <p:ext uri="{BB962C8B-B14F-4D97-AF65-F5344CB8AC3E}">
        <p14:creationId xmlns:p14="http://schemas.microsoft.com/office/powerpoint/2010/main" val="2126883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3">
            <a:extLst xmlns:a="http://schemas.openxmlformats.org/drawingml/2006/main">
              <a:ext uri="{FF2B5EF4-FFF2-40B4-BE49-F238E27FC236}">
                <a16:creationId xmlns:a16="http://schemas.microsoft.com/office/drawing/2014/main" id="{FA7F1F5E-B7FD-4845-B14F-039B7DA8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一个账号、一套 API 连接四类客户端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DD46EE56-B777-4041-8243-ECCA82B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7E3F0E33-CF09-4FB5-B534-2A0C0D68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cxnSp>
        <p:nvCxnSpPr>
          <p:cNvPr id="34" name="rule-36"/>
          <p:cNvCxnSpPr/>
          <p:nvPr/>
        </p:nvCxnSpPr>
        <p:spPr>
          <a:xfrm xmlns:a="http://schemas.openxmlformats.org/drawingml/2006/main">
            <a:off x="2381250" y="19431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5" name="rule-37"/>
          <p:cNvCxnSpPr/>
          <p:nvPr/>
        </p:nvCxnSpPr>
        <p:spPr>
          <a:xfrm xmlns:a="http://schemas.openxmlformats.org/drawingml/2006/main">
            <a:off x="2381250" y="28003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6" name="rule-38"/>
          <p:cNvCxnSpPr/>
          <p:nvPr/>
        </p:nvCxnSpPr>
        <p:spPr>
          <a:xfrm xmlns:a="http://schemas.openxmlformats.org/drawingml/2006/main">
            <a:off x="2381250" y="365760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7" name="rule-39"/>
          <p:cNvCxnSpPr/>
          <p:nvPr/>
        </p:nvCxnSpPr>
        <p:spPr>
          <a:xfrm xmlns:a="http://schemas.openxmlformats.org/drawingml/2006/main">
            <a:off x="2381250" y="4514850"/>
            <a:ext cx="27813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8" name="rule-40"/>
          <p:cNvCxnSpPr/>
          <p:nvPr/>
        </p:nvCxnSpPr>
        <p:spPr>
          <a:xfrm xmlns:a="http://schemas.openxmlformats.org/drawingml/2006/main">
            <a:off x="7219950" y="28003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39" name="rule-41"/>
          <p:cNvCxnSpPr/>
          <p:nvPr/>
        </p:nvCxnSpPr>
        <p:spPr>
          <a:xfrm xmlns:a="http://schemas.openxmlformats.org/drawingml/2006/main">
            <a:off x="7219950" y="365760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cxnSp>
        <p:nvCxnSpPr>
          <p:cNvPr id="40" name="rule-42"/>
          <p:cNvCxnSpPr/>
          <p:nvPr/>
        </p:nvCxnSpPr>
        <p:spPr>
          <a:xfrm xmlns:a="http://schemas.openxmlformats.org/drawingml/2006/main">
            <a:off x="7219950" y="4514850"/>
            <a:ext cx="1752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1" name="rect-43">
            <a:extLst xmlns:a="http://schemas.openxmlformats.org/drawingml/2006/main">
              <a:ext uri="{FF2B5EF4-FFF2-40B4-BE49-F238E27FC236}">
                <a16:creationId xmlns:a16="http://schemas.microsoft.com/office/drawing/2014/main" id="{02AD5013-C6CD-42A0-B8E9-5DBB3F1B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2" name="rect-44">
            <a:extLst xmlns:a="http://schemas.openxmlformats.org/drawingml/2006/main">
              <a:ext uri="{FF2B5EF4-FFF2-40B4-BE49-F238E27FC236}">
                <a16:creationId xmlns:a16="http://schemas.microsoft.com/office/drawing/2014/main" id="{F2CF0857-97FC-4333-999D-0FB596F9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3" name="rect-45">
            <a:extLst xmlns:a="http://schemas.openxmlformats.org/drawingml/2006/main">
              <a:ext uri="{FF2B5EF4-FFF2-40B4-BE49-F238E27FC236}">
                <a16:creationId xmlns:a16="http://schemas.microsoft.com/office/drawing/2014/main" id="{D1FBFD6C-BD9D-4953-A732-C805A491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4" name="rect-46">
            <a:extLst xmlns:a="http://schemas.openxmlformats.org/drawingml/2006/main">
              <a:ext uri="{FF2B5EF4-FFF2-40B4-BE49-F238E27FC236}">
                <a16:creationId xmlns:a16="http://schemas.microsoft.com/office/drawing/2014/main" id="{D2EE917A-533F-42E4-BDA8-0B4D187B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981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5" name="text-47">
            <a:extLst xmlns:a="http://schemas.openxmlformats.org/drawingml/2006/main">
              <a:ext uri="{FF2B5EF4-FFF2-40B4-BE49-F238E27FC236}">
                <a16:creationId xmlns:a16="http://schemas.microsoft.com/office/drawing/2014/main" id="{DCB8B98A-8FBF-4D3D-9F4B-7A84E940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</a:t>
            </a:r>
          </a:p>
        </p:txBody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6ADA3587-7ADE-4224-9E31-FBE933F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Electron 桌面端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DB6695AA-49CA-435F-95C0-A834746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BFC2E437-BD7C-4BC7-98E7-87FBE742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</a:t>
            </a:r>
          </a:p>
        </p:txBody>
      </p:sp>
      <p:sp>
        <p:nvSpPr>
          <p:cNvPr id="19" name="rect-51">
            <a:extLst xmlns:a="http://schemas.openxmlformats.org/drawingml/2006/main">
              <a:ext uri="{FF2B5EF4-FFF2-40B4-BE49-F238E27FC236}">
                <a16:creationId xmlns:a16="http://schemas.microsoft.com/office/drawing/2014/main" id="{DB190B1F-DA7D-420C-AD79-33EC3EE5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574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4B951773-A35A-420F-ADAD-756751E0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1409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51" name="rule-53"/>
          <p:cNvCxnSpPr/>
          <p:nvPr/>
        </p:nvCxnSpPr>
        <p:spPr>
          <a:xfrm xmlns:a="http://schemas.openxmlformats.org/drawingml/2006/main">
            <a:off x="5505450" y="3009900"/>
            <a:ext cx="13716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65658ABD-D7BF-422A-AE8F-FA9D30F8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7816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
REST API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3D0D0E4D-A823-4EE4-A018-0815F82A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00550"/>
            <a:ext cx="152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· Swagger
SignalR Hub</a:t>
            </a:r>
          </a:p>
        </p:txBody>
      </p:sp>
      <p:sp>
        <p:nvSpPr>
          <p:cNvPr id="24" name="rect-56">
            <a:extLst xmlns:a="http://schemas.openxmlformats.org/drawingml/2006/main">
              <a:ext uri="{FF2B5EF4-FFF2-40B4-BE49-F238E27FC236}">
                <a16:creationId xmlns:a16="http://schemas.microsoft.com/office/drawing/2014/main" id="{D28CBA4B-71C1-4E84-9709-94796F04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5" name="rect-57">
            <a:extLst xmlns:a="http://schemas.openxmlformats.org/drawingml/2006/main">
              <a:ext uri="{FF2B5EF4-FFF2-40B4-BE49-F238E27FC236}">
                <a16:creationId xmlns:a16="http://schemas.microsoft.com/office/drawing/2014/main" id="{8E83D1D3-BF17-4E81-895F-B6DEA8DC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6" name="rect-58">
            <a:extLst xmlns:a="http://schemas.openxmlformats.org/drawingml/2006/main">
              <a:ext uri="{FF2B5EF4-FFF2-40B4-BE49-F238E27FC236}">
                <a16:creationId xmlns:a16="http://schemas.microsoft.com/office/drawing/2014/main" id="{A1C8BE26-C31E-4427-A4F4-2518C4FD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33850"/>
            <a:ext cx="2819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7" name="text-59">
            <a:extLst xmlns:a="http://schemas.openxmlformats.org/drawingml/2006/main">
              <a:ext uri="{FF2B5EF4-FFF2-40B4-BE49-F238E27FC236}">
                <a16:creationId xmlns:a16="http://schemas.microsoft.com/office/drawing/2014/main" id="{CF0847EB-159D-469E-840E-8A2E669C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908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 · 业务数据</a:t>
            </a:r>
          </a:p>
        </p:txBody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79FDDEE8-9195-414F-B8EA-92FACF6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 · 文件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75279104-0785-479C-8DC6-780FDAD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0530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/ Agora · 实时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A11E65BD-C705-4287-A4B3-D62233A2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区分终端会话；所有终端共享同一用户、组织与业务数据模型。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439371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E7DB5872-FEF9-4C58-BDDE-4B25AE6F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四条主线覆盖完整协作场景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C6F77F4B-5712-46F3-B20C-6CDFBCB3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781CB246-309F-42AE-A861-74BC9D2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cxnSp>
        <p:nvCxnSpPr>
          <p:cNvPr id="24" name="rule-66"/>
          <p:cNvCxnSpPr/>
          <p:nvPr/>
        </p:nvCxnSpPr>
        <p:spPr>
          <a:xfrm xmlns:a="http://schemas.openxmlformats.org/drawingml/2006/main">
            <a:off x="30289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25" name="rule-67"/>
          <p:cNvCxnSpPr/>
          <p:nvPr/>
        </p:nvCxnSpPr>
        <p:spPr>
          <a:xfrm xmlns:a="http://schemas.openxmlformats.org/drawingml/2006/main">
            <a:off x="59245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cxnSp>
        <p:nvCxnSpPr>
          <p:cNvPr id="26" name="rule-68"/>
          <p:cNvCxnSpPr/>
          <p:nvPr/>
        </p:nvCxnSpPr>
        <p:spPr>
          <a:xfrm xmlns:a="http://schemas.openxmlformats.org/drawingml/2006/main">
            <a:off x="8820150" y="14668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04166973-8A6D-4E11-9FEE-EB1C3476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A874C4D3-CDED-4A13-B747-D9C8F4F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沟通协作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E0AAD2BA-3AFD-4592-B8C1-02A83208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 / 群聊 / @成员
• 撤回、已读、搜索
• 好友与通知中心
• 视频会议与会中聊天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1E92514A-C737-4C69-85ED-3064E71B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537B5D4A-AECF-4664-ACD7-0B33FA08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</a:t>
            </a:r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8986DE8E-0472-42DD-8542-0524480B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富文本云文档
• 评论、版本、协作者
• 云盘、文件夹、回收站
• 知识库空间与节点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DB59685C-8598-44B5-ADD5-D8027288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3668F3AD-DC5B-4813-B64A-7CB79D41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流程协作</a:t>
            </a:r>
          </a:p>
        </p:txBody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EBE32DB6-F046-4A3F-91DB-2ABD3EF0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月 / 周 / 日历
• 忙闲与参会回执
• 审批模板与实例
• 任务状态闭环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DA862B32-AC7E-4ED7-AD13-B908863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85900"/>
            <a:ext cx="66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BF87ECDE-62BE-4B6A-9925-3A3FA63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621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组织治理</a:t>
            </a:r>
          </a:p>
        </p:txBody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34986142-B0AA-40A1-B328-240BF8C4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241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通讯录与部门树
• 用户、角色与权限
• 数据字典
• 操作日志与个人资料</a:t>
            </a:r>
          </a:p>
        </p:txBody>
      </p:sp>
      <p:sp>
        <p:nvSpPr>
          <p:cNvPr id="19" name="rect-81">
            <a:extLst xmlns:a="http://schemas.openxmlformats.org/drawingml/2006/main">
              <a:ext uri="{FF2B5EF4-FFF2-40B4-BE49-F238E27FC236}">
                <a16:creationId xmlns:a16="http://schemas.microsoft.com/office/drawing/2014/main" id="{2CE8EE43-38B8-4699-BF94-79616523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2">
            <a:extLst xmlns:a="http://schemas.openxmlformats.org/drawingml/2006/main">
              <a:ext uri="{FF2B5EF4-FFF2-40B4-BE49-F238E27FC236}">
                <a16:creationId xmlns:a16="http://schemas.microsoft.com/office/drawing/2014/main" id="{D05DE41D-9C6A-4C04-B4F3-EF3237E9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核心价值：用户不必在多套系统间切换，沟通、内容与流程可以在同一工作台连续完成。</a:t>
            </a:r>
          </a:p>
        </p:txBody>
      </p:sp>
    </p:spTree>
    <p:extLst>
      <p:ext uri="{BB962C8B-B14F-4D97-AF65-F5344CB8AC3E}">
        <p14:creationId xmlns:p14="http://schemas.microsoft.com/office/powerpoint/2010/main" val="994332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71DCD2E2-0C02-48F1-A748-747EC776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即时通信已经跑通核心群聊场景</a:t>
            </a:r>
          </a:p>
        </p:txBody>
      </p:sp>
      <p:sp>
        <p:nvSpPr>
          <p:cNvPr id="2" name="text-84">
            <a:extLst xmlns:a="http://schemas.openxmlformats.org/drawingml/2006/main">
              <a:ext uri="{FF2B5EF4-FFF2-40B4-BE49-F238E27FC236}">
                <a16:creationId xmlns:a16="http://schemas.microsoft.com/office/drawing/2014/main" id="{76B313C2-B54A-4346-935F-511B105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截图：真实后端测试账号；依据：IM 前后端代码</a:t>
            </a:r>
          </a:p>
        </p:txBody>
      </p:sp>
      <p:sp>
        <p:nvSpPr>
          <p:cNvPr id="3" name="text-85">
            <a:extLst xmlns:a="http://schemas.openxmlformats.org/drawingml/2006/main">
              <a:ext uri="{FF2B5EF4-FFF2-40B4-BE49-F238E27FC236}">
                <a16:creationId xmlns:a16="http://schemas.microsoft.com/office/drawing/2014/main" id="{63A7C294-8185-4541-AB80-BF4C09F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rect-86">
            <a:extLst xmlns:a="http://schemas.openxmlformats.org/drawingml/2006/main">
              <a:ext uri="{FF2B5EF4-FFF2-40B4-BE49-F238E27FC236}">
                <a16:creationId xmlns:a16="http://schemas.microsoft.com/office/drawing/2014/main" id="{CCA3F6C2-CD53-4785-8718-2CB37E58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78676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83CEC81F-3270-48F2-AE75-1E151906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真实数据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E134374C-21E8-4639-8F29-C76E9724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52600"/>
            <a:ext cx="2762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会话列表、群成员和历史消息来自真实后端，不是静态原型。</a:t>
            </a:r>
          </a:p>
        </p:txBody>
      </p:sp>
      <p:cxnSp>
        <p:nvCxnSpPr>
          <p:cNvPr id="19" name="rule-89"/>
          <p:cNvCxnSpPr/>
          <p:nvPr/>
        </p:nvCxnSpPr>
        <p:spPr>
          <a:xfrm xmlns:a="http://schemas.openxmlformats.org/drawingml/2006/main">
            <a:off x="8705850" y="2800350"/>
            <a:ext cx="27622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15041F3F-1711-4FCB-A892-05B928B9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核心交互</a:t>
            </a:r>
          </a:p>
        </p:txBody>
      </p:sp>
      <p:sp>
        <p:nvSpPr>
          <p:cNvPr id="9" name="text-91">
            <a:extLst xmlns:a="http://schemas.openxmlformats.org/drawingml/2006/main">
              <a:ext uri="{FF2B5EF4-FFF2-40B4-BE49-F238E27FC236}">
                <a16:creationId xmlns:a16="http://schemas.microsoft.com/office/drawing/2014/main" id="{600C9B80-402D-4B7C-897A-29411E44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762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单聊与群聊
• @成员、撤回、未读
• 群公告与成员管理
• 消息搜索与已读回执</a:t>
            </a:r>
          </a:p>
        </p:txBody>
      </p:sp>
      <p:sp>
        <p:nvSpPr>
          <p:cNvPr id="10" name="rect-92">
            <a:extLst xmlns:a="http://schemas.openxmlformats.org/drawingml/2006/main">
              <a:ext uri="{FF2B5EF4-FFF2-40B4-BE49-F238E27FC236}">
                <a16:creationId xmlns:a16="http://schemas.microsoft.com/office/drawing/2014/main" id="{36DC807A-6FB1-4AF3-8FED-6081308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3">
            <a:extLst xmlns:a="http://schemas.openxmlformats.org/drawingml/2006/main">
              <a:ext uri="{FF2B5EF4-FFF2-40B4-BE49-F238E27FC236}">
                <a16:creationId xmlns:a16="http://schemas.microsoft.com/office/drawing/2014/main" id="{7D4ECFC7-16BE-451E-85E8-23547CF5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 接收事件
REST API 持久化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7f18700d345a9"/>
          <a:stretch xmlns:a="http://schemas.openxmlformats.org/drawingml/2006/main"/>
        </p:blipFill>
        <p:spPr>
          <a:xfrm xmlns:a="http://schemas.openxmlformats.org/drawingml/2006/main">
            <a:off x="630555" y="1314450"/>
            <a:ext cx="740664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</p:spTree>
    <p:extLst>
      <p:ext uri="{BB962C8B-B14F-4D97-AF65-F5344CB8AC3E}">
        <p14:creationId xmlns:p14="http://schemas.microsoft.com/office/powerpoint/2010/main" val="1956537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4">
            <a:extLst xmlns:a="http://schemas.openxmlformats.org/drawingml/2006/main">
              <a:ext uri="{FF2B5EF4-FFF2-40B4-BE49-F238E27FC236}">
                <a16:creationId xmlns:a16="http://schemas.microsoft.com/office/drawing/2014/main" id="{E8BF51F6-4DA7-47D2-88E6-6790F0AA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内容协作覆盖创建、治理与回收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C1397284-7CF0-459C-BFFA-B6419E44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截图：真实后端数据；依据：Documents / Files / Wiki 接口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A9D3B8D4-2C89-4552-9F0F-6471502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rect-97">
            <a:extLst xmlns:a="http://schemas.openxmlformats.org/drawingml/2006/main">
              <a:ext uri="{FF2B5EF4-FFF2-40B4-BE49-F238E27FC236}">
                <a16:creationId xmlns:a16="http://schemas.microsoft.com/office/drawing/2014/main" id="{2CD69DDE-3FDB-41A6-8792-DFAC0A56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98">
            <a:extLst xmlns:a="http://schemas.openxmlformats.org/drawingml/2006/main">
              <a:ext uri="{FF2B5EF4-FFF2-40B4-BE49-F238E27FC236}">
                <a16:creationId xmlns:a16="http://schemas.microsoft.com/office/drawing/2014/main" id="{414BA310-B2EA-4CE4-B7C2-0226499B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38250"/>
            <a:ext cx="5810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ED058A50-7CAB-49A2-AF80-C1B8CF6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云文档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D484580F-D838-4E93-927D-91687D2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5276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创建与编辑、评论、版本历史、协作者、可见性、版本恢复与软删除。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B0544D1B-BBFB-4AD2-A515-3555F917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云盘与知识库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B0FFF600-E544-40F2-B145-2B842E9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5657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文件夹、上传下载、预览、移动、分享、回收站；知识库支持空间、节点、成员和搜索。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694b0c70140ef"/>
          <a:stretch xmlns:a="http://schemas.openxmlformats.org/drawingml/2006/main"/>
        </p:blipFill>
        <p:spPr>
          <a:xfrm xmlns:a="http://schemas.openxmlformats.org/drawingml/2006/main">
            <a:off x="560070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6fe0d3e954be5"/>
          <a:stretch xmlns:a="http://schemas.openxmlformats.org/drawingml/2006/main"/>
        </p:blipFill>
        <p:spPr>
          <a:xfrm xmlns:a="http://schemas.openxmlformats.org/drawingml/2006/main">
            <a:off x="6341745" y="1333500"/>
            <a:ext cx="5090160" cy="3181350"/>
          </a:xfrm>
          <a:prstGeom xmlns:a="http://schemas.openxmlformats.org/drawingml/2006/main" prst="roundRect">
            <a:avLst>
              <a:gd name="adj" fmla="val 1796"/>
            </a:avLst>
          </a:prstGeom>
        </p:spPr>
      </p:pic>
    </p:spTree>
    <p:extLst>
      <p:ext uri="{BB962C8B-B14F-4D97-AF65-F5344CB8AC3E}">
        <p14:creationId xmlns:p14="http://schemas.microsoft.com/office/powerpoint/2010/main" val="1285853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03">
            <a:extLst xmlns:a="http://schemas.openxmlformats.org/drawingml/2006/main">
              <a:ext uri="{FF2B5EF4-FFF2-40B4-BE49-F238E27FC236}">
                <a16:creationId xmlns:a16="http://schemas.microsoft.com/office/drawing/2014/main" id="{B84B3BA0-66B2-40F3-AC4E-ACD641A2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端侧技术按场景分工，共享同一套 API</a:t>
            </a:r>
          </a:p>
        </p:txBody>
      </p:sp>
      <p:sp>
        <p:nvSpPr>
          <p:cNvPr id="2" name="text-104">
            <a:extLst xmlns:a="http://schemas.openxmlformats.org/drawingml/2006/main">
              <a:ext uri="{FF2B5EF4-FFF2-40B4-BE49-F238E27FC236}">
                <a16:creationId xmlns:a16="http://schemas.microsoft.com/office/drawing/2014/main" id="{CA94E6F7-AA36-448D-B8B6-9EA17774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05">
            <a:extLst xmlns:a="http://schemas.openxmlformats.org/drawingml/2006/main">
              <a:ext uri="{FF2B5EF4-FFF2-40B4-BE49-F238E27FC236}">
                <a16:creationId xmlns:a16="http://schemas.microsoft.com/office/drawing/2014/main" id="{8B6D78AA-223B-43B4-BBFE-1438B34F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rect-106">
            <a:extLst xmlns:a="http://schemas.openxmlformats.org/drawingml/2006/main">
              <a:ext uri="{FF2B5EF4-FFF2-40B4-BE49-F238E27FC236}">
                <a16:creationId xmlns:a16="http://schemas.microsoft.com/office/drawing/2014/main" id="{0D782123-07FF-4EEB-85F6-DA1F532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5" name="rect-107">
            <a:extLst xmlns:a="http://schemas.openxmlformats.org/drawingml/2006/main">
              <a:ext uri="{FF2B5EF4-FFF2-40B4-BE49-F238E27FC236}">
                <a16:creationId xmlns:a16="http://schemas.microsoft.com/office/drawing/2014/main" id="{22063E02-92DC-46D0-A017-1CE38AEE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14450"/>
            <a:ext cx="52006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E0B7C70D-76E3-4D74-9509-871F704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+ Desktop</a:t>
            </a:r>
          </a:p>
        </p:txBody>
      </p:sp>
      <p:sp>
        <p:nvSpPr>
          <p:cNvPr id="7" name="text-109">
            <a:extLst xmlns:a="http://schemas.openxmlformats.org/drawingml/2006/main">
              <a:ext uri="{FF2B5EF4-FFF2-40B4-BE49-F238E27FC236}">
                <a16:creationId xmlns:a16="http://schemas.microsoft.com/office/drawing/2014/main" id="{12F7011F-7FBC-433D-83A0-2D865556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+ Electron</a:t>
            </a:r>
          </a:p>
        </p:txBody>
      </p:sp>
      <p:sp>
        <p:nvSpPr>
          <p:cNvPr id="8" name="text-110">
            <a:extLst xmlns:a="http://schemas.openxmlformats.org/drawingml/2006/main">
              <a:ext uri="{FF2B5EF4-FFF2-40B4-BE49-F238E27FC236}">
                <a16:creationId xmlns:a16="http://schemas.microsoft.com/office/drawing/2014/main" id="{C3E2AEE2-2AA5-481B-84EE-423ACA7D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191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Web 是完整业务主端
• Electron 直接复用构建产物
• 统一路由、状态与 UI
• 减少桌面端重复开发</a:t>
            </a:r>
          </a:p>
        </p:txBody>
      </p:sp>
      <p:sp>
        <p:nvSpPr>
          <p:cNvPr id="9" name="rect-111">
            <a:extLst xmlns:a="http://schemas.openxmlformats.org/drawingml/2006/main">
              <a:ext uri="{FF2B5EF4-FFF2-40B4-BE49-F238E27FC236}">
                <a16:creationId xmlns:a16="http://schemas.microsoft.com/office/drawing/2014/main" id="{ABAA697C-054D-4D8A-B410-30248EC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7E533841-1871-4274-9974-4D746C9A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3848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微信小程序：uni-app 独立实现 · 生产构建通过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6630943E-2065-4799-B9C3-7B67EB94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8115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Android</a:t>
            </a:r>
          </a:p>
        </p:txBody>
      </p:sp>
      <p:sp>
        <p:nvSpPr>
          <p:cNvPr id="12" name="text-114">
            <a:extLst xmlns:a="http://schemas.openxmlformats.org/drawingml/2006/main">
              <a:ext uri="{FF2B5EF4-FFF2-40B4-BE49-F238E27FC236}">
                <a16:creationId xmlns:a16="http://schemas.microsoft.com/office/drawing/2014/main" id="{B4250040-4C87-40DE-9BC5-0823E253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28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Kotlin + Jetpack Compose</a:t>
            </a:r>
          </a:p>
        </p:txBody>
      </p:sp>
      <p:sp>
        <p:nvSpPr>
          <p:cNvPr id="13" name="text-115">
            <a:extLst xmlns:a="http://schemas.openxmlformats.org/drawingml/2006/main">
              <a:ext uri="{FF2B5EF4-FFF2-40B4-BE49-F238E27FC236}">
                <a16:creationId xmlns:a16="http://schemas.microsoft.com/office/drawing/2014/main" id="{9CF6DB20-03CB-4CD9-94AB-ADA63AC8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428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AppViewModel / StateFlow 状态驱动
• Retrofit / OkHttp 对接 REST
• SignalR 接收实时消息
• Agora RTC 视频会议</a:t>
            </a:r>
          </a:p>
        </p:txBody>
      </p:sp>
      <p:sp>
        <p:nvSpPr>
          <p:cNvPr id="14" name="rect-116">
            <a:extLst xmlns:a="http://schemas.openxmlformats.org/drawingml/2006/main">
              <a:ext uri="{FF2B5EF4-FFF2-40B4-BE49-F238E27FC236}">
                <a16:creationId xmlns:a16="http://schemas.microsoft.com/office/drawing/2014/main" id="{298D879E-B0DC-4830-8B37-690DB69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36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17">
            <a:extLst xmlns:a="http://schemas.openxmlformats.org/drawingml/2006/main">
              <a:ext uri="{FF2B5EF4-FFF2-40B4-BE49-F238E27FC236}">
                <a16:creationId xmlns:a16="http://schemas.microsoft.com/office/drawing/2014/main" id="{4F6F28DA-BE7B-4156-8240-063469FF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DataStore 会话 · Coil 图片 · 61 个 Compose 标记</a:t>
            </a:r>
          </a:p>
        </p:txBody>
      </p:sp>
      <p:sp>
        <p:nvSpPr>
          <p:cNvPr id="16" name="rect-118">
            <a:extLst xmlns:a="http://schemas.openxmlformats.org/drawingml/2006/main">
              <a:ext uri="{FF2B5EF4-FFF2-40B4-BE49-F238E27FC236}">
                <a16:creationId xmlns:a16="http://schemas.microsoft.com/office/drawing/2014/main" id="{31CF684A-66A9-4DBF-B7A0-BCE472E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19">
            <a:extLst xmlns:a="http://schemas.openxmlformats.org/drawingml/2006/main">
              <a:ext uri="{FF2B5EF4-FFF2-40B4-BE49-F238E27FC236}">
                <a16:creationId xmlns:a16="http://schemas.microsoft.com/office/drawing/2014/main" id="{15F26AEA-07E4-41FE-90A1-1C09648C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24225"/>
            <a:ext cx="47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585405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20">
            <a:extLst xmlns:a="http://schemas.openxmlformats.org/drawingml/2006/main">
              <a:ext uri="{FF2B5EF4-FFF2-40B4-BE49-F238E27FC236}">
                <a16:creationId xmlns:a16="http://schemas.microsoft.com/office/drawing/2014/main" id="{6209815A-7BC2-4EA4-83B6-EF95EE8E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三条后端能力线支撑全部业务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2973A597-8AE8-4AE4-A387-94B413A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EF75E348-912E-437F-AB88-D91600C8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1B0711E2-7DFC-4F21-81AB-517E2317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16 controllers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FF5A9123-B8C1-4142-8AD7-B42B17AC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573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 HTTP actions</a:t>
            </a:r>
          </a:p>
        </p:txBody>
      </p:sp>
      <p:sp>
        <p:nvSpPr>
          <p:cNvPr id="6" name="text-125">
            <a:extLst xmlns:a="http://schemas.openxmlformats.org/drawingml/2006/main">
              <a:ext uri="{FF2B5EF4-FFF2-40B4-BE49-F238E27FC236}">
                <a16:creationId xmlns:a16="http://schemas.microsoft.com/office/drawing/2014/main" id="{09AED8A3-4F7C-454E-92B2-EBD96C84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36 DbSets</a:t>
            </a:r>
          </a:p>
        </p:txBody>
      </p:sp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C6BD9D59-CF5B-4867-938B-BC594814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57300"/>
            <a:ext cx="264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8</a:t>
            </a:r>
          </a:p>
        </p:txBody>
      </p:sp>
      <p:cxnSp>
        <p:nvCxnSpPr>
          <p:cNvPr id="26" name="rule-127"/>
          <p:cNvCxnSpPr/>
          <p:nvPr/>
        </p:nvCxnSpPr>
        <p:spPr>
          <a:xfrm xmlns:a="http://schemas.openxmlformats.org/drawingml/2006/main">
            <a:off x="400050" y="1885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9" name="text-128">
            <a:extLst xmlns:a="http://schemas.openxmlformats.org/drawingml/2006/main">
              <a:ext uri="{FF2B5EF4-FFF2-40B4-BE49-F238E27FC236}">
                <a16:creationId xmlns:a16="http://schemas.microsoft.com/office/drawing/2014/main" id="{88AAD4F4-47D5-4751-A466-7B8694E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鉴权与治理</a:t>
            </a:r>
          </a:p>
        </p:txBody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2052C700-6894-484E-AF47-4EC3126E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JWT + jti 撤销
• 角色与权限持久化
• 客户端会话版本
• 统一异常与 traceId</a:t>
            </a:r>
          </a:p>
        </p:txBody>
      </p:sp>
      <p:cxnSp>
        <p:nvCxnSpPr>
          <p:cNvPr id="29" name="rule-130"/>
          <p:cNvCxnSpPr/>
          <p:nvPr/>
        </p:nvCxnSpPr>
        <p:spPr>
          <a:xfrm xmlns:a="http://schemas.openxmlformats.org/drawingml/2006/main">
            <a:off x="40005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DF8657E0-9FCD-4B8A-BA28-2BD0E40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实时协作</a:t>
            </a:r>
          </a:p>
        </p:txBody>
      </p:sp>
      <p:sp>
        <p:nvSpPr>
          <p:cNvPr id="13" name="text-132">
            <a:extLst xmlns:a="http://schemas.openxmlformats.org/drawingml/2006/main">
              <a:ext uri="{FF2B5EF4-FFF2-40B4-BE49-F238E27FC236}">
                <a16:creationId xmlns:a16="http://schemas.microsoft.com/office/drawing/2014/main" id="{C291257F-7D9B-4212-9430-6FD71E33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SignalR 用户组 / 会话组
• 消息与通知推送
• 好友与会议事件
• Agora 会议令牌</a:t>
            </a:r>
          </a:p>
        </p:txBody>
      </p:sp>
      <p:cxnSp>
        <p:nvCxnSpPr>
          <p:cNvPr id="32" name="rule-133"/>
          <p:cNvCxnSpPr/>
          <p:nvPr/>
        </p:nvCxnSpPr>
        <p:spPr>
          <a:xfrm xmlns:a="http://schemas.openxmlformats.org/drawingml/2006/main">
            <a:off x="8001000" y="2152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5" name="text-134">
            <a:extLst xmlns:a="http://schemas.openxmlformats.org/drawingml/2006/main">
              <a:ext uri="{FF2B5EF4-FFF2-40B4-BE49-F238E27FC236}">
                <a16:creationId xmlns:a16="http://schemas.microsoft.com/office/drawing/2014/main" id="{A9EFB3CE-AB55-4B2A-A424-E307AB8C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24100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数据与文件</a:t>
            </a:r>
          </a:p>
        </p:txBody>
      </p:sp>
      <p:sp>
        <p:nvSpPr>
          <p:cNvPr id="16" name="text-135">
            <a:extLst xmlns:a="http://schemas.openxmlformats.org/drawingml/2006/main">
              <a:ext uri="{FF2B5EF4-FFF2-40B4-BE49-F238E27FC236}">
                <a16:creationId xmlns:a16="http://schemas.microsoft.com/office/drawing/2014/main" id="{092E965B-6B44-454C-8818-DA61253C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04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EF Core + PostgreSQL
• 失败自动重试
• Local / MinIO 可切换
• 软删除与回收站</a:t>
            </a:r>
          </a:p>
        </p:txBody>
      </p:sp>
      <p:sp>
        <p:nvSpPr>
          <p:cNvPr id="17" name="rect-136">
            <a:extLst xmlns:a="http://schemas.openxmlformats.org/drawingml/2006/main">
              <a:ext uri="{FF2B5EF4-FFF2-40B4-BE49-F238E27FC236}">
                <a16:creationId xmlns:a16="http://schemas.microsoft.com/office/drawing/2014/main" id="{0C77C781-94E7-45F6-833F-7728F493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37">
            <a:extLst xmlns:a="http://schemas.openxmlformats.org/drawingml/2006/main">
              <a:ext uri="{FF2B5EF4-FFF2-40B4-BE49-F238E27FC236}">
                <a16:creationId xmlns:a16="http://schemas.microsoft.com/office/drawing/2014/main" id="{8328444A-01EA-4D63-9C78-1A634F95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后端不是单纯 CRUD：它同时处理会话安全、实时事件、文件生命周期与部署健康。</a:t>
            </a:r>
          </a:p>
        </p:txBody>
      </p:sp>
    </p:spTree>
    <p:extLst>
      <p:ext uri="{BB962C8B-B14F-4D97-AF65-F5344CB8AC3E}">
        <p14:creationId xmlns:p14="http://schemas.microsoft.com/office/powerpoint/2010/main" val="3821908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8">
            <a:extLst xmlns:a="http://schemas.openxmlformats.org/drawingml/2006/main">
              <a:ext uri="{FF2B5EF4-FFF2-40B4-BE49-F238E27FC236}">
                <a16:creationId xmlns:a16="http://schemas.microsoft.com/office/drawing/2014/main" id="{5F8A9D89-FF3B-44A6-A400-67C5195E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先落库再推送，保证最终一致</a:t>
            </a:r>
          </a:p>
        </p:txBody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10F3E06B-CB04-4FAC-95EB-3F88D56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C9B2D8B5-2A54-4810-8711-F2415D19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cxnSp>
        <p:nvCxnSpPr>
          <p:cNvPr id="34" name="rule-141"/>
          <p:cNvCxnSpPr/>
          <p:nvPr/>
        </p:nvCxnSpPr>
        <p:spPr>
          <a:xfrm xmlns:a="http://schemas.openxmlformats.org/drawingml/2006/main">
            <a:off x="11430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5" name="rule-142"/>
          <p:cNvCxnSpPr/>
          <p:nvPr/>
        </p:nvCxnSpPr>
        <p:spPr>
          <a:xfrm xmlns:a="http://schemas.openxmlformats.org/drawingml/2006/main">
            <a:off x="371475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6" name="rule-143"/>
          <p:cNvCxnSpPr/>
          <p:nvPr/>
        </p:nvCxnSpPr>
        <p:spPr>
          <a:xfrm xmlns:a="http://schemas.openxmlformats.org/drawingml/2006/main">
            <a:off x="6286500" y="2971800"/>
            <a:ext cx="2381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7" name="rule-144"/>
          <p:cNvCxnSpPr/>
          <p:nvPr/>
        </p:nvCxnSpPr>
        <p:spPr>
          <a:xfrm xmlns:a="http://schemas.openxmlformats.org/drawingml/2006/main">
            <a:off x="8858250" y="2971800"/>
            <a:ext cx="2000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8" name="rect-145">
            <a:extLst xmlns:a="http://schemas.openxmlformats.org/drawingml/2006/main">
              <a:ext uri="{FF2B5EF4-FFF2-40B4-BE49-F238E27FC236}">
                <a16:creationId xmlns:a16="http://schemas.microsoft.com/office/drawing/2014/main" id="{298DC30A-39E9-40B0-8E7D-9280BFD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146">
            <a:extLst xmlns:a="http://schemas.openxmlformats.org/drawingml/2006/main">
              <a:ext uri="{FF2B5EF4-FFF2-40B4-BE49-F238E27FC236}">
                <a16:creationId xmlns:a16="http://schemas.microsoft.com/office/drawing/2014/main" id="{33748960-C001-4B29-9613-D67EADF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147">
            <a:extLst xmlns:a="http://schemas.openxmlformats.org/drawingml/2006/main">
              <a:ext uri="{FF2B5EF4-FFF2-40B4-BE49-F238E27FC236}">
                <a16:creationId xmlns:a16="http://schemas.microsoft.com/office/drawing/2014/main" id="{CD89C78E-E4CA-4E89-9032-143E432E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148">
            <a:extLst xmlns:a="http://schemas.openxmlformats.org/drawingml/2006/main">
              <a:ext uri="{FF2B5EF4-FFF2-40B4-BE49-F238E27FC236}">
                <a16:creationId xmlns:a16="http://schemas.microsoft.com/office/drawing/2014/main" id="{84174230-2F7C-445B-A891-B0EDFF1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-149">
            <a:extLst xmlns:a="http://schemas.openxmlformats.org/drawingml/2006/main">
              <a:ext uri="{FF2B5EF4-FFF2-40B4-BE49-F238E27FC236}">
                <a16:creationId xmlns:a16="http://schemas.microsoft.com/office/drawing/2014/main" id="{EE6FC891-05C1-4A7A-A1B6-4C034AEE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F1FA4CC7-1A15-457E-BAF2-D499E097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75EB43B7-9EB8-4FA8-B9E9-756550F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客户端提交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D4BAC95F-AB44-4F9D-95D3-D403475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REST / Hub</a:t>
            </a:r>
          </a:p>
        </p:txBody>
      </p:sp>
      <p:sp>
        <p:nvSpPr>
          <p:cNvPr id="16" name="text-153">
            <a:extLst xmlns:a="http://schemas.openxmlformats.org/drawingml/2006/main">
              <a:ext uri="{FF2B5EF4-FFF2-40B4-BE49-F238E27FC236}">
                <a16:creationId xmlns:a16="http://schemas.microsoft.com/office/drawing/2014/main" id="{9FCF333E-313A-43FC-ABEA-B53149B2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7" name="text-154">
            <a:extLst xmlns:a="http://schemas.openxmlformats.org/drawingml/2006/main">
              <a:ext uri="{FF2B5EF4-FFF2-40B4-BE49-F238E27FC236}">
                <a16:creationId xmlns:a16="http://schemas.microsoft.com/office/drawing/2014/main" id="{ACCBC637-603D-4122-A1DF-B70B0343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鉴权与成员校验</a:t>
            </a:r>
          </a:p>
        </p:txBody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52BEA489-1628-4319-927F-620F669B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JWT / RBAC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1A5A425D-4BD3-4965-B1CB-8C092712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56619C34-EAC3-4F40-B949-6E9EB39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050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数据库提交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46D77690-53F0-42F9-9124-A67272C5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EF Core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760D41B9-F203-4A54-9F5D-6232732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48C843ED-4EF3-4D02-949D-21D2E5F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2000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生成通知事件</a:t>
            </a:r>
          </a:p>
        </p:txBody>
      </p:sp>
      <p:sp>
        <p:nvSpPr>
          <p:cNvPr id="24" name="text-161">
            <a:extLst xmlns:a="http://schemas.openxmlformats.org/drawingml/2006/main">
              <a:ext uri="{FF2B5EF4-FFF2-40B4-BE49-F238E27FC236}">
                <a16:creationId xmlns:a16="http://schemas.microsoft.com/office/drawing/2014/main" id="{D8C86D71-3840-4F0F-96A8-D8B95B0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Interceptor</a:t>
            </a:r>
          </a:p>
        </p:txBody>
      </p:sp>
      <p:sp>
        <p:nvSpPr>
          <p:cNvPr id="25" name="text-162">
            <a:extLst xmlns:a="http://schemas.openxmlformats.org/drawingml/2006/main">
              <a:ext uri="{FF2B5EF4-FFF2-40B4-BE49-F238E27FC236}">
                <a16:creationId xmlns:a16="http://schemas.microsoft.com/office/drawing/2014/main" id="{4CD24720-FEF5-4E0D-B9D6-EB6BAACD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24050"/>
            <a:ext cx="666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7CDC431A-4A79-4992-961B-3192A52F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分组推送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FB5C09F0-8C39-4CE8-ACF8-F7D4489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76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SignalR</a:t>
            </a:r>
          </a:p>
        </p:txBody>
      </p:sp>
      <p:sp>
        <p:nvSpPr>
          <p:cNvPr id="28" name="rect-165">
            <a:extLst xmlns:a="http://schemas.openxmlformats.org/drawingml/2006/main">
              <a:ext uri="{FF2B5EF4-FFF2-40B4-BE49-F238E27FC236}">
                <a16:creationId xmlns:a16="http://schemas.microsoft.com/office/drawing/2014/main" id="{E3B3ED22-2DFD-41E8-8A3E-A4185063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83E6FF19-BEBF-4635-807E-221AA1CB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为什么这样设计？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2094FF4B-015A-4584-A54B-F2173273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数据库写入一旦成功，即使瞬时推送失败，也只记录警告，不把成功业务误报成 HTTP 500；客户端重连后仍可从列表接口取回已存数据。</a:t>
            </a:r>
          </a:p>
        </p:txBody>
      </p:sp>
    </p:spTree>
    <p:extLst>
      <p:ext uri="{BB962C8B-B14F-4D97-AF65-F5344CB8AC3E}">
        <p14:creationId xmlns:p14="http://schemas.microsoft.com/office/powerpoint/2010/main" val="972221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168">
            <a:extLst xmlns:a="http://schemas.openxmlformats.org/drawingml/2006/main">
              <a:ext uri="{FF2B5EF4-FFF2-40B4-BE49-F238E27FC236}">
                <a16:creationId xmlns:a16="http://schemas.microsoft.com/office/drawing/2014/main" id="{53856A66-FBC8-4FA1-BD3B-57E8085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安全策略贯穿登录、权限与审计</a:t>
            </a:r>
          </a:p>
        </p:txBody>
      </p:sp>
      <p:sp>
        <p:nvSpPr>
          <p:cNvPr id="2" name="text-169">
            <a:extLst xmlns:a="http://schemas.openxmlformats.org/drawingml/2006/main">
              <a:ext uri="{FF2B5EF4-FFF2-40B4-BE49-F238E27FC236}">
                <a16:creationId xmlns:a16="http://schemas.microsoft.com/office/drawing/2014/main" id="{01225773-B9AE-423A-BD67-9FCD82B0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70">
            <a:extLst xmlns:a="http://schemas.openxmlformats.org/drawingml/2006/main">
              <a:ext uri="{FF2B5EF4-FFF2-40B4-BE49-F238E27FC236}">
                <a16:creationId xmlns:a16="http://schemas.microsoft.com/office/drawing/2014/main" id="{EBD80313-4CAD-4DAD-9C9C-F9A6C2C2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4" name="text-171">
            <a:extLst xmlns:a="http://schemas.openxmlformats.org/drawingml/2006/main">
              <a:ext uri="{FF2B5EF4-FFF2-40B4-BE49-F238E27FC236}">
                <a16:creationId xmlns:a16="http://schemas.microsoft.com/office/drawing/2014/main" id="{3B51D9D8-9807-4907-99DC-55D1623B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73AD9840-A72F-4244-A92C-46964522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JWT 鉴权</a:t>
            </a:r>
          </a:p>
        </p:txBody>
      </p:sp>
      <p:sp>
        <p:nvSpPr>
          <p:cNvPr id="6" name="text-173">
            <a:extLst xmlns:a="http://schemas.openxmlformats.org/drawingml/2006/main">
              <a:ext uri="{FF2B5EF4-FFF2-40B4-BE49-F238E27FC236}">
                <a16:creationId xmlns:a16="http://schemas.microsoft.com/office/drawing/2014/main" id="{86D041B3-7D5E-4184-B53C-72E729BB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812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5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 issuer、audience、有效期、签名和 jti；退出登录可撤销当前令牌。</a:t>
            </a:r>
          </a:p>
        </p:txBody>
      </p:sp>
      <p:cxnSp>
        <p:nvCxnSpPr>
          <p:cNvPr id="27" name="rule-174"/>
          <p:cNvCxnSpPr/>
          <p:nvPr/>
        </p:nvCxnSpPr>
        <p:spPr>
          <a:xfrm xmlns:a="http://schemas.openxmlformats.org/drawingml/2006/main">
            <a:off x="30289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175">
            <a:extLst xmlns:a="http://schemas.openxmlformats.org/drawingml/2006/main">
              <a:ext uri="{FF2B5EF4-FFF2-40B4-BE49-F238E27FC236}">
                <a16:creationId xmlns:a16="http://schemas.microsoft.com/office/drawing/2014/main" id="{51DEA81E-7FB8-44FC-9C06-DE1CBC07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text-176">
            <a:extLst xmlns:a="http://schemas.openxmlformats.org/drawingml/2006/main">
              <a:ext uri="{FF2B5EF4-FFF2-40B4-BE49-F238E27FC236}">
                <a16:creationId xmlns:a16="http://schemas.microsoft.com/office/drawing/2014/main" id="{44123632-299C-4481-B8F4-55D1C3C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多端会话</a:t>
            </a:r>
          </a:p>
        </p:txBody>
      </p:sp>
      <p:sp>
        <p:nvSpPr>
          <p:cNvPr id="10" name="text-177">
            <a:extLst xmlns:a="http://schemas.openxmlformats.org/drawingml/2006/main">
              <a:ext uri="{FF2B5EF4-FFF2-40B4-BE49-F238E27FC236}">
                <a16:creationId xmlns:a16="http://schemas.microsoft.com/office/drawing/2014/main" id="{3B13C40C-588F-4EFF-BA5C-547911E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client_type + session_version：同类型终端重新登录会让旧会话失效，不同类型终端可共存。</a:t>
            </a:r>
          </a:p>
        </p:txBody>
      </p:sp>
      <p:cxnSp>
        <p:nvCxnSpPr>
          <p:cNvPr id="31" name="rule-178"/>
          <p:cNvCxnSpPr/>
          <p:nvPr/>
        </p:nvCxnSpPr>
        <p:spPr>
          <a:xfrm xmlns:a="http://schemas.openxmlformats.org/drawingml/2006/main">
            <a:off x="59245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179">
            <a:extLst xmlns:a="http://schemas.openxmlformats.org/drawingml/2006/main">
              <a:ext uri="{FF2B5EF4-FFF2-40B4-BE49-F238E27FC236}">
                <a16:creationId xmlns:a16="http://schemas.microsoft.com/office/drawing/2014/main" id="{25BB3CEF-9C82-4890-B08E-BB18B0A8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text-180">
            <a:extLst xmlns:a="http://schemas.openxmlformats.org/drawingml/2006/main">
              <a:ext uri="{FF2B5EF4-FFF2-40B4-BE49-F238E27FC236}">
                <a16:creationId xmlns:a16="http://schemas.microsoft.com/office/drawing/2014/main" id="{BB683E06-3993-4F6A-A89A-7008698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角色权限</a:t>
            </a:r>
          </a:p>
        </p:txBody>
      </p:sp>
      <p:sp>
        <p:nvSpPr>
          <p:cNvPr id="14" name="text-181">
            <a:extLst xmlns:a="http://schemas.openxmlformats.org/drawingml/2006/main">
              <a:ext uri="{FF2B5EF4-FFF2-40B4-BE49-F238E27FC236}">
                <a16:creationId xmlns:a16="http://schemas.microsoft.com/office/drawing/2014/main" id="{39FC2F7E-4C8D-40CC-9345-C170553F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角色与 permissions[] 持久化；管理接口按身份授权，业务操作继续校验资源成员关系。</a:t>
            </a:r>
          </a:p>
        </p:txBody>
      </p:sp>
      <p:cxnSp>
        <p:nvCxnSpPr>
          <p:cNvPr id="35" name="rule-182"/>
          <p:cNvCxnSpPr/>
          <p:nvPr/>
        </p:nvCxnSpPr>
        <p:spPr>
          <a:xfrm xmlns:a="http://schemas.openxmlformats.org/drawingml/2006/main">
            <a:off x="8820150" y="13906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183">
            <a:extLst xmlns:a="http://schemas.openxmlformats.org/drawingml/2006/main">
              <a:ext uri="{FF2B5EF4-FFF2-40B4-BE49-F238E27FC236}">
                <a16:creationId xmlns:a16="http://schemas.microsoft.com/office/drawing/2014/main" id="{339921FF-072B-4961-A9BF-279FEC35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7" name="text-184">
            <a:extLst xmlns:a="http://schemas.openxmlformats.org/drawingml/2006/main">
              <a:ext uri="{FF2B5EF4-FFF2-40B4-BE49-F238E27FC236}">
                <a16:creationId xmlns:a16="http://schemas.microsoft.com/office/drawing/2014/main" id="{B7BF41BE-2168-4772-97E9-3BD5428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47850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审计追踪</a:t>
            </a:r>
          </a:p>
        </p:txBody>
      </p:sp>
      <p:sp>
        <p:nvSpPr>
          <p:cNvPr id="18" name="text-185">
            <a:extLst xmlns:a="http://schemas.openxmlformats.org/drawingml/2006/main">
              <a:ext uri="{FF2B5EF4-FFF2-40B4-BE49-F238E27FC236}">
                <a16:creationId xmlns:a16="http://schemas.microsoft.com/office/drawing/2014/main" id="{C3AFF38D-FC84-4ACE-B946-6F787666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38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操作日志记录关键管理动作；异常响应返回业务码与 traceId，便于定位线上问题。</a:t>
            </a:r>
          </a:p>
        </p:txBody>
      </p:sp>
      <p:sp>
        <p:nvSpPr>
          <p:cNvPr id="19" name="rect-186">
            <a:extLst xmlns:a="http://schemas.openxmlformats.org/drawingml/2006/main">
              <a:ext uri="{FF2B5EF4-FFF2-40B4-BE49-F238E27FC236}">
                <a16:creationId xmlns:a16="http://schemas.microsoft.com/office/drawing/2014/main" id="{38299383-36F5-45E1-86A1-25AEFB07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7">
            <a:extLst xmlns:a="http://schemas.openxmlformats.org/drawingml/2006/main">
              <a:ext uri="{FF2B5EF4-FFF2-40B4-BE49-F238E27FC236}">
                <a16:creationId xmlns:a16="http://schemas.microsoft.com/office/drawing/2014/main" id="{6610BF67-4920-495D-BF97-0C82552A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34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04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安全不是只看“有没有登录页”，而是把身份、会话、权限、资源归属和追踪统一进后端请求链。</a:t>
            </a:r>
          </a:p>
        </p:txBody>
      </p:sp>
    </p:spTree>
    <p:extLst>
      <p:ext uri="{BB962C8B-B14F-4D97-AF65-F5344CB8AC3E}">
        <p14:creationId xmlns:p14="http://schemas.microsoft.com/office/powerpoint/2010/main" val="20274909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88">
            <a:extLst xmlns:a="http://schemas.openxmlformats.org/drawingml/2006/main">
              <a:ext uri="{FF2B5EF4-FFF2-40B4-BE49-F238E27FC236}">
                <a16:creationId xmlns:a16="http://schemas.microsoft.com/office/drawing/2014/main" id="{4342D5F6-0BBC-4220-84A5-6FDF7DE8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部署链路可复现、可检查、可回滚</a:t>
            </a:r>
          </a:p>
        </p:txBody>
      </p:sp>
      <p:sp>
        <p:nvSpPr>
          <p:cNvPr id="2" name="text-189">
            <a:extLst xmlns:a="http://schemas.openxmlformats.org/drawingml/2006/main">
              <a:ext uri="{FF2B5EF4-FFF2-40B4-BE49-F238E27FC236}">
                <a16:creationId xmlns:a16="http://schemas.microsoft.com/office/drawing/2014/main" id="{137E9F7C-8941-4CF8-9B37-44091D91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090E7D61-95B8-41C5-ADB5-D1AD1A8E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cxnSp>
        <p:nvCxnSpPr>
          <p:cNvPr id="30" name="rule-191"/>
          <p:cNvCxnSpPr/>
          <p:nvPr/>
        </p:nvCxnSpPr>
        <p:spPr>
          <a:xfrm xmlns:a="http://schemas.openxmlformats.org/drawingml/2006/main">
            <a:off x="2667000" y="2895600"/>
            <a:ext cx="16383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1" name="rule-192"/>
          <p:cNvCxnSpPr/>
          <p:nvPr/>
        </p:nvCxnSpPr>
        <p:spPr>
          <a:xfrm xmlns:a="http://schemas.openxmlformats.org/drawingml/2006/main">
            <a:off x="6667500" y="24955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cxnSp>
        <p:nvCxnSpPr>
          <p:cNvPr id="32" name="rule-193"/>
          <p:cNvCxnSpPr/>
          <p:nvPr/>
        </p:nvCxnSpPr>
        <p:spPr>
          <a:xfrm xmlns:a="http://schemas.openxmlformats.org/drawingml/2006/main">
            <a:off x="6667500" y="3714750"/>
            <a:ext cx="16002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70FF"/>
            </a:solidFill>
            <a:prstDash val="solid"/>
          </a:ln>
        </p:spPr>
      </p:cxnSp>
      <p:sp>
        <p:nvSpPr>
          <p:cNvPr id="7" name="rect-194">
            <a:extLst xmlns:a="http://schemas.openxmlformats.org/drawingml/2006/main">
              <a:ext uri="{FF2B5EF4-FFF2-40B4-BE49-F238E27FC236}">
                <a16:creationId xmlns:a16="http://schemas.microsoft.com/office/drawing/2014/main" id="{D9740B6D-0441-494F-A70C-9C27464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8" name="text-195">
            <a:extLst xmlns:a="http://schemas.openxmlformats.org/drawingml/2006/main">
              <a:ext uri="{FF2B5EF4-FFF2-40B4-BE49-F238E27FC236}">
                <a16:creationId xmlns:a16="http://schemas.microsoft.com/office/drawing/2014/main" id="{9BE0E1D6-6DBE-4D7A-B2D1-870B630C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App / 小程序</a:t>
            </a:r>
          </a:p>
        </p:txBody>
      </p:sp>
      <p:sp>
        <p:nvSpPr>
          <p:cNvPr id="9" name="text-196">
            <a:extLst xmlns:a="http://schemas.openxmlformats.org/drawingml/2006/main">
              <a:ext uri="{FF2B5EF4-FFF2-40B4-BE49-F238E27FC236}">
                <a16:creationId xmlns:a16="http://schemas.microsoft.com/office/drawing/2014/main" id="{3436D3A7-297E-4D7D-91E2-FF56110B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HTTPS · WebSocket</a:t>
            </a:r>
          </a:p>
        </p:txBody>
      </p:sp>
      <p:sp>
        <p:nvSpPr>
          <p:cNvPr id="10" name="rect-197">
            <a:extLst xmlns:a="http://schemas.openxmlformats.org/drawingml/2006/main">
              <a:ext uri="{FF2B5EF4-FFF2-40B4-BE49-F238E27FC236}">
                <a16:creationId xmlns:a16="http://schemas.microsoft.com/office/drawing/2014/main" id="{0B59B5B4-B4B4-46F9-9734-AD5697F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2362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3370FF"/>
            </a:solidFill>
            <a:prstDash val="solid"/>
          </a:ln>
        </p:spPr>
      </p:sp>
      <p:sp>
        <p:nvSpPr>
          <p:cNvPr id="11" name="text-198">
            <a:extLst xmlns:a="http://schemas.openxmlformats.org/drawingml/2006/main">
              <a:ext uri="{FF2B5EF4-FFF2-40B4-BE49-F238E27FC236}">
                <a16:creationId xmlns:a16="http://schemas.microsoft.com/office/drawing/2014/main" id="{9711F7EF-52EC-4B59-BEC3-255A9F35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Nginx</a:t>
            </a:r>
          </a:p>
        </p:txBody>
      </p:sp>
      <p:cxnSp>
        <p:nvCxnSpPr>
          <p:cNvPr id="38" name="rule-199"/>
          <p:cNvCxnSpPr/>
          <p:nvPr/>
        </p:nvCxnSpPr>
        <p:spPr>
          <a:xfrm xmlns:a="http://schemas.openxmlformats.org/drawingml/2006/main">
            <a:off x="4705350" y="2895600"/>
            <a:ext cx="15621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70FF"/>
            </a:solidFill>
            <a:prstDash val="solid"/>
          </a:ln>
        </p:spPr>
      </p:cxnSp>
      <p:sp>
        <p:nvSpPr>
          <p:cNvPr id="13" name="text-200">
            <a:extLst xmlns:a="http://schemas.openxmlformats.org/drawingml/2006/main">
              <a:ext uri="{FF2B5EF4-FFF2-40B4-BE49-F238E27FC236}">
                <a16:creationId xmlns:a16="http://schemas.microsoft.com/office/drawing/2014/main" id="{F31967F3-7279-42E2-9C80-8FB973C3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868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ASP.NET Core API</a:t>
            </a:r>
          </a:p>
        </p:txBody>
      </p:sp>
      <p:sp>
        <p:nvSpPr>
          <p:cNvPr id="14" name="text-201">
            <a:extLst xmlns:a="http://schemas.openxmlformats.org/drawingml/2006/main">
              <a:ext uri="{FF2B5EF4-FFF2-40B4-BE49-F238E27FC236}">
                <a16:creationId xmlns:a16="http://schemas.microsoft.com/office/drawing/2014/main" id="{E23A1389-CCC8-4796-9A00-57AEC3D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 Compose</a:t>
            </a:r>
          </a:p>
        </p:txBody>
      </p:sp>
      <p:sp>
        <p:nvSpPr>
          <p:cNvPr id="15" name="rect-202">
            <a:extLst xmlns:a="http://schemas.openxmlformats.org/drawingml/2006/main">
              <a:ext uri="{FF2B5EF4-FFF2-40B4-BE49-F238E27FC236}">
                <a16:creationId xmlns:a16="http://schemas.microsoft.com/office/drawing/2014/main" id="{06D692F9-564A-4F32-B74D-71FB094A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6" name="text-203">
            <a:extLst xmlns:a="http://schemas.openxmlformats.org/drawingml/2006/main">
              <a:ext uri="{FF2B5EF4-FFF2-40B4-BE49-F238E27FC236}">
                <a16:creationId xmlns:a16="http://schemas.microsoft.com/office/drawing/2014/main" id="{6A4C53CC-2E81-47E4-9A60-65A1060B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PostgreSQL</a:t>
            </a:r>
          </a:p>
        </p:txBody>
      </p:sp>
      <p:sp>
        <p:nvSpPr>
          <p:cNvPr id="17" name="text-204">
            <a:extLst xmlns:a="http://schemas.openxmlformats.org/drawingml/2006/main">
              <a:ext uri="{FF2B5EF4-FFF2-40B4-BE49-F238E27FC236}">
                <a16:creationId xmlns:a16="http://schemas.microsoft.com/office/drawing/2014/main" id="{45637CDB-9D4E-46BA-9B6A-F141281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431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 + 自动重试</a:t>
            </a:r>
          </a:p>
        </p:txBody>
      </p:sp>
      <p:sp>
        <p:nvSpPr>
          <p:cNvPr id="18" name="rect-205">
            <a:extLst xmlns:a="http://schemas.openxmlformats.org/drawingml/2006/main">
              <a:ext uri="{FF2B5EF4-FFF2-40B4-BE49-F238E27FC236}">
                <a16:creationId xmlns:a16="http://schemas.microsoft.com/office/drawing/2014/main" id="{A3B0267B-C20A-4B8F-BE9E-6B43BBD4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524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19" name="text-206">
            <a:extLst xmlns:a="http://schemas.openxmlformats.org/drawingml/2006/main">
              <a:ext uri="{FF2B5EF4-FFF2-40B4-BE49-F238E27FC236}">
                <a16:creationId xmlns:a16="http://schemas.microsoft.com/office/drawing/2014/main" id="{AE884B1D-A605-4977-B01F-3A4618F4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MinIO / Local</a:t>
            </a:r>
          </a:p>
        </p:txBody>
      </p:sp>
      <p:sp>
        <p:nvSpPr>
          <p:cNvPr id="20" name="text-207">
            <a:extLst xmlns:a="http://schemas.openxmlformats.org/drawingml/2006/main">
              <a:ext uri="{FF2B5EF4-FFF2-40B4-BE49-F238E27FC236}">
                <a16:creationId xmlns:a16="http://schemas.microsoft.com/office/drawing/2014/main" id="{15D8AFA7-27DD-4309-BC9A-A62FA12C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文件存储可切换</a:t>
            </a:r>
          </a:p>
        </p:txBody>
      </p:sp>
      <p:sp>
        <p:nvSpPr>
          <p:cNvPr id="21" name="rect-208">
            <a:extLst xmlns:a="http://schemas.openxmlformats.org/drawingml/2006/main">
              <a:ext uri="{FF2B5EF4-FFF2-40B4-BE49-F238E27FC236}">
                <a16:creationId xmlns:a16="http://schemas.microsoft.com/office/drawing/2014/main" id="{AC9AC954-E35B-4797-BFA7-3642AD2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5"/>
            </a:solidFill>
            <a:prstDash val="solid"/>
          </a:ln>
        </p:spPr>
      </p:sp>
      <p:sp>
        <p:nvSpPr>
          <p:cNvPr id="22" name="text-209">
            <a:extLst xmlns:a="http://schemas.openxmlformats.org/drawingml/2006/main">
              <a:ext uri="{FF2B5EF4-FFF2-40B4-BE49-F238E27FC236}">
                <a16:creationId xmlns:a16="http://schemas.microsoft.com/office/drawing/2014/main" id="{E5C45E7D-5E13-4F05-8ADD-97D34058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健康检查</a:t>
            </a:r>
          </a:p>
        </p:txBody>
      </p:sp>
      <p:sp>
        <p:nvSpPr>
          <p:cNvPr id="23" name="text-210">
            <a:extLst xmlns:a="http://schemas.openxmlformats.org/drawingml/2006/main">
              <a:ext uri="{FF2B5EF4-FFF2-40B4-BE49-F238E27FC236}">
                <a16:creationId xmlns:a16="http://schemas.microsoft.com/office/drawing/2014/main" id="{4FD2EF41-37AA-40F0-A431-BD4DD595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/health/live 进程存活</a:t>
            </a:r>
          </a:p>
        </p:txBody>
      </p:sp>
      <p:sp>
        <p:nvSpPr>
          <p:cNvPr id="24" name="text-211">
            <a:extLst xmlns:a="http://schemas.openxmlformats.org/drawingml/2006/main">
              <a:ext uri="{FF2B5EF4-FFF2-40B4-BE49-F238E27FC236}">
                <a16:creationId xmlns:a16="http://schemas.microsoft.com/office/drawing/2014/main" id="{D0897D31-BDA5-4F70-A0B0-BADA087C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/health 数据库连通</a:t>
            </a:r>
          </a:p>
        </p:txBody>
      </p:sp>
      <p:sp>
        <p:nvSpPr>
          <p:cNvPr id="25" name="text-212">
            <a:extLst xmlns:a="http://schemas.openxmlformats.org/drawingml/2006/main">
              <a:ext uri="{FF2B5EF4-FFF2-40B4-BE49-F238E27FC236}">
                <a16:creationId xmlns:a16="http://schemas.microsoft.com/office/drawing/2014/main" id="{81462BD7-DA8D-42DF-B446-9A2B0BE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435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 traceId</a:t>
            </a:r>
          </a:p>
        </p:txBody>
      </p:sp>
      <p:sp>
        <p:nvSpPr>
          <p:cNvPr id="26" name="text-213">
            <a:extLst xmlns:a="http://schemas.openxmlformats.org/drawingml/2006/main">
              <a:ext uri="{FF2B5EF4-FFF2-40B4-BE49-F238E27FC236}">
                <a16:creationId xmlns:a16="http://schemas.microsoft.com/office/drawing/2014/main" id="{E9E756C0-C67D-4DE9-B18F-C79E37E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WebSocket Upgrade</a:t>
            </a:r>
          </a:p>
        </p:txBody>
      </p:sp>
    </p:spTree>
    <p:extLst>
      <p:ext uri="{BB962C8B-B14F-4D97-AF65-F5344CB8AC3E}">
        <p14:creationId xmlns:p14="http://schemas.microsoft.com/office/powerpoint/2010/main" val="1287109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14">
            <a:extLst xmlns:a="http://schemas.openxmlformats.org/drawingml/2006/main">
              <a:ext uri="{FF2B5EF4-FFF2-40B4-BE49-F238E27FC236}">
                <a16:creationId xmlns:a16="http://schemas.microsoft.com/office/drawing/2014/main" id="{B4D38B57-04A0-46B4-9C1D-3550D956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实际验证为完成度提供硬证据</a:t>
            </a:r>
          </a:p>
        </p:txBody>
      </p:sp>
      <p:sp>
        <p:nvSpPr>
          <p:cNvPr id="2" name="text-215">
            <a:extLst xmlns:a="http://schemas.openxmlformats.org/drawingml/2006/main">
              <a:ext uri="{FF2B5EF4-FFF2-40B4-BE49-F238E27FC236}">
                <a16:creationId xmlns:a16="http://schemas.microsoft.com/office/drawing/2014/main" id="{28C19DD6-BC90-4219-807D-CBDF285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验证日期：2026-07-19；来自 dotnet test / Vite / Gradle / uni-app 构建输出</a:t>
            </a:r>
          </a:p>
        </p:txBody>
      </p:sp>
      <p:sp>
        <p:nvSpPr>
          <p:cNvPr id="3" name="text-216">
            <a:extLst xmlns:a="http://schemas.openxmlformats.org/drawingml/2006/main">
              <a:ext uri="{FF2B5EF4-FFF2-40B4-BE49-F238E27FC236}">
                <a16:creationId xmlns:a16="http://schemas.microsoft.com/office/drawing/2014/main" id="{B915B091-43B1-4A21-9895-450D9DCB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4" name="text-217">
            <a:extLst xmlns:a="http://schemas.openxmlformats.org/drawingml/2006/main">
              <a:ext uri="{FF2B5EF4-FFF2-40B4-BE49-F238E27FC236}">
                <a16:creationId xmlns:a16="http://schemas.microsoft.com/office/drawing/2014/main" id="{8D05EE79-2F10-42D2-B196-3466524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所有数字均来自本次现场执行，不照抄旧版项目文档。</a:t>
            </a:r>
          </a:p>
        </p:txBody>
      </p:sp>
      <p:sp>
        <p:nvSpPr>
          <p:cNvPr id="5" name="rect-218">
            <a:extLst xmlns:a="http://schemas.openxmlformats.org/drawingml/2006/main">
              <a:ext uri="{FF2B5EF4-FFF2-40B4-BE49-F238E27FC236}">
                <a16:creationId xmlns:a16="http://schemas.microsoft.com/office/drawing/2014/main" id="{4F7397F2-F069-4683-8D82-4B24471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219">
            <a:extLst xmlns:a="http://schemas.openxmlformats.org/drawingml/2006/main">
              <a:ext uri="{FF2B5EF4-FFF2-40B4-BE49-F238E27FC236}">
                <a16:creationId xmlns:a16="http://schemas.microsoft.com/office/drawing/2014/main" id="{93E94851-829D-4610-A233-49CFCC1F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220">
            <a:extLst xmlns:a="http://schemas.openxmlformats.org/drawingml/2006/main">
              <a:ext uri="{FF2B5EF4-FFF2-40B4-BE49-F238E27FC236}">
                <a16:creationId xmlns:a16="http://schemas.microsoft.com/office/drawing/2014/main" id="{D7E7F783-090D-4EA8-BFBF-E5AA82B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221">
            <a:extLst xmlns:a="http://schemas.openxmlformats.org/drawingml/2006/main">
              <a:ext uri="{FF2B5EF4-FFF2-40B4-BE49-F238E27FC236}">
                <a16:creationId xmlns:a16="http://schemas.microsoft.com/office/drawing/2014/main" id="{3F9DBE2E-BD5F-48E2-B0CE-AACBD323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22">
            <a:extLst xmlns:a="http://schemas.openxmlformats.org/drawingml/2006/main">
              <a:ext uri="{FF2B5EF4-FFF2-40B4-BE49-F238E27FC236}">
                <a16:creationId xmlns:a16="http://schemas.microsoft.com/office/drawing/2014/main" id="{947C8C23-BAAD-40DC-A3A0-7233670F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41 / 41</a:t>
            </a:r>
          </a:p>
        </p:txBody>
      </p:sp>
      <p:sp>
        <p:nvSpPr>
          <p:cNvPr id="10" name="text-223">
            <a:extLst xmlns:a="http://schemas.openxmlformats.org/drawingml/2006/main">
              <a:ext uri="{FF2B5EF4-FFF2-40B4-BE49-F238E27FC236}">
                <a16:creationId xmlns:a16="http://schemas.microsoft.com/office/drawing/2014/main" id="{42582EF5-03E7-4572-8D5D-7DE467E2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后端自动化测试</a:t>
            </a:r>
          </a:p>
        </p:txBody>
      </p:sp>
      <p:sp>
        <p:nvSpPr>
          <p:cNvPr id="11" name="text-224">
            <a:extLst xmlns:a="http://schemas.openxmlformats.org/drawingml/2006/main">
              <a:ext uri="{FF2B5EF4-FFF2-40B4-BE49-F238E27FC236}">
                <a16:creationId xmlns:a16="http://schemas.microsoft.com/office/drawing/2014/main" id="{D921F390-9CB4-43F2-A768-90082EFD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0 失败 · 0 跳过
Release 构建</a:t>
            </a:r>
          </a:p>
        </p:txBody>
      </p:sp>
      <p:sp>
        <p:nvSpPr>
          <p:cNvPr id="12" name="text-225">
            <a:extLst xmlns:a="http://schemas.openxmlformats.org/drawingml/2006/main">
              <a:ext uri="{FF2B5EF4-FFF2-40B4-BE49-F238E27FC236}">
                <a16:creationId xmlns:a16="http://schemas.microsoft.com/office/drawing/2014/main" id="{490E9C6F-F65C-406F-9E49-441EB41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635</a:t>
            </a:r>
          </a:p>
        </p:txBody>
      </p:sp>
      <p:sp>
        <p:nvSpPr>
          <p:cNvPr id="13" name="text-226">
            <a:extLst xmlns:a="http://schemas.openxmlformats.org/drawingml/2006/main">
              <a:ext uri="{FF2B5EF4-FFF2-40B4-BE49-F238E27FC236}">
                <a16:creationId xmlns:a16="http://schemas.microsoft.com/office/drawing/2014/main" id="{D5BEFB00-49BA-4B48-A0EB-57C249F2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modules</a:t>
            </a:r>
          </a:p>
        </p:txBody>
      </p:sp>
      <p:sp>
        <p:nvSpPr>
          <p:cNvPr id="14" name="text-227">
            <a:extLst xmlns:a="http://schemas.openxmlformats.org/drawingml/2006/main">
              <a:ext uri="{FF2B5EF4-FFF2-40B4-BE49-F238E27FC236}">
                <a16:creationId xmlns:a16="http://schemas.microsoft.com/office/drawing/2014/main" id="{328D0A9E-A961-44A7-BCDB-F0E155F3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Vite 生产构建通过
路由级代码拆分</a:t>
            </a:r>
          </a:p>
        </p:txBody>
      </p:sp>
      <p:sp>
        <p:nvSpPr>
          <p:cNvPr id="15" name="text-228">
            <a:extLst xmlns:a="http://schemas.openxmlformats.org/drawingml/2006/main">
              <a:ext uri="{FF2B5EF4-FFF2-40B4-BE49-F238E27FC236}">
                <a16:creationId xmlns:a16="http://schemas.microsoft.com/office/drawing/2014/main" id="{52BE3B8B-1D41-4E8E-BEBE-FBFC5BA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2 / 2</a:t>
            </a:r>
          </a:p>
        </p:txBody>
      </p:sp>
      <p:sp>
        <p:nvSpPr>
          <p:cNvPr id="16" name="text-229">
            <a:extLst xmlns:a="http://schemas.openxmlformats.org/drawingml/2006/main">
              <a:ext uri="{FF2B5EF4-FFF2-40B4-BE49-F238E27FC236}">
                <a16:creationId xmlns:a16="http://schemas.microsoft.com/office/drawing/2014/main" id="{8AA3BDFB-117D-48B8-A95A-881BFFF0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端侧目标构建</a:t>
            </a:r>
          </a:p>
        </p:txBody>
      </p:sp>
      <p:sp>
        <p:nvSpPr>
          <p:cNvPr id="17" name="text-230">
            <a:extLst xmlns:a="http://schemas.openxmlformats.org/drawingml/2006/main">
              <a:ext uri="{FF2B5EF4-FFF2-40B4-BE49-F238E27FC236}">
                <a16:creationId xmlns:a16="http://schemas.microsoft.com/office/drawing/2014/main" id="{17EC1EA9-2A17-46A7-856D-09731B3E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assembleDebug
微信小程序通过</a:t>
            </a:r>
          </a:p>
        </p:txBody>
      </p:sp>
      <p:sp>
        <p:nvSpPr>
          <p:cNvPr id="18" name="text-231">
            <a:extLst xmlns:a="http://schemas.openxmlformats.org/drawingml/2006/main">
              <a:ext uri="{FF2B5EF4-FFF2-40B4-BE49-F238E27FC236}">
                <a16:creationId xmlns:a16="http://schemas.microsoft.com/office/drawing/2014/main" id="{AACE9B37-4EA3-484E-AA25-4A32C9F0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142</a:t>
            </a:r>
          </a:p>
        </p:txBody>
      </p:sp>
      <p:sp>
        <p:nvSpPr>
          <p:cNvPr id="19" name="text-232">
            <a:extLst xmlns:a="http://schemas.openxmlformats.org/drawingml/2006/main">
              <a:ext uri="{FF2B5EF4-FFF2-40B4-BE49-F238E27FC236}">
                <a16:creationId xmlns:a16="http://schemas.microsoft.com/office/drawing/2014/main" id="{2AD89E97-4D32-4A54-93A4-97B3835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HTTP actions</a:t>
            </a:r>
          </a:p>
        </p:txBody>
      </p:sp>
      <p:sp>
        <p:nvSpPr>
          <p:cNvPr id="20" name="text-233">
            <a:extLst xmlns:a="http://schemas.openxmlformats.org/drawingml/2006/main">
              <a:ext uri="{FF2B5EF4-FFF2-40B4-BE49-F238E27FC236}">
                <a16:creationId xmlns:a16="http://schemas.microsoft.com/office/drawing/2014/main" id="{536FCF3F-F5FB-4A0C-B37B-5C3FF879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4335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 控制器
36 个 DbSet</a:t>
            </a:r>
          </a:p>
        </p:txBody>
      </p:sp>
      <p:sp>
        <p:nvSpPr>
          <p:cNvPr id="21" name="text-234">
            <a:extLst xmlns:a="http://schemas.openxmlformats.org/drawingml/2006/main">
              <a:ext uri="{FF2B5EF4-FFF2-40B4-BE49-F238E27FC236}">
                <a16:creationId xmlns:a16="http://schemas.microsoft.com/office/drawing/2014/main" id="{EE7A20E5-14CB-468C-AD5C-4C29D73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04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已知边界：Android 单元测试任务存在测试类加载失败；Web Messages 构建块约 1.64 MB。</a:t>
            </a:r>
          </a:p>
        </p:txBody>
      </p:sp>
    </p:spTree>
    <p:extLst>
      <p:ext uri="{BB962C8B-B14F-4D97-AF65-F5344CB8AC3E}">
        <p14:creationId xmlns:p14="http://schemas.microsoft.com/office/powerpoint/2010/main" val="608646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35">
            <a:extLst xmlns:a="http://schemas.openxmlformats.org/drawingml/2006/main">
              <a:ext uri="{FF2B5EF4-FFF2-40B4-BE49-F238E27FC236}">
                <a16:creationId xmlns:a16="http://schemas.microsoft.com/office/drawing/2014/main" id="{B68ABBCE-24EA-4112-AEC1-B1A2A62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4 开发 + 2 运维形成并行闭环</a:t>
            </a:r>
          </a:p>
        </p:txBody>
      </p:sp>
      <p:sp>
        <p:nvSpPr>
          <p:cNvPr id="2" name="text-236">
            <a:extLst xmlns:a="http://schemas.openxmlformats.org/drawingml/2006/main">
              <a:ext uri="{FF2B5EF4-FFF2-40B4-BE49-F238E27FC236}">
                <a16:creationId xmlns:a16="http://schemas.microsoft.com/office/drawing/2014/main" id="{F881DDB3-7193-4923-AC54-BB003C46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团队角色依据：项目初稿；成果描述依据：最终代码与交付物</a:t>
            </a:r>
          </a:p>
        </p:txBody>
      </p:sp>
      <p:sp>
        <p:nvSpPr>
          <p:cNvPr id="3" name="text-237">
            <a:extLst xmlns:a="http://schemas.openxmlformats.org/drawingml/2006/main">
              <a:ext uri="{FF2B5EF4-FFF2-40B4-BE49-F238E27FC236}">
                <a16:creationId xmlns:a16="http://schemas.microsoft.com/office/drawing/2014/main" id="{626504A0-5CC4-455C-A7EB-40E15D6D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4" name="rect-238">
            <a:extLst xmlns:a="http://schemas.openxmlformats.org/drawingml/2006/main">
              <a:ext uri="{FF2B5EF4-FFF2-40B4-BE49-F238E27FC236}">
                <a16:creationId xmlns:a16="http://schemas.microsoft.com/office/drawing/2014/main" id="{885F8187-D900-4B16-BF9C-310BDA7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39">
            <a:extLst xmlns:a="http://schemas.openxmlformats.org/drawingml/2006/main">
              <a:ext uri="{FF2B5EF4-FFF2-40B4-BE49-F238E27FC236}">
                <a16:creationId xmlns:a16="http://schemas.microsoft.com/office/drawing/2014/main" id="{E4DE4C07-CBB5-42FF-AB7C-9F58522A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 / 后端负责人</a:t>
            </a:r>
          </a:p>
        </p:txBody>
      </p:sp>
      <p:sp>
        <p:nvSpPr>
          <p:cNvPr id="6" name="text-240">
            <a:extLst xmlns:a="http://schemas.openxmlformats.org/drawingml/2006/main">
              <a:ext uri="{FF2B5EF4-FFF2-40B4-BE49-F238E27FC236}">
                <a16:creationId xmlns:a16="http://schemas.microsoft.com/office/drawing/2014/main" id="{211E157D-994F-4AE9-B68A-219708A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28750"/>
            <a:ext cx="790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拆任务 · 定接口 · 控进度 · Review · 联调兜底 · 汇报闭环</a:t>
            </a:r>
          </a:p>
        </p:txBody>
      </p:sp>
      <p:cxnSp>
        <p:nvCxnSpPr>
          <p:cNvPr id="35" name="rule-241"/>
          <p:cNvCxnSpPr/>
          <p:nvPr/>
        </p:nvCxnSpPr>
        <p:spPr>
          <a:xfrm xmlns:a="http://schemas.openxmlformats.org/drawingml/2006/main">
            <a:off x="400050" y="2381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8" name="text-242">
            <a:extLst xmlns:a="http://schemas.openxmlformats.org/drawingml/2006/main">
              <a:ext uri="{FF2B5EF4-FFF2-40B4-BE49-F238E27FC236}">
                <a16:creationId xmlns:a16="http://schemas.microsoft.com/office/drawing/2014/main" id="{85C64112-691F-4EF5-8783-F0CC425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B</a:t>
            </a:r>
          </a:p>
        </p:txBody>
      </p:sp>
      <p:sp>
        <p:nvSpPr>
          <p:cNvPr id="9" name="text-243">
            <a:extLst xmlns:a="http://schemas.openxmlformats.org/drawingml/2006/main">
              <a:ext uri="{FF2B5EF4-FFF2-40B4-BE49-F238E27FC236}">
                <a16:creationId xmlns:a16="http://schemas.microsoft.com/office/drawing/2014/main" id="{E55022AB-DE4F-4281-B732-7B96FBFC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前端负责人</a:t>
            </a:r>
          </a:p>
        </p:txBody>
      </p:sp>
      <p:sp>
        <p:nvSpPr>
          <p:cNvPr id="10" name="text-244">
            <a:extLst xmlns:a="http://schemas.openxmlformats.org/drawingml/2006/main">
              <a:ext uri="{FF2B5EF4-FFF2-40B4-BE49-F238E27FC236}">
                <a16:creationId xmlns:a16="http://schemas.microsoft.com/office/drawing/2014/main" id="{6A24D33F-FA6B-4992-B92D-C20D3AEB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框架、登录权限、主布局、管理后台</a:t>
            </a:r>
          </a:p>
        </p:txBody>
      </p:sp>
      <p:cxnSp>
        <p:nvCxnSpPr>
          <p:cNvPr id="39" name="rule-245"/>
          <p:cNvCxnSpPr/>
          <p:nvPr/>
        </p:nvCxnSpPr>
        <p:spPr>
          <a:xfrm xmlns:a="http://schemas.openxmlformats.org/drawingml/2006/main">
            <a:off x="27432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2" name="text-246">
            <a:extLst xmlns:a="http://schemas.openxmlformats.org/drawingml/2006/main">
              <a:ext uri="{FF2B5EF4-FFF2-40B4-BE49-F238E27FC236}">
                <a16:creationId xmlns:a16="http://schemas.microsoft.com/office/drawing/2014/main" id="{9B3D2D43-3323-46E6-BDE8-E2CB4E67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C</a:t>
            </a:r>
          </a:p>
        </p:txBody>
      </p:sp>
      <p:sp>
        <p:nvSpPr>
          <p:cNvPr id="13" name="text-247">
            <a:extLst xmlns:a="http://schemas.openxmlformats.org/drawingml/2006/main">
              <a:ext uri="{FF2B5EF4-FFF2-40B4-BE49-F238E27FC236}">
                <a16:creationId xmlns:a16="http://schemas.microsoft.com/office/drawing/2014/main" id="{AFC14A23-A474-47C3-9615-5B95EF2B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前端业务</a:t>
            </a:r>
          </a:p>
        </p:txBody>
      </p:sp>
      <p:sp>
        <p:nvSpPr>
          <p:cNvPr id="14" name="text-248">
            <a:extLst xmlns:a="http://schemas.openxmlformats.org/drawingml/2006/main">
              <a:ext uri="{FF2B5EF4-FFF2-40B4-BE49-F238E27FC236}">
                <a16:creationId xmlns:a16="http://schemas.microsoft.com/office/drawing/2014/main" id="{F77811A9-0F9D-48F7-A4CF-7395326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IM、文档、云盘、日历、审批页面</a:t>
            </a:r>
          </a:p>
        </p:txBody>
      </p:sp>
      <p:cxnSp>
        <p:nvCxnSpPr>
          <p:cNvPr id="43" name="rule-249"/>
          <p:cNvCxnSpPr/>
          <p:nvPr/>
        </p:nvCxnSpPr>
        <p:spPr>
          <a:xfrm xmlns:a="http://schemas.openxmlformats.org/drawingml/2006/main">
            <a:off x="535305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50">
            <a:extLst xmlns:a="http://schemas.openxmlformats.org/drawingml/2006/main">
              <a:ext uri="{FF2B5EF4-FFF2-40B4-BE49-F238E27FC236}">
                <a16:creationId xmlns:a16="http://schemas.microsoft.com/office/drawing/2014/main" id="{F043493C-3415-4CE6-A9B5-344E4C0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D</a:t>
            </a:r>
          </a:p>
        </p:txBody>
      </p:sp>
      <p:sp>
        <p:nvSpPr>
          <p:cNvPr id="17" name="text-251">
            <a:extLst xmlns:a="http://schemas.openxmlformats.org/drawingml/2006/main">
              <a:ext uri="{FF2B5EF4-FFF2-40B4-BE49-F238E27FC236}">
                <a16:creationId xmlns:a16="http://schemas.microsoft.com/office/drawing/2014/main" id="{F46D7BB7-EDB4-4B5D-A210-72E256CA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后端业务</a:t>
            </a:r>
          </a:p>
        </p:txBody>
      </p:sp>
      <p:sp>
        <p:nvSpPr>
          <p:cNvPr id="18" name="text-252">
            <a:extLst xmlns:a="http://schemas.openxmlformats.org/drawingml/2006/main">
              <a:ext uri="{FF2B5EF4-FFF2-40B4-BE49-F238E27FC236}">
                <a16:creationId xmlns:a16="http://schemas.microsoft.com/office/drawing/2014/main" id="{10FB7892-C9A6-46A3-981C-96AF19E2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业务接口、数据模型、SignalR 逻辑</a:t>
            </a:r>
          </a:p>
        </p:txBody>
      </p:sp>
      <p:cxnSp>
        <p:nvCxnSpPr>
          <p:cNvPr id="47" name="rule-253"/>
          <p:cNvCxnSpPr/>
          <p:nvPr/>
        </p:nvCxnSpPr>
        <p:spPr>
          <a:xfrm xmlns:a="http://schemas.openxmlformats.org/drawingml/2006/main">
            <a:off x="79629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0" name="text-254">
            <a:extLst xmlns:a="http://schemas.openxmlformats.org/drawingml/2006/main">
              <a:ext uri="{FF2B5EF4-FFF2-40B4-BE49-F238E27FC236}">
                <a16:creationId xmlns:a16="http://schemas.microsoft.com/office/drawing/2014/main" id="{14BAFC94-4442-4108-ACAA-C1AA59D4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E</a:t>
            </a:r>
          </a:p>
        </p:txBody>
      </p:sp>
      <p:sp>
        <p:nvSpPr>
          <p:cNvPr id="21" name="text-255">
            <a:extLst xmlns:a="http://schemas.openxmlformats.org/drawingml/2006/main">
              <a:ext uri="{FF2B5EF4-FFF2-40B4-BE49-F238E27FC236}">
                <a16:creationId xmlns:a16="http://schemas.microsoft.com/office/drawing/2014/main" id="{19BD4C39-F73D-4992-BF1D-1BC2EF1C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部署与数据</a:t>
            </a:r>
          </a:p>
        </p:txBody>
      </p:sp>
      <p:sp>
        <p:nvSpPr>
          <p:cNvPr id="22" name="text-256">
            <a:extLst xmlns:a="http://schemas.openxmlformats.org/drawingml/2006/main">
              <a:ext uri="{FF2B5EF4-FFF2-40B4-BE49-F238E27FC236}">
                <a16:creationId xmlns:a16="http://schemas.microsoft.com/office/drawing/2014/main" id="{B9F30209-437F-477E-97CE-4DA92BEF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Docker、数据库、Nginx、演示环境</a:t>
            </a:r>
          </a:p>
        </p:txBody>
      </p:sp>
      <p:cxnSp>
        <p:nvCxnSpPr>
          <p:cNvPr id="51" name="rule-257"/>
          <p:cNvCxnSpPr/>
          <p:nvPr/>
        </p:nvCxnSpPr>
        <p:spPr>
          <a:xfrm xmlns:a="http://schemas.openxmlformats.org/drawingml/2006/main">
            <a:off x="9906000" y="2571750"/>
            <a:ext cx="95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24" name="text-258">
            <a:extLst xmlns:a="http://schemas.openxmlformats.org/drawingml/2006/main">
              <a:ext uri="{FF2B5EF4-FFF2-40B4-BE49-F238E27FC236}">
                <a16:creationId xmlns:a16="http://schemas.microsoft.com/office/drawing/2014/main" id="{99186714-C4AB-413B-8377-9AF8494A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成员 F</a:t>
            </a:r>
          </a:p>
        </p:txBody>
      </p:sp>
      <p:sp>
        <p:nvSpPr>
          <p:cNvPr id="25" name="text-259">
            <a:extLst xmlns:a="http://schemas.openxmlformats.org/drawingml/2006/main">
              <a:ext uri="{FF2B5EF4-FFF2-40B4-BE49-F238E27FC236}">
                <a16:creationId xmlns:a16="http://schemas.microsoft.com/office/drawing/2014/main" id="{3D78FB8F-D88B-4017-836E-93A487F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670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测试与文档</a:t>
            </a:r>
          </a:p>
        </p:txBody>
      </p:sp>
      <p:sp>
        <p:nvSpPr>
          <p:cNvPr id="26" name="text-260">
            <a:extLst xmlns:a="http://schemas.openxmlformats.org/drawingml/2006/main">
              <a:ext uri="{FF2B5EF4-FFF2-40B4-BE49-F238E27FC236}">
                <a16:creationId xmlns:a16="http://schemas.microsoft.com/office/drawing/2014/main" id="{E5D86BCE-E210-4DB6-9F1D-B762A655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0450"/>
            <a:ext cx="1428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用例、Bug、截图、验收材料</a:t>
            </a:r>
          </a:p>
        </p:txBody>
      </p:sp>
      <p:sp>
        <p:nvSpPr>
          <p:cNvPr id="27" name="rect-261">
            <a:extLst xmlns:a="http://schemas.openxmlformats.org/drawingml/2006/main">
              <a:ext uri="{FF2B5EF4-FFF2-40B4-BE49-F238E27FC236}">
                <a16:creationId xmlns:a16="http://schemas.microsoft.com/office/drawing/2014/main" id="{6C150F3B-68F6-44C2-8FCA-6956BC7D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62">
            <a:extLst xmlns:a="http://schemas.openxmlformats.org/drawingml/2006/main">
              <a:ext uri="{FF2B5EF4-FFF2-40B4-BE49-F238E27FC236}">
                <a16:creationId xmlns:a16="http://schemas.microsoft.com/office/drawing/2014/main" id="{7EFD65A8-AEF2-45CB-AD5D-722D622A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0934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组长的核心成果不是“写得最多”，而是让接口、人员、环境与验收在同一节奏上收敛。</a:t>
            </a:r>
          </a:p>
        </p:txBody>
      </p:sp>
    </p:spTree>
    <p:extLst>
      <p:ext uri="{BB962C8B-B14F-4D97-AF65-F5344CB8AC3E}">
        <p14:creationId xmlns:p14="http://schemas.microsoft.com/office/powerpoint/2010/main" val="20802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3">
            <a:extLst xmlns:a="http://schemas.openxmlformats.org/drawingml/2006/main">
              <a:ext uri="{FF2B5EF4-FFF2-40B4-BE49-F238E27FC236}">
                <a16:creationId xmlns:a16="http://schemas.microsoft.com/office/drawing/2014/main" id="{30BF4242-57C6-4B09-91E2-39694E4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主动暴露边界，下一步才更可信</a:t>
            </a:r>
          </a:p>
        </p:txBody>
      </p:sp>
      <p:sp>
        <p:nvSpPr>
          <p:cNvPr id="2" name="text-264">
            <a:extLst xmlns:a="http://schemas.openxmlformats.org/drawingml/2006/main">
              <a:ext uri="{FF2B5EF4-FFF2-40B4-BE49-F238E27FC236}">
                <a16:creationId xmlns:a16="http://schemas.microsoft.com/office/drawing/2014/main" id="{DBD4361F-3C2A-4F24-8EA8-BCD8BD25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依据：项目最终代码与 2026-07-19 实际验证</a:t>
            </a:r>
          </a:p>
        </p:txBody>
      </p:sp>
      <p:sp>
        <p:nvSpPr>
          <p:cNvPr id="3" name="text-265">
            <a:extLst xmlns:a="http://schemas.openxmlformats.org/drawingml/2006/main">
              <a:ext uri="{FF2B5EF4-FFF2-40B4-BE49-F238E27FC236}">
                <a16:creationId xmlns:a16="http://schemas.microsoft.com/office/drawing/2014/main" id="{A2CF9BE2-2BB4-42D1-BF7A-EAC36332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4" name="text-266">
            <a:extLst xmlns:a="http://schemas.openxmlformats.org/drawingml/2006/main">
              <a:ext uri="{FF2B5EF4-FFF2-40B4-BE49-F238E27FC236}">
                <a16:creationId xmlns:a16="http://schemas.microsoft.com/office/drawing/2014/main" id="{2D6BF0F4-7166-40AD-9702-1A67DC20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当前边界</a:t>
            </a:r>
          </a:p>
        </p:txBody>
      </p:sp>
      <p:sp>
        <p:nvSpPr>
          <p:cNvPr id="5" name="text-267">
            <a:extLst xmlns:a="http://schemas.openxmlformats.org/drawingml/2006/main">
              <a:ext uri="{FF2B5EF4-FFF2-40B4-BE49-F238E27FC236}">
                <a16:creationId xmlns:a16="http://schemas.microsoft.com/office/drawing/2014/main" id="{62A48C87-4681-4A53-AF3B-4C7DDCA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763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下一阶段</a:t>
            </a:r>
          </a:p>
        </p:txBody>
      </p:sp>
      <p:cxnSp>
        <p:nvCxnSpPr>
          <p:cNvPr id="23" name="rule-268"/>
          <p:cNvCxnSpPr/>
          <p:nvPr/>
        </p:nvCxnSpPr>
        <p:spPr>
          <a:xfrm xmlns:a="http://schemas.openxmlformats.org/drawingml/2006/main">
            <a:off x="400050" y="17907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7" name="text-269">
            <a:extLst xmlns:a="http://schemas.openxmlformats.org/drawingml/2006/main">
              <a:ext uri="{FF2B5EF4-FFF2-40B4-BE49-F238E27FC236}">
                <a16:creationId xmlns:a16="http://schemas.microsoft.com/office/drawing/2014/main" id="{C74EAB27-82DA-41DB-8E7C-6BD38316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Messages 构建块约 1.64 MB</a:t>
            </a:r>
          </a:p>
        </p:txBody>
      </p:sp>
      <p:sp>
        <p:nvSpPr>
          <p:cNvPr id="8" name="text-270">
            <a:extLst xmlns:a="http://schemas.openxmlformats.org/drawingml/2006/main">
              <a:ext uri="{FF2B5EF4-FFF2-40B4-BE49-F238E27FC236}">
                <a16:creationId xmlns:a16="http://schemas.microsoft.com/office/drawing/2014/main" id="{1ED4C985-E212-4B52-B5A9-533D85FC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 Agora / 消息 / 编辑器继续懒加载与拆包</a:t>
            </a:r>
          </a:p>
        </p:txBody>
      </p:sp>
      <p:cxnSp>
        <p:nvCxnSpPr>
          <p:cNvPr id="26" name="rule-271"/>
          <p:cNvCxnSpPr/>
          <p:nvPr/>
        </p:nvCxnSpPr>
        <p:spPr>
          <a:xfrm xmlns:a="http://schemas.openxmlformats.org/drawingml/2006/main">
            <a:off x="400050" y="27241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0" name="text-272">
            <a:extLst xmlns:a="http://schemas.openxmlformats.org/drawingml/2006/main">
              <a:ext uri="{FF2B5EF4-FFF2-40B4-BE49-F238E27FC236}">
                <a16:creationId xmlns:a16="http://schemas.microsoft.com/office/drawing/2014/main" id="{B1451546-4B76-4084-9CEF-25303818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文档支持编辑、评论与版本，但非多光标共编</a:t>
            </a:r>
          </a:p>
        </p:txBody>
      </p:sp>
      <p:sp>
        <p:nvSpPr>
          <p:cNvPr id="11" name="text-273">
            <a:extLst xmlns:a="http://schemas.openxmlformats.org/drawingml/2006/main">
              <a:ext uri="{FF2B5EF4-FFF2-40B4-BE49-F238E27FC236}">
                <a16:creationId xmlns:a16="http://schemas.microsoft.com/office/drawing/2014/main" id="{AB0C059A-8B78-4A55-B574-4F947480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接入 Yjs / CRDT，增加在线成员与冲突合并</a:t>
            </a:r>
          </a:p>
        </p:txBody>
      </p:sp>
      <p:cxnSp>
        <p:nvCxnSpPr>
          <p:cNvPr id="29" name="rule-274"/>
          <p:cNvCxnSpPr/>
          <p:nvPr/>
        </p:nvCxnSpPr>
        <p:spPr>
          <a:xfrm xmlns:a="http://schemas.openxmlformats.org/drawingml/2006/main">
            <a:off x="400050" y="3733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3" name="text-275">
            <a:extLst xmlns:a="http://schemas.openxmlformats.org/drawingml/2006/main">
              <a:ext uri="{FF2B5EF4-FFF2-40B4-BE49-F238E27FC236}">
                <a16:creationId xmlns:a16="http://schemas.microsoft.com/office/drawing/2014/main" id="{C2F78C2E-CFF7-4470-82FA-36ADB47C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Android Debug 构建通过；单元测试任务类加载失败</a:t>
            </a:r>
          </a:p>
        </p:txBody>
      </p:sp>
      <p:sp>
        <p:nvSpPr>
          <p:cNvPr id="14" name="text-276">
            <a:extLst xmlns:a="http://schemas.openxmlformats.org/drawingml/2006/main">
              <a:ext uri="{FF2B5EF4-FFF2-40B4-BE49-F238E27FC236}">
                <a16:creationId xmlns:a16="http://schemas.microsoft.com/office/drawing/2014/main" id="{5BA525AF-53C5-4AC1-A90D-F2768F91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修复测试执行链，补 Compose UI Test 与 Android CI</a:t>
            </a:r>
          </a:p>
        </p:txBody>
      </p:sp>
      <p:cxnSp>
        <p:nvCxnSpPr>
          <p:cNvPr id="32" name="rule-277"/>
          <p:cNvCxnSpPr/>
          <p:nvPr/>
        </p:nvCxnSpPr>
        <p:spPr>
          <a:xfrm xmlns:a="http://schemas.openxmlformats.org/drawingml/2006/main">
            <a:off x="400050" y="4743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8CDD5"/>
            </a:solidFill>
            <a:prstDash val="solid"/>
          </a:ln>
        </p:spPr>
      </p:cxnSp>
      <p:sp>
        <p:nvSpPr>
          <p:cNvPr id="16" name="text-278">
            <a:extLst xmlns:a="http://schemas.openxmlformats.org/drawingml/2006/main">
              <a:ext uri="{FF2B5EF4-FFF2-40B4-BE49-F238E27FC236}">
                <a16:creationId xmlns:a16="http://schemas.microsoft.com/office/drawing/2014/main" id="{D4998777-51F0-4643-B2E0-5DDFC68B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演示依赖实时后端与 WebSocket 代理</a:t>
            </a:r>
          </a:p>
        </p:txBody>
      </p:sp>
      <p:sp>
        <p:nvSpPr>
          <p:cNvPr id="17" name="text-279">
            <a:extLst xmlns:a="http://schemas.openxmlformats.org/drawingml/2006/main">
              <a:ext uri="{FF2B5EF4-FFF2-40B4-BE49-F238E27FC236}">
                <a16:creationId xmlns:a16="http://schemas.microsoft.com/office/drawing/2014/main" id="{3B434B3F-F3A4-458B-9C5F-762D3823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补监控、断线重连指标、离线队列与压测</a:t>
            </a:r>
          </a:p>
        </p:txBody>
      </p:sp>
    </p:spTree>
    <p:extLst>
      <p:ext uri="{BB962C8B-B14F-4D97-AF65-F5344CB8AC3E}">
        <p14:creationId xmlns:p14="http://schemas.microsoft.com/office/powerpoint/2010/main" val="18720339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0">
            <a:extLst xmlns:a="http://schemas.openxmlformats.org/drawingml/2006/main">
              <a:ext uri="{FF2B5EF4-FFF2-40B4-BE49-F238E27FC236}">
                <a16:creationId xmlns:a16="http://schemas.microsoft.com/office/drawing/2014/main" id="{818EFFAA-A9C6-4863-80F9-3C66442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</a:t>
            </a:r>
          </a:p>
        </p:txBody>
      </p:sp>
      <p:sp>
        <p:nvSpPr>
          <p:cNvPr id="2" name="text-281">
            <a:extLst xmlns:a="http://schemas.openxmlformats.org/drawingml/2006/main">
              <a:ext uri="{FF2B5EF4-FFF2-40B4-BE49-F238E27FC236}">
                <a16:creationId xmlns:a16="http://schemas.microsoft.com/office/drawing/2014/main" id="{ACADF1EF-3B85-4B2D-B979-0DE5D35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9060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我们交付的是
可运行的协作系统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0BFD2CF3-75C8-41DF-A4B4-277E588D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多端入口</a:t>
            </a:r>
          </a:p>
        </p:txBody>
      </p:sp>
      <p:sp>
        <p:nvSpPr>
          <p:cNvPr id="4" name="text-283">
            <a:extLst xmlns:a="http://schemas.openxmlformats.org/drawingml/2006/main">
              <a:ext uri="{FF2B5EF4-FFF2-40B4-BE49-F238E27FC236}">
                <a16:creationId xmlns:a16="http://schemas.microsoft.com/office/drawing/2014/main" id="{92BBAD0C-CE37-478A-8610-EEFBC3FF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统一数据</a:t>
            </a:r>
          </a:p>
        </p:txBody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CF790DEE-8865-4C4F-8700-84D9C69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工程验证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83265D39-785E-4EDD-9636-2B1D7D33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清晰边界</a:t>
            </a:r>
          </a:p>
        </p:txBody>
      </p:sp>
      <p:sp>
        <p:nvSpPr>
          <p:cNvPr id="7" name="text-286">
            <a:extLst xmlns:a="http://schemas.openxmlformats.org/drawingml/2006/main">
              <a:ext uri="{FF2B5EF4-FFF2-40B4-BE49-F238E27FC236}">
                <a16:creationId xmlns:a16="http://schemas.microsoft.com/office/drawing/2014/main" id="{2D47C039-1D14-4DAF-9B49-436E667E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Web / 桌面 / App / 小程序</a:t>
            </a:r>
          </a:p>
        </p:txBody>
      </p:sp>
      <p:sp>
        <p:nvSpPr>
          <p:cNvPr id="8" name="text-287">
            <a:extLst xmlns:a="http://schemas.openxmlformats.org/drawingml/2006/main">
              <a:ext uri="{FF2B5EF4-FFF2-40B4-BE49-F238E27FC236}">
                <a16:creationId xmlns:a16="http://schemas.microsoft.com/office/drawing/2014/main" id="{A6443FCF-1E1B-4CEF-89E4-F300B28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账号、组织、消息与文件</a:t>
            </a:r>
          </a:p>
        </p:txBody>
      </p:sp>
      <p:sp>
        <p:nvSpPr>
          <p:cNvPr id="9" name="text-288">
            <a:extLst xmlns:a="http://schemas.openxmlformats.org/drawingml/2006/main">
              <a:ext uri="{FF2B5EF4-FFF2-40B4-BE49-F238E27FC236}">
                <a16:creationId xmlns:a16="http://schemas.microsoft.com/office/drawing/2014/main" id="{8F305250-DADE-4D17-86CE-BB77880F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构建、测试、部署与健康检查</a:t>
            </a:r>
          </a:p>
        </p:txBody>
      </p:sp>
      <p:sp>
        <p:nvSpPr>
          <p:cNvPr id="10" name="text-289">
            <a:extLst xmlns:a="http://schemas.openxmlformats.org/drawingml/2006/main">
              <a:ext uri="{FF2B5EF4-FFF2-40B4-BE49-F238E27FC236}">
                <a16:creationId xmlns:a16="http://schemas.microsoft.com/office/drawing/2014/main" id="{D713FCB2-1843-4090-8034-56DE778F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857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性能、Android 测试与共编路线</a:t>
            </a:r>
          </a:p>
        </p:txBody>
      </p:sp>
      <p:sp>
        <p:nvSpPr>
          <p:cNvPr id="11" name="rect-290">
            <a:extLst xmlns:a="http://schemas.openxmlformats.org/drawingml/2006/main">
              <a:ext uri="{FF2B5EF4-FFF2-40B4-BE49-F238E27FC236}">
                <a16:creationId xmlns:a16="http://schemas.microsoft.com/office/drawing/2014/main" id="{87DF0EBF-89AB-4DC8-8506-792D6BA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91">
            <a:extLst xmlns:a="http://schemas.openxmlformats.org/drawingml/2006/main">
              <a:ext uri="{FF2B5EF4-FFF2-40B4-BE49-F238E27FC236}">
                <a16:creationId xmlns:a16="http://schemas.microsoft.com/office/drawing/2014/main" id="{6F69504A-6208-41DE-95F4-4C14740D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建议现场演示：登录 → 发群消息 → 新建文档 → 发起审批 → 查看管理后台</a:t>
            </a:r>
          </a:p>
        </p:txBody>
      </p:sp>
      <p:sp>
        <p:nvSpPr>
          <p:cNvPr id="13" name="text-292">
            <a:extLst xmlns:a="http://schemas.openxmlformats.org/drawingml/2006/main">
              <a:ext uri="{FF2B5EF4-FFF2-40B4-BE49-F238E27FC236}">
                <a16:creationId xmlns:a16="http://schemas.microsoft.com/office/drawing/2014/main" id="{A2D55484-54E0-48E5-AB1A-9C81008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742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121105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93">
            <a:extLst xmlns:a="http://schemas.openxmlformats.org/drawingml/2006/main">
              <a:ext uri="{FF2B5EF4-FFF2-40B4-BE49-F238E27FC236}">
                <a16:creationId xmlns:a16="http://schemas.microsoft.com/office/drawing/2014/main" id="{BA3D5BBA-8251-4BA9-B514-491F8DC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答辩问题：技术选择与整体架构</a:t>
            </a:r>
          </a:p>
        </p:txBody>
      </p:sp>
      <p:sp>
        <p:nvSpPr>
          <p:cNvPr id="2" name="text-294">
            <a:extLst xmlns:a="http://schemas.openxmlformats.org/drawingml/2006/main">
              <a:ext uri="{FF2B5EF4-FFF2-40B4-BE49-F238E27FC236}">
                <a16:creationId xmlns:a16="http://schemas.microsoft.com/office/drawing/2014/main" id="{6DC7694A-665F-46AB-A3A1-7E086D00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附录：建议回答请结合现场演示简洁复述</a:t>
            </a:r>
          </a:p>
        </p:txBody>
      </p:sp>
      <p:sp>
        <p:nvSpPr>
          <p:cNvPr id="3" name="text-295">
            <a:extLst xmlns:a="http://schemas.openxmlformats.org/drawingml/2006/main">
              <a:ext uri="{FF2B5EF4-FFF2-40B4-BE49-F238E27FC236}">
                <a16:creationId xmlns:a16="http://schemas.microsoft.com/office/drawing/2014/main" id="{74425F66-DFE8-4808-951D-2B6E4E0E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16</a:t>
            </a:r>
          </a:p>
        </p:txBody>
      </p:sp>
      <p:sp>
        <p:nvSpPr>
          <p:cNvPr id="4" name="text-296">
            <a:extLst xmlns:a="http://schemas.openxmlformats.org/drawingml/2006/main">
              <a:ext uri="{FF2B5EF4-FFF2-40B4-BE49-F238E27FC236}">
                <a16:creationId xmlns:a16="http://schemas.microsoft.com/office/drawing/2014/main" id="{8B422071-7015-42A5-A9E6-A6809FC0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 为什么选 Vue 3 + ASP.NET Core？</a:t>
            </a:r>
          </a:p>
        </p:txBody>
      </p:sp>
      <p:sp>
        <p:nvSpPr>
          <p:cNvPr id="5" name="text-297">
            <a:extLst xmlns:a="http://schemas.openxmlformats.org/drawingml/2006/main">
              <a:ext uri="{FF2B5EF4-FFF2-40B4-BE49-F238E27FC236}">
                <a16:creationId xmlns:a16="http://schemas.microsoft.com/office/drawing/2014/main" id="{7946C412-3A5C-4C95-A290-716B61E7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Vue 3 适合组件化多页面工作台；ASP.NET Core 8 在鉴权、EF Core、SignalR 与部署方面形成完整技术链，且与团队能力匹配。选择标准是可交付与可维护，而不是追求最潮技术。</a:t>
            </a:r>
          </a:p>
        </p:txBody>
      </p:sp>
      <p:sp>
        <p:nvSpPr>
          <p:cNvPr id="6" name="text-298">
            <a:extLst xmlns:a="http://schemas.openxmlformats.org/drawingml/2006/main">
              <a:ext uri="{FF2B5EF4-FFF2-40B4-BE49-F238E27FC236}">
                <a16:creationId xmlns:a16="http://schemas.microsoft.com/office/drawing/2014/main" id="{E129FE4D-A1C1-4D8A-A69C-1016C68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Q2 为什么没有拆成微服务？</a:t>
            </a:r>
          </a:p>
        </p:txBody>
      </p:sp>
      <p:sp>
        <p:nvSpPr>
          <p:cNvPr id="7" name="text-299">
            <a:extLst xmlns:a="http://schemas.openxmlformats.org/drawingml/2006/main">
              <a:ext uri="{FF2B5EF4-FFF2-40B4-BE49-F238E27FC236}">
                <a16:creationId xmlns:a16="http://schemas.microsoft.com/office/drawing/2014/main" id="{D5324F01-6A3C-4447-B8F2-7913042A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当前是实训规模，模块化单体能降低部署与联调成本。我们已按 Controller、Service、Domain、Data 分层；当团队和流量增长后，再按 IM、文档、文件拆服务更合适。</a:t>
            </a:r>
          </a:p>
        </p:txBody>
      </p:sp>
      <p:sp>
        <p:nvSpPr>
          <p:cNvPr id="8" name="text-300">
            <a:extLst xmlns:a="http://schemas.openxmlformats.org/drawingml/2006/main">
              <a:ext uri="{FF2B5EF4-FFF2-40B4-BE49-F238E27FC236}">
                <a16:creationId xmlns:a16="http://schemas.microsoft.com/office/drawing/2014/main" id="{3418A5EB-713C-432A-8BA4-5B5A8760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Q3 四端如何保证数据一致？</a:t>
            </a:r>
          </a:p>
        </p:txBody>
      </p:sp>
      <p:sp>
        <p:nvSpPr>
          <p:cNvPr id="9" name="text-301">
            <a:extLst xmlns:a="http://schemas.openxmlformats.org/drawingml/2006/main">
              <a:ext uri="{FF2B5EF4-FFF2-40B4-BE49-F238E27FC236}">
                <a16:creationId xmlns:a16="http://schemas.microsoft.com/office/drawing/2014/main" id="{C33EB70B-9AB9-4B31-BC6E-77729797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四端不各自保存业务真相，而是共享 REST API、JWT 身份和 PostgreSQL 数据；SignalR 负责实时提示，列表接口负责恢复与最终一致。</a:t>
            </a:r>
          </a:p>
        </p:txBody>
      </p:sp>
      <p:sp>
        <p:nvSpPr>
          <p:cNvPr id="10" name="text-302">
            <a:extLst xmlns:a="http://schemas.openxmlformats.org/drawingml/2006/main">
              <a:ext uri="{FF2B5EF4-FFF2-40B4-BE49-F238E27FC236}">
                <a16:creationId xmlns:a16="http://schemas.microsoft.com/office/drawing/2014/main" id="{9A38F0FE-A044-454E-960F-E90E3F83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Q4 为什么 Android 采用原生 Compose？</a:t>
            </a:r>
          </a:p>
        </p:txBody>
      </p:sp>
      <p:sp>
        <p:nvSpPr>
          <p:cNvPr id="11" name="text-303">
            <a:extLst xmlns:a="http://schemas.openxmlformats.org/drawingml/2006/main">
              <a:ext uri="{FF2B5EF4-FFF2-40B4-BE49-F238E27FC236}">
                <a16:creationId xmlns:a16="http://schemas.microsoft.com/office/drawing/2014/main" id="{980A2A08-5E30-437E-A1EE-5EDD9CB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37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原生方案更适合相机、麦克风、生命周期和 RTC 场景。Compose 用状态驱动 UI，StateFlow 统一状态，SignalR 与 Agora 分别承担实时消息和音视频；小程序仍用 uni-app 提高交付效率。</a:t>
            </a:r>
          </a:p>
        </p:txBody>
      </p:sp>
    </p:spTree>
    <p:extLst>
      <p:ext uri="{BB962C8B-B14F-4D97-AF65-F5344CB8AC3E}">
        <p14:creationId xmlns:p14="http://schemas.microsoft.com/office/powerpoint/2010/main" val="21270619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4">
            <a:extLst xmlns:a="http://schemas.openxmlformats.org/drawingml/2006/main">
              <a:ext uri="{FF2B5EF4-FFF2-40B4-BE49-F238E27FC236}">
                <a16:creationId xmlns:a16="http://schemas.microsoft.com/office/drawing/2014/main" id="{6F8E8FF1-DC24-4E13-9396-8FDB116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答辩问题：安全、一致性与测试</a:t>
            </a:r>
          </a:p>
        </p:txBody>
      </p:sp>
      <p:sp>
        <p:nvSpPr>
          <p:cNvPr id="2" name="text-305">
            <a:extLst xmlns:a="http://schemas.openxmlformats.org/drawingml/2006/main">
              <a:ext uri="{FF2B5EF4-FFF2-40B4-BE49-F238E27FC236}">
                <a16:creationId xmlns:a16="http://schemas.microsoft.com/office/drawing/2014/main" id="{377CC118-67ED-4781-966F-3C1DF5A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附录：回答先讲机制，再给代码或测试证据</a:t>
            </a:r>
          </a:p>
        </p:txBody>
      </p:sp>
      <p:sp>
        <p:nvSpPr>
          <p:cNvPr id="3" name="text-306">
            <a:extLst xmlns:a="http://schemas.openxmlformats.org/drawingml/2006/main">
              <a:ext uri="{FF2B5EF4-FFF2-40B4-BE49-F238E27FC236}">
                <a16:creationId xmlns:a16="http://schemas.microsoft.com/office/drawing/2014/main" id="{1A641936-5A4D-418C-8139-48934A8C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17</a:t>
            </a:r>
          </a:p>
        </p:txBody>
      </p:sp>
      <p:sp>
        <p:nvSpPr>
          <p:cNvPr id="4" name="text-307">
            <a:extLst xmlns:a="http://schemas.openxmlformats.org/drawingml/2006/main">
              <a:ext uri="{FF2B5EF4-FFF2-40B4-BE49-F238E27FC236}">
                <a16:creationId xmlns:a16="http://schemas.microsoft.com/office/drawing/2014/main" id="{DED1B090-DF71-4F44-A07E-46AEF50C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Q5 JWT 泄露或退出后怎么办？</a:t>
            </a:r>
          </a:p>
        </p:txBody>
      </p:sp>
      <p:sp>
        <p:nvSpPr>
          <p:cNvPr id="5" name="text-308">
            <a:extLst xmlns:a="http://schemas.openxmlformats.org/drawingml/2006/main">
              <a:ext uri="{FF2B5EF4-FFF2-40B4-BE49-F238E27FC236}">
                <a16:creationId xmlns:a16="http://schemas.microsoft.com/office/drawing/2014/main" id="{3FB4367E-B906-4C75-8AD2-72FEB73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Token 带 jti，后端维护撤销表；每次认证还校验客户端会话版本。退出可撤销当前令牌，同类型客户端重新登录可让旧会话失效。</a:t>
            </a:r>
          </a:p>
        </p:txBody>
      </p:sp>
      <p:sp>
        <p:nvSpPr>
          <p:cNvPr id="6" name="text-309">
            <a:extLst xmlns:a="http://schemas.openxmlformats.org/drawingml/2006/main">
              <a:ext uri="{FF2B5EF4-FFF2-40B4-BE49-F238E27FC236}">
                <a16:creationId xmlns:a16="http://schemas.microsoft.com/office/drawing/2014/main" id="{FF8446D4-02E7-4E6C-84B7-F3508F31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Q6 推送失败会不会丢数据？</a:t>
            </a:r>
          </a:p>
        </p:txBody>
      </p:sp>
      <p:sp>
        <p:nvSpPr>
          <p:cNvPr id="7" name="text-310">
            <a:extLst xmlns:a="http://schemas.openxmlformats.org/drawingml/2006/main">
              <a:ext uri="{FF2B5EF4-FFF2-40B4-BE49-F238E27FC236}">
                <a16:creationId xmlns:a16="http://schemas.microsoft.com/office/drawing/2014/main" id="{9C86BF0C-050C-41E4-8D2E-CF4CE64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业务数据先提交数据库，再发送 SignalR。推送失败只记录警告，不把成功写入误报成失败；客户端重连后可通过列表接口恢复。</a:t>
            </a:r>
          </a:p>
        </p:txBody>
      </p:sp>
      <p:sp>
        <p:nvSpPr>
          <p:cNvPr id="8" name="text-311">
            <a:extLst xmlns:a="http://schemas.openxmlformats.org/drawingml/2006/main">
              <a:ext uri="{FF2B5EF4-FFF2-40B4-BE49-F238E27FC236}">
                <a16:creationId xmlns:a16="http://schemas.microsoft.com/office/drawing/2014/main" id="{B680085B-D110-476E-8692-EF60A112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Q7 如何证明项目不是只能演示？</a:t>
            </a:r>
          </a:p>
        </p:txBody>
      </p:sp>
      <p:sp>
        <p:nvSpPr>
          <p:cNvPr id="9" name="text-312">
            <a:extLst xmlns:a="http://schemas.openxmlformats.org/drawingml/2006/main">
              <a:ext uri="{FF2B5EF4-FFF2-40B4-BE49-F238E27FC236}">
                <a16:creationId xmlns:a16="http://schemas.microsoft.com/office/drawing/2014/main" id="{D672D0C0-532D-45F3-AF02-E9580145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本次实际执行后端 41/41 测试、Web 生产构建、Android assembleDebug 和微信小程序构建，核心交付目标通过；Android 单元测试类加载问题也被如实记录为质量边界。</a:t>
            </a:r>
          </a:p>
        </p:txBody>
      </p:sp>
      <p:sp>
        <p:nvSpPr>
          <p:cNvPr id="10" name="text-313">
            <a:extLst xmlns:a="http://schemas.openxmlformats.org/drawingml/2006/main">
              <a:ext uri="{FF2B5EF4-FFF2-40B4-BE49-F238E27FC236}">
                <a16:creationId xmlns:a16="http://schemas.microsoft.com/office/drawing/2014/main" id="{9AED4677-D4F9-459F-B3ED-AD280FB1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Q8 文件存储为什么做两套？</a:t>
            </a:r>
          </a:p>
        </p:txBody>
      </p:sp>
      <p:sp>
        <p:nvSpPr>
          <p:cNvPr id="11" name="text-314">
            <a:extLst xmlns:a="http://schemas.openxmlformats.org/drawingml/2006/main">
              <a:ext uri="{FF2B5EF4-FFF2-40B4-BE49-F238E27FC236}">
                <a16:creationId xmlns:a16="http://schemas.microsoft.com/office/drawing/2014/main" id="{334C5490-A88D-48BF-A4E6-5BFACD8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本地存储便于开发与演示，MinIO 适合服务器对象存储。它们实现同一 IFileStorageService，靠配置切换，业务控制器无需改代码。</a:t>
            </a:r>
          </a:p>
        </p:txBody>
      </p:sp>
    </p:spTree>
    <p:extLst>
      <p:ext uri="{BB962C8B-B14F-4D97-AF65-F5344CB8AC3E}">
        <p14:creationId xmlns:p14="http://schemas.microsoft.com/office/powerpoint/2010/main" val="2099120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15">
            <a:extLst xmlns:a="http://schemas.openxmlformats.org/drawingml/2006/main">
              <a:ext uri="{FF2B5EF4-FFF2-40B4-BE49-F238E27FC236}">
                <a16:creationId xmlns:a16="http://schemas.microsoft.com/office/drawing/2014/main" id="{D03B480D-6831-4F6B-8422-2332CCD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答辩问题：组长贡献与项目边界</a:t>
            </a:r>
          </a:p>
        </p:txBody>
      </p:sp>
      <p:sp>
        <p:nvSpPr>
          <p:cNvPr id="2" name="text-316">
            <a:extLst xmlns:a="http://schemas.openxmlformats.org/drawingml/2006/main">
              <a:ext uri="{FF2B5EF4-FFF2-40B4-BE49-F238E27FC236}">
                <a16:creationId xmlns:a16="http://schemas.microsoft.com/office/drawing/2014/main" id="{0878ECA5-36BE-451E-8E80-0D08111B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857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附录：组长回答要强调决策、协调与闭环证据</a:t>
            </a:r>
          </a:p>
        </p:txBody>
      </p:sp>
      <p:sp>
        <p:nvSpPr>
          <p:cNvPr id="3" name="text-317">
            <a:extLst xmlns:a="http://schemas.openxmlformats.org/drawingml/2006/main">
              <a:ext uri="{FF2B5EF4-FFF2-40B4-BE49-F238E27FC236}">
                <a16:creationId xmlns:a16="http://schemas.microsoft.com/office/drawing/2014/main" id="{0ACA18FE-A4A9-4966-BD92-C51FED7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18</a:t>
            </a:r>
          </a:p>
        </p:txBody>
      </p:sp>
      <p:sp>
        <p:nvSpPr>
          <p:cNvPr id="4" name="text-318">
            <a:extLst xmlns:a="http://schemas.openxmlformats.org/drawingml/2006/main">
              <a:ext uri="{FF2B5EF4-FFF2-40B4-BE49-F238E27FC236}">
                <a16:creationId xmlns:a16="http://schemas.microsoft.com/office/drawing/2014/main" id="{B2EF6473-B1F3-4C31-8F97-AA85636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Q9 你作为组长做了什么？</a:t>
            </a:r>
          </a:p>
        </p:txBody>
      </p:sp>
      <p:sp>
        <p:nvSpPr>
          <p:cNvPr id="5" name="text-319">
            <a:extLst xmlns:a="http://schemas.openxmlformats.org/drawingml/2006/main">
              <a:ext uri="{FF2B5EF4-FFF2-40B4-BE49-F238E27FC236}">
                <a16:creationId xmlns:a16="http://schemas.microsoft.com/office/drawing/2014/main" id="{8E6F98C3-EEF6-449E-99A4-0ED499BD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我负责范围取舍、任务拆解、接口规范、关键后端能力、代码 Review、跨端联调、风险收敛和最终汇报。我的价值是让六个人的产出能合成一个可验收系统。</a:t>
            </a:r>
          </a:p>
        </p:txBody>
      </p:sp>
      <p:sp>
        <p:nvSpPr>
          <p:cNvPr id="6" name="text-320">
            <a:extLst xmlns:a="http://schemas.openxmlformats.org/drawingml/2006/main">
              <a:ext uri="{FF2B5EF4-FFF2-40B4-BE49-F238E27FC236}">
                <a16:creationId xmlns:a16="http://schemas.microsoft.com/office/drawing/2014/main" id="{47FD6CC6-28FF-45BD-9F8B-94D148E1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382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Q10 最大技术难点是什么？</a:t>
            </a:r>
          </a:p>
        </p:txBody>
      </p:sp>
      <p:sp>
        <p:nvSpPr>
          <p:cNvPr id="7" name="text-321">
            <a:extLst xmlns:a="http://schemas.openxmlformats.org/drawingml/2006/main">
              <a:ext uri="{FF2B5EF4-FFF2-40B4-BE49-F238E27FC236}">
                <a16:creationId xmlns:a16="http://schemas.microsoft.com/office/drawing/2014/main" id="{63830B71-20A9-4C60-B0BA-868AE15B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多端实时状态最难：既要实时，又不能让瞬时网络失败破坏业务成功语义。最终采用先落库、后推送、重连再拉取的策略。</a:t>
            </a:r>
          </a:p>
        </p:txBody>
      </p:sp>
      <p:sp>
        <p:nvSpPr>
          <p:cNvPr id="8" name="text-322">
            <a:extLst xmlns:a="http://schemas.openxmlformats.org/drawingml/2006/main">
              <a:ext uri="{FF2B5EF4-FFF2-40B4-BE49-F238E27FC236}">
                <a16:creationId xmlns:a16="http://schemas.microsoft.com/office/drawing/2014/main" id="{307A4AAE-3715-48D2-BD69-D025464D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Q11 哪些功能还不完整？</a:t>
            </a:r>
          </a:p>
        </p:txBody>
      </p:sp>
      <p:sp>
        <p:nvSpPr>
          <p:cNvPr id="9" name="text-323">
            <a:extLst xmlns:a="http://schemas.openxmlformats.org/drawingml/2006/main">
              <a:ext uri="{FF2B5EF4-FFF2-40B4-BE49-F238E27FC236}">
                <a16:creationId xmlns:a16="http://schemas.microsoft.com/office/drawing/2014/main" id="{393E46B7-3E80-48A5-B14B-E7DD9AFE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文档尚未实现 CRDT 多光标共编；Messages 包体偏大；Android 单元测试任务仍有类加载问题。Debug APK 与小程序构建已通过，以上边界都有明确改进路径。</a:t>
            </a:r>
          </a:p>
        </p:txBody>
      </p:sp>
      <p:sp>
        <p:nvSpPr>
          <p:cNvPr id="10" name="text-324">
            <a:extLst xmlns:a="http://schemas.openxmlformats.org/drawingml/2006/main">
              <a:ext uri="{FF2B5EF4-FFF2-40B4-BE49-F238E27FC236}">
                <a16:creationId xmlns:a16="http://schemas.microsoft.com/office/drawing/2014/main" id="{364517BB-87EF-4100-918B-BF78534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70FF"/>
                </a:solidFill>
                <a:latin typeface="Microsoft YaHei"/>
                <a:ea typeface="Microsoft YaHei"/>
                <a:cs typeface="Microsoft YaHei"/>
              </a:defRPr>
            </a:pPr>
            <a:r>
              <a:t>Q12 如果再给一周怎么安排？</a:t>
            </a:r>
          </a:p>
        </p:txBody>
      </p:sp>
      <p:sp>
        <p:nvSpPr>
          <p:cNvPr id="11" name="text-325">
            <a:extLst xmlns:a="http://schemas.openxmlformats.org/drawingml/2006/main">
              <a:ext uri="{FF2B5EF4-FFF2-40B4-BE49-F238E27FC236}">
                <a16:creationId xmlns:a16="http://schemas.microsoft.com/office/drawing/2014/main" id="{92C75955-5228-46F8-B6EF-F3CDA99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5143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386"/>
                </a:solidFill>
                <a:latin typeface="Microsoft YaHei"/>
                <a:ea typeface="Microsoft YaHei"/>
                <a:cs typeface="Microsoft YaHei"/>
              </a:defRPr>
            </a:pPr>
            <a:r>
              <a:t>先修复 Android 测试执行链并接入 CI，同时拆分消息与会议包体；再接 Yjs 文档协同；最后补可观测性、离线队列与并发压测，用指标验证改进。</a:t>
            </a:r>
          </a:p>
        </p:txBody>
      </p:sp>
    </p:spTree>
    <p:extLst>
      <p:ext uri="{BB962C8B-B14F-4D97-AF65-F5344CB8AC3E}">
        <p14:creationId xmlns:p14="http://schemas.microsoft.com/office/powerpoint/2010/main" val="527010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2026-07-19T02:45:34.0580000Z</dcterms:created>
  <dcterms:modified xsi:type="dcterms:W3CDTF">2026-07-19T02:45:34.0580000Z</dcterms:modified>
</coreProperties>
</file>