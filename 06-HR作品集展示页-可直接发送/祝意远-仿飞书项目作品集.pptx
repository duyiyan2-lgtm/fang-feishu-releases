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a08580bd3544b5" /><Relationship Type="http://schemas.openxmlformats.org/officeDocument/2006/relationships/extended-properties" Target="/docProps/app.xml" Id="Ra99db9e1d9d94752" /><Relationship Type="http://schemas.openxmlformats.org/officeDocument/2006/relationships/officeDocument" Target="/ppt/presentation.xml" Id="R79f51c5af6894d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3153aa5a6f43bb"/>
  </p:sldMasterIdLst>
  <p:notesMasterIdLst>
    <p:notesMasterId xmlns:r="http://schemas.openxmlformats.org/officeDocument/2006/relationships" r:id="Ra9386db4d8794dd4"/>
  </p:notesMasterIdLst>
  <p:sldIdLst>
    <p:sldId xmlns:r="http://schemas.openxmlformats.org/officeDocument/2006/relationships" id="256" r:id="R864e2ec1a105433d"/>
    <p:sldId xmlns:r="http://schemas.openxmlformats.org/officeDocument/2006/relationships" id="257" r:id="Rf38e650c5ce34a71"/>
    <p:sldId xmlns:r="http://schemas.openxmlformats.org/officeDocument/2006/relationships" id="258" r:id="R93db486f004f4028"/>
    <p:sldId xmlns:r="http://schemas.openxmlformats.org/officeDocument/2006/relationships" id="259" r:id="R0648dc175b0140bc"/>
    <p:sldId xmlns:r="http://schemas.openxmlformats.org/officeDocument/2006/relationships" id="260" r:id="Rb0b95601dcc44ed1"/>
    <p:sldId xmlns:r="http://schemas.openxmlformats.org/officeDocument/2006/relationships" id="261" r:id="R79aee60bf20d41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f024b8a2c4e1a" /><Relationship Type="http://schemas.openxmlformats.org/officeDocument/2006/relationships/slideMaster" Target="/ppt/slideMasters/slideMaster1.xml" Id="R4c3153aa5a6f43bb" /><Relationship Type="http://schemas.openxmlformats.org/officeDocument/2006/relationships/notesMaster" Target="/ppt/notesMasters/notesMaster1.xml" Id="Ra9386db4d8794dd4" /><Relationship Type="http://schemas.openxmlformats.org/officeDocument/2006/relationships/presProps" Target="/ppt/presProps.xml" Id="R54b4ca44495b4926" /><Relationship Type="http://schemas.openxmlformats.org/officeDocument/2006/relationships/tableStyles" Target="/ppt/tableStyles.xml" Id="R7caf3afb2bec475c" /><Relationship Type="http://schemas.openxmlformats.org/officeDocument/2006/relationships/slide" Target="/ppt/slides/slide1.xml" Id="R864e2ec1a105433d" /><Relationship Type="http://schemas.openxmlformats.org/officeDocument/2006/relationships/slide" Target="/ppt/slides/slide2.xml" Id="Rf38e650c5ce34a71" /><Relationship Type="http://schemas.openxmlformats.org/officeDocument/2006/relationships/slide" Target="/ppt/slides/slide3.xml" Id="R93db486f004f4028" /><Relationship Type="http://schemas.openxmlformats.org/officeDocument/2006/relationships/slide" Target="/ppt/slides/slide4.xml" Id="R0648dc175b0140bc" /><Relationship Type="http://schemas.openxmlformats.org/officeDocument/2006/relationships/slide" Target="/ppt/slides/slide5.xml" Id="Rb0b95601dcc44ed1" /><Relationship Type="http://schemas.openxmlformats.org/officeDocument/2006/relationships/slide" Target="/ppt/slides/slide6.xml" Id="R79aee60bf20d41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afcba70d9e40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34d6a2221a4a09" /><Relationship Type="http://schemas.openxmlformats.org/officeDocument/2006/relationships/notesMaster" Target="/ppt/notesMasters/notesMaster1.xml" Id="R23fadc8a44e64c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e9bdc2642f4a87" /><Relationship Type="http://schemas.openxmlformats.org/officeDocument/2006/relationships/notesMaster" Target="/ppt/notesMasters/notesMaster1.xml" Id="Ra4642d38644647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2a99bb55e547e8" /><Relationship Type="http://schemas.openxmlformats.org/officeDocument/2006/relationships/notesMaster" Target="/ppt/notesMasters/notesMaster1.xml" Id="R424aacf2c3d94e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23d58cb5e64cb5" /><Relationship Type="http://schemas.openxmlformats.org/officeDocument/2006/relationships/notesMaster" Target="/ppt/notesMasters/notesMaster1.xml" Id="Rcb2e738893684a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b9e8a1c294aa3" /><Relationship Type="http://schemas.openxmlformats.org/officeDocument/2006/relationships/notesMaster" Target="/ppt/notesMasters/notesMaster1.xml" Id="Rab813469244649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279d48c2a94572" /><Relationship Type="http://schemas.openxmlformats.org/officeDocument/2006/relationships/notesMaster" Target="/ppt/notesMasters/notesMaster1.xml" Id="R14d8939f673744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UI: mini-multiview-16x10.png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UI: web-messages.png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UI: web-documents.png</a:t>
            </a:r>
          </a:p>
          <a:p xmlns:a="http://schemas.openxmlformats.org/drawingml/2006/main">
            <a:r>
              <a:t>- Internal project UI: mini-documents.png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deployment and repair records: LiveKit migration, Nginx /rtc, TCP 7881, UDP 7882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verification report: slide-12.png</a:t>
            </a:r>
          </a:p>
          <a:p xmlns:a="http://schemas.openxmlformats.org/drawingml/2006/main">
            <a:r>
              <a:t>- Internal delivery archive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contribution record: slide-13.png</a:t>
            </a:r>
          </a:p>
          <a:p xmlns:a="http://schemas.openxmlformats.org/drawingml/2006/main">
            <a:r>
              <a:t>- Internal delivery archive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a24bda23648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ea4bd6b81e4a91" /><Relationship Type="http://schemas.openxmlformats.org/officeDocument/2006/relationships/slideLayout" Target="/ppt/slideLayouts/slideLayout1.xml" Id="R06a17b67bb7b41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a17b67bb7b41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830677be84daa" /><Relationship Type="http://schemas.openxmlformats.org/officeDocument/2006/relationships/image" Target="/ppt/media/image.png" Id="R7368c2f878874a53" /><Relationship Type="http://schemas.openxmlformats.org/officeDocument/2006/relationships/notesSlide" Target="/ppt/notesSlides/notesSlide1.xml" Id="Refba5f5ef27547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8e07d21e744a0" /><Relationship Type="http://schemas.openxmlformats.org/officeDocument/2006/relationships/image" Target="/ppt/media/image2.png" Id="Ra8d4278014cf4b6b" /><Relationship Type="http://schemas.openxmlformats.org/officeDocument/2006/relationships/notesSlide" Target="/ppt/notesSlides/notesSlide2.xml" Id="R3cd23ffadb474c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de192784d4914" /><Relationship Type="http://schemas.openxmlformats.org/officeDocument/2006/relationships/image" Target="/ppt/media/image3.png" Id="Rf569ca9b8e444a66" /><Relationship Type="http://schemas.openxmlformats.org/officeDocument/2006/relationships/image" Target="/ppt/media/image4.png" Id="Ra745a44aa309424e" /><Relationship Type="http://schemas.openxmlformats.org/officeDocument/2006/relationships/notesSlide" Target="/ppt/notesSlides/notesSlide3.xml" Id="R665702648e75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c29cbb0d647da" /><Relationship Type="http://schemas.openxmlformats.org/officeDocument/2006/relationships/notesSlide" Target="/ppt/notesSlides/notesSlide4.xml" Id="R0a3256d428bc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418b77b6c440a" /><Relationship Type="http://schemas.openxmlformats.org/officeDocument/2006/relationships/notesSlide" Target="/ppt/notesSlides/notesSlide5.xml" Id="R139aeb8f689b4a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66cff04634b46" /><Relationship Type="http://schemas.openxmlformats.org/officeDocument/2006/relationships/notesSlide" Target="/ppt/notesSlides/notesSlide6.xml" Id="Rf1d285440e2a4f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C468357-EBDD-49B5-84BD-D4E069C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1EA413D-ACCD-4980-AFE7-559D5D37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PORTFOLIO ·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850EF56-3F17-4A91-ABB0-B556951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仿飞书协同办公平台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9F2EC51-FE02-4257-BA60-DF529BED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把一个产品想法推进成可部署、可联调的四端协同系统</a:t>
            </a:r>
          </a:p>
        </p:txBody>
      </p:sp>
      <p:cxnSp>
        <p:nvCxnSpPr>
          <p:cNvPr id="15" name="cover-rule"/>
          <p:cNvCxnSpPr/>
          <p:nvPr/>
        </p:nvCxnSpPr>
        <p:spPr>
          <a:xfrm xmlns:a="http://schemas.openxmlformats.org/drawingml/2006/main">
            <a:off x="628650" y="430530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6" name="cover-owner">
            <a:extLst xmlns:a="http://schemas.openxmlformats.org/drawingml/2006/main">
              <a:ext uri="{FF2B5EF4-FFF2-40B4-BE49-F238E27FC236}">
                <a16:creationId xmlns:a16="http://schemas.microsoft.com/office/drawing/2014/main" id="{6C6BCE6A-9D7A-4888-95EF-EF74A91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祝意远｜项目组长 · 后端主线 · 跨端交付</a:t>
            </a:r>
          </a:p>
        </p:txBody>
      </p:sp>
      <p:sp>
        <p:nvSpPr>
          <p:cNvPr id="7" name="cover-tags">
            <a:extLst xmlns:a="http://schemas.openxmlformats.org/drawingml/2006/main">
              <a:ext uri="{FF2B5EF4-FFF2-40B4-BE49-F238E27FC236}">
                <a16:creationId xmlns:a16="http://schemas.microsoft.com/office/drawing/2014/main" id="{4AB866F0-5B34-4ECF-A56F-569506F1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Web / PC / Android / 小程序   ·   LiveKit   ·   Docker</a:t>
            </a:r>
          </a:p>
        </p:txBody>
      </p:sp>
      <p:sp>
        <p:nvSpPr>
          <p:cNvPr id="8" name="多端产品界面-backing">
            <a:extLst xmlns:a="http://schemas.openxmlformats.org/drawingml/2006/main">
              <a:ext uri="{FF2B5EF4-FFF2-40B4-BE49-F238E27FC236}">
                <a16:creationId xmlns:a16="http://schemas.microsoft.com/office/drawing/2014/main" id="{3877EC01-8EC2-486C-BD4C-BD0A1708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76275"/>
            <a:ext cx="5448300" cy="5448300"/>
          </a:xfrm>
          <a:prstGeom xmlns:a="http://schemas.openxmlformats.org/drawingml/2006/main" prst="roundRect">
            <a:avLst>
              <a:gd name="adj" fmla="val 209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8c2f878874a53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685800"/>
            <a:ext cx="5429250" cy="542925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10" name="page-1">
            <a:extLst xmlns:a="http://schemas.openxmlformats.org/drawingml/2006/main">
              <a:ext uri="{FF2B5EF4-FFF2-40B4-BE49-F238E27FC236}">
                <a16:creationId xmlns:a16="http://schemas.microsoft.com/office/drawing/2014/main" id="{EF86A9B6-244A-451B-8F81-2C5668B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1783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2">
            <a:extLst xmlns:a="http://schemas.openxmlformats.org/drawingml/2006/main">
              <a:ext uri="{FF2B5EF4-FFF2-40B4-BE49-F238E27FC236}">
                <a16:creationId xmlns:a16="http://schemas.microsoft.com/office/drawing/2014/main" id="{880A9336-1B6F-491D-84AF-FC027129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PRODUCT PROOF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AEB32A0-49F5-4354-9DF4-3C1F074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核心业务不是静态页面，消息链路在真实后端上运行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EA724E48-ACCB-4BF2-9F4D-AFB3CFB5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群聊、实时推送、未读状态、撤回与搜索共同构成完整沟通闭环。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01CAE9E-55E5-4D73-B02E-818E3E58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Web 实时消息界面-backing">
            <a:extLst xmlns:a="http://schemas.openxmlformats.org/drawingml/2006/main">
              <a:ext uri="{FF2B5EF4-FFF2-40B4-BE49-F238E27FC236}">
                <a16:creationId xmlns:a16="http://schemas.microsoft.com/office/drawing/2014/main" id="{C9284D05-D607-4CFE-8B51-B5AB97A5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28825"/>
            <a:ext cx="72580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4278014cf4b6b"/>
          <a:stretch xmlns:a="http://schemas.openxmlformats.org/drawingml/2006/main"/>
        </p:blipFill>
        <p:spPr>
          <a:xfrm xmlns:a="http://schemas.openxmlformats.org/drawingml/2006/main">
            <a:off x="952500" y="2038350"/>
            <a:ext cx="6553200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7" name="product-number">
            <a:extLst xmlns:a="http://schemas.openxmlformats.org/drawingml/2006/main">
              <a:ext uri="{FF2B5EF4-FFF2-40B4-BE49-F238E27FC236}">
                <a16:creationId xmlns:a16="http://schemas.microsoft.com/office/drawing/2014/main" id="{029C0CF0-FE67-4FCF-B79F-9B66D51A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product-point-1">
            <a:extLst xmlns:a="http://schemas.openxmlformats.org/drawingml/2006/main">
              <a:ext uri="{FF2B5EF4-FFF2-40B4-BE49-F238E27FC236}">
                <a16:creationId xmlns:a16="http://schemas.microsoft.com/office/drawing/2014/main" id="{C8DD680A-73EA-4C3A-8011-9FA85C6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实时同步</a:t>
            </a:r>
          </a:p>
        </p:txBody>
      </p:sp>
      <p:sp>
        <p:nvSpPr>
          <p:cNvPr id="9" name="product-desc-1">
            <a:extLst xmlns:a="http://schemas.openxmlformats.org/drawingml/2006/main">
              <a:ext uri="{FF2B5EF4-FFF2-40B4-BE49-F238E27FC236}">
                <a16:creationId xmlns:a16="http://schemas.microsoft.com/office/drawing/2014/main" id="{0F718081-D2BC-4B0D-8BDC-CF52058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通过 SignalR 维护跨页面、跨客户端的消息状态。</a:t>
            </a:r>
          </a:p>
        </p:txBody>
      </p:sp>
      <p:cxnSp>
        <p:nvCxnSpPr>
          <p:cNvPr id="25" name="product-rule-1"/>
          <p:cNvCxnSpPr/>
          <p:nvPr/>
        </p:nvCxnSpPr>
        <p:spPr>
          <a:xfrm xmlns:a="http://schemas.openxmlformats.org/drawingml/2006/main">
            <a:off x="8401050" y="3943350"/>
            <a:ext cx="2914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1" name="product-number-2">
            <a:extLst xmlns:a="http://schemas.openxmlformats.org/drawingml/2006/main">
              <a:ext uri="{FF2B5EF4-FFF2-40B4-BE49-F238E27FC236}">
                <a16:creationId xmlns:a16="http://schemas.microsoft.com/office/drawing/2014/main" id="{F8F8F426-255B-4FDA-B16E-3EB10284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B8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roduct-point-2">
            <a:extLst xmlns:a="http://schemas.openxmlformats.org/drawingml/2006/main">
              <a:ext uri="{FF2B5EF4-FFF2-40B4-BE49-F238E27FC236}">
                <a16:creationId xmlns:a16="http://schemas.microsoft.com/office/drawing/2014/main" id="{9DA1A0CC-2D98-4BFB-9504-93ECE94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291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真实群聊场景</a:t>
            </a:r>
          </a:p>
        </p:txBody>
      </p:sp>
      <p:sp>
        <p:nvSpPr>
          <p:cNvPr id="13" name="product-desc-2">
            <a:extLst xmlns:a="http://schemas.openxmlformats.org/drawingml/2006/main">
              <a:ext uri="{FF2B5EF4-FFF2-40B4-BE49-F238E27FC236}">
                <a16:creationId xmlns:a16="http://schemas.microsoft.com/office/drawing/2014/main" id="{D368C026-F0FA-41D9-B026-1BB14714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863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单聊与群聊共享统一接口，支持提醒与状态反馈。</a:t>
            </a:r>
          </a:p>
        </p:txBody>
      </p:sp>
      <p:cxnSp>
        <p:nvCxnSpPr>
          <p:cNvPr id="29" name="product-rule-2"/>
          <p:cNvCxnSpPr/>
          <p:nvPr/>
        </p:nvCxnSpPr>
        <p:spPr>
          <a:xfrm xmlns:a="http://schemas.openxmlformats.org/drawingml/2006/main">
            <a:off x="8401050" y="5505450"/>
            <a:ext cx="2914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5" name="product-foot">
            <a:extLst xmlns:a="http://schemas.openxmlformats.org/drawingml/2006/main">
              <a:ext uri="{FF2B5EF4-FFF2-40B4-BE49-F238E27FC236}">
                <a16:creationId xmlns:a16="http://schemas.microsoft.com/office/drawing/2014/main" id="{908C1197-6B50-461B-B380-46283604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7531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前端体验 + 后端数据 + 实时通信</a:t>
            </a:r>
          </a:p>
        </p:txBody>
      </p:sp>
    </p:spTree>
    <p:extLst>
      <p:ext uri="{BB962C8B-B14F-4D97-AF65-F5344CB8AC3E}">
        <p14:creationId xmlns:p14="http://schemas.microsoft.com/office/powerpoint/2010/main" val="116851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3">
            <a:extLst xmlns:a="http://schemas.openxmlformats.org/drawingml/2006/main">
              <a:ext uri="{FF2B5EF4-FFF2-40B4-BE49-F238E27FC236}">
                <a16:creationId xmlns:a16="http://schemas.microsoft.com/office/drawing/2014/main" id="{8CCA5857-AAA2-4ED0-A69D-87602370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COLLABORATION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6D233A3-5A2F-4B2A-AA40-0E85CD2F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协同能力延伸到文档、云空间与移动工作台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610100D6-05BB-451E-955D-EDB95804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功能设计围绕办公流程展开，让不同客户端共享同一套业务能力。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D3686B90-4058-4C04-9952-69A55374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Web 文档管理-backing">
            <a:extLst xmlns:a="http://schemas.openxmlformats.org/drawingml/2006/main">
              <a:ext uri="{FF2B5EF4-FFF2-40B4-BE49-F238E27FC236}">
                <a16:creationId xmlns:a16="http://schemas.microsoft.com/office/drawing/2014/main" id="{DE69B5E2-BFEB-40EF-A424-FB8FA2F3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05025"/>
            <a:ext cx="75438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9ca9b8e444a66"/>
          <a:stretch xmlns:a="http://schemas.openxmlformats.org/drawingml/2006/main"/>
        </p:blipFill>
        <p:spPr>
          <a:xfrm xmlns:a="http://schemas.openxmlformats.org/drawingml/2006/main">
            <a:off x="1156335" y="2114550"/>
            <a:ext cx="6431280" cy="4019550"/>
          </a:xfrm>
          <a:prstGeom xmlns:a="http://schemas.openxmlformats.org/drawingml/2006/main" prst="roundRect">
            <a:avLst>
              <a:gd name="adj" fmla="val 1896"/>
            </a:avLst>
          </a:prstGeom>
        </p:spPr>
      </p:pic>
      <p:sp>
        <p:nvSpPr>
          <p:cNvPr id="7" name="Android 文档页面-backing">
            <a:extLst xmlns:a="http://schemas.openxmlformats.org/drawingml/2006/main">
              <a:ext uri="{FF2B5EF4-FFF2-40B4-BE49-F238E27FC236}">
                <a16:creationId xmlns:a16="http://schemas.microsoft.com/office/drawing/2014/main" id="{33ADE5FF-300C-4321-AE42-F01FECC2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33575"/>
            <a:ext cx="2400300" cy="4286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5a44aa309424e"/>
          <a:srcRect xmlns:a="http://schemas.openxmlformats.org/drawingml/2006/main" l="0" t="8661" r="0" b="8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9650" y="1943100"/>
            <a:ext cx="2381250" cy="426720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9" name="mobile-label-bg">
            <a:extLst xmlns:a="http://schemas.openxmlformats.org/drawingml/2006/main">
              <a:ext uri="{FF2B5EF4-FFF2-40B4-BE49-F238E27FC236}">
                <a16:creationId xmlns:a16="http://schemas.microsoft.com/office/drawing/2014/main" id="{67021698-1422-4932-BFAA-049518CF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19750"/>
            <a:ext cx="1924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bile-label">
            <a:extLst xmlns:a="http://schemas.openxmlformats.org/drawingml/2006/main">
              <a:ext uri="{FF2B5EF4-FFF2-40B4-BE49-F238E27FC236}">
                <a16:creationId xmlns:a16="http://schemas.microsoft.com/office/drawing/2014/main" id="{54A486A9-5719-4CDA-99AF-FB3FFBC5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7054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Android 原生客户端</a:t>
            </a:r>
          </a:p>
        </p:txBody>
      </p:sp>
    </p:spTree>
    <p:extLst>
      <p:ext uri="{BB962C8B-B14F-4D97-AF65-F5344CB8AC3E}">
        <p14:creationId xmlns:p14="http://schemas.microsoft.com/office/powerpoint/2010/main" val="652205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4">
            <a:extLst xmlns:a="http://schemas.openxmlformats.org/drawingml/2006/main">
              <a:ext uri="{FF2B5EF4-FFF2-40B4-BE49-F238E27FC236}">
                <a16:creationId xmlns:a16="http://schemas.microsoft.com/office/drawing/2014/main" id="{A21FAC26-ADD9-4230-B652-FAB95227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32E4C85-1B6A-452E-8EA0-C2E9440D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当 Agora 受限，我完成了自建 LiveKit 替换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FD614AAE-FC83-4A6E-96D4-915718DE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这次迁移覆盖服务部署、鉴权、网络端口、WSS 代理和客户端适配。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8159917-A248-44AD-A8D3-D28E371C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24" name="timeline-line"/>
          <p:cNvCxnSpPr/>
          <p:nvPr/>
        </p:nvCxnSpPr>
        <p:spPr>
          <a:xfrm xmlns:a="http://schemas.openxmlformats.org/drawingml/2006/main">
            <a:off x="876300" y="3314700"/>
            <a:ext cx="10439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D2B59906-6F03-43EA-A834-804EFB48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69BEF371-0B31-4559-B84B-CA57C4E9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发现问题</a:t>
            </a:r>
          </a:p>
        </p:txBody>
      </p:sp>
      <p:sp>
        <p:nvSpPr>
          <p:cNvPr id="8" name="timeline-head-1">
            <a:extLst xmlns:a="http://schemas.openxmlformats.org/drawingml/2006/main">
              <a:ext uri="{FF2B5EF4-FFF2-40B4-BE49-F238E27FC236}">
                <a16:creationId xmlns:a16="http://schemas.microsoft.com/office/drawing/2014/main" id="{E4AE8084-7803-47AE-8D57-E97D974B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第三方 RTC 不可用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ABF8AA24-FF7C-4BFA-AF30-AF2A1D18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2781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定位网关无可用状态，确认不是单纯前端页面故障。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0853C915-115F-4F81-888F-6C3CFD3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9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FA77A0BB-ACB9-43E3-904D-543D6058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替换方案</a:t>
            </a:r>
          </a:p>
        </p:txBody>
      </p:sp>
      <p:sp>
        <p:nvSpPr>
          <p:cNvPr id="12" name="timeline-head-2">
            <a:extLst xmlns:a="http://schemas.openxmlformats.org/drawingml/2006/main">
              <a:ext uri="{FF2B5EF4-FFF2-40B4-BE49-F238E27FC236}">
                <a16:creationId xmlns:a16="http://schemas.microsoft.com/office/drawing/2014/main" id="{112A8482-424F-4CC4-9CAD-D8D1816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719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服务器自建 LiveKit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40EA9C96-7CC7-4DCC-A1A8-77C049EC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2781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增加令牌服务与 Docker 容器，配置 TCP 7881、UDP 7882。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A5B1FAB9-D8BC-4D76-BB55-7769BE1D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9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C7CE7AF8-07A6-4F69-B200-1494614E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完成上线</a:t>
            </a:r>
          </a:p>
        </p:txBody>
      </p:sp>
      <p:sp>
        <p:nvSpPr>
          <p:cNvPr id="16" name="timeline-head-3">
            <a:extLst xmlns:a="http://schemas.openxmlformats.org/drawingml/2006/main">
              <a:ext uri="{FF2B5EF4-FFF2-40B4-BE49-F238E27FC236}">
                <a16:creationId xmlns:a16="http://schemas.microsoft.com/office/drawing/2014/main" id="{8BF65745-D710-4EDC-B052-FC6D6ECD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Web 与 Android 接入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CACD8993-7527-4402-9B89-62D73ED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81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通过 Nginx 暴露 WSS /rtc，并完成多端会议联调。</a:t>
            </a:r>
          </a:p>
        </p:txBody>
      </p:sp>
      <p:sp>
        <p:nvSpPr>
          <p:cNvPr id="18" name="tech-strip">
            <a:extLst xmlns:a="http://schemas.openxmlformats.org/drawingml/2006/main">
              <a:ext uri="{FF2B5EF4-FFF2-40B4-BE49-F238E27FC236}">
                <a16:creationId xmlns:a16="http://schemas.microsoft.com/office/drawing/2014/main" id="{3F4092F1-E190-42A8-B2F6-DB933A5C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439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ch-strip-text">
            <a:extLst xmlns:a="http://schemas.openxmlformats.org/drawingml/2006/main">
              <a:ext uri="{FF2B5EF4-FFF2-40B4-BE49-F238E27FC236}">
                <a16:creationId xmlns:a16="http://schemas.microsoft.com/office/drawing/2014/main" id="{97591BA0-692D-4224-8141-A0B60D89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76925"/>
            <a:ext cx="1005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LiveKit · Docker Compose · ASP.NET Core Token Service · Nginx WSS · TCP/UDP</a:t>
            </a:r>
          </a:p>
        </p:txBody>
      </p:sp>
    </p:spTree>
    <p:extLst>
      <p:ext uri="{BB962C8B-B14F-4D97-AF65-F5344CB8AC3E}">
        <p14:creationId xmlns:p14="http://schemas.microsoft.com/office/powerpoint/2010/main" val="1293199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quality-eyebrow">
            <a:extLst xmlns:a="http://schemas.openxmlformats.org/drawingml/2006/main">
              <a:ext uri="{FF2B5EF4-FFF2-40B4-BE49-F238E27FC236}">
                <a16:creationId xmlns:a16="http://schemas.microsoft.com/office/drawing/2014/main" id="{494F804C-5C48-4DE2-A88B-FB3609D2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B8F2"/>
                </a:solidFill>
                <a:latin typeface="Microsoft YaHei"/>
                <a:ea typeface="Microsoft YaHei"/>
                <a:cs typeface="Microsoft YaHei"/>
              </a:rPr>
              <a:t>QUALITY EVIDENCE</a:t>
            </a:r>
          </a:p>
        </p:txBody>
      </p:sp>
      <p:sp>
        <p:nvSpPr>
          <p:cNvPr id="2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920B1367-4F5F-4A48-9709-287D581E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交付有验证，结果可以量化</a:t>
            </a:r>
          </a:p>
        </p:txBody>
      </p:sp>
      <p:sp>
        <p:nvSpPr>
          <p:cNvPr id="3" name="quality-subtitle">
            <a:extLst xmlns:a="http://schemas.openxmlformats.org/drawingml/2006/main">
              <a:ext uri="{FF2B5EF4-FFF2-40B4-BE49-F238E27FC236}">
                <a16:creationId xmlns:a16="http://schemas.microsoft.com/office/drawing/2014/main" id="{7D82BB04-747C-47E0-BB34-DB066A49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8C1D1"/>
                </a:solidFill>
                <a:latin typeface="Microsoft YaHei"/>
                <a:ea typeface="Microsoft YaHei"/>
                <a:cs typeface="Microsoft YaHei"/>
              </a:rPr>
              <a:t>测试、接口和多端构建记录，为项目稳定性提供可追溯证据。</a:t>
            </a:r>
          </a:p>
        </p:txBody>
      </p:sp>
      <p:cxnSp>
        <p:nvCxnSpPr>
          <p:cNvPr id="18" name="metric-line-1"/>
          <p:cNvCxnSpPr/>
          <p:nvPr/>
        </p:nvCxnSpPr>
        <p:spPr>
          <a:xfrm xmlns:a="http://schemas.openxmlformats.org/drawingml/2006/main">
            <a:off x="609600" y="29337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054"/>
            </a:solidFill>
            <a:prstDash val="solid"/>
          </a:ln>
        </p:spPr>
      </p:cxnSp>
      <p:sp>
        <p:nvSpPr>
          <p:cNvPr id="5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5F07E34D-5932-422B-BBC6-D0F42850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0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B8F2"/>
                </a:solidFill>
                <a:latin typeface="Microsoft YaHei"/>
                <a:ea typeface="Microsoft YaHei"/>
                <a:cs typeface="Microsoft YaHei"/>
              </a:rPr>
              <a:t>41/41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EEC262B5-B144-47C3-9BFC-CAD3531C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后端自动化测试通过</a:t>
            </a:r>
          </a:p>
        </p:txBody>
      </p:sp>
      <p:cxnSp>
        <p:nvCxnSpPr>
          <p:cNvPr id="21" name="metric-line-2"/>
          <p:cNvCxnSpPr/>
          <p:nvPr/>
        </p:nvCxnSpPr>
        <p:spPr>
          <a:xfrm xmlns:a="http://schemas.openxmlformats.org/drawingml/2006/main">
            <a:off x="4324350" y="29337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054"/>
            </a:solidFill>
            <a:prstDash val="solid"/>
          </a:ln>
        </p:spPr>
      </p:cxn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E0B3E4ED-AA4F-4301-87AE-2BCC3BD5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7CD4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7CD4FD"/>
                </a:solidFill>
                <a:latin typeface="Microsoft YaHei"/>
                <a:ea typeface="Microsoft YaHei"/>
                <a:cs typeface="Microsoft YaHei"/>
              </a:rPr>
              <a:t>142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F8C361F1-1B8D-4D02-9070-BBAB8370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577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HTTP Actions 覆盖业务接口</a:t>
            </a:r>
          </a:p>
        </p:txBody>
      </p:sp>
      <p:cxnSp>
        <p:nvCxnSpPr>
          <p:cNvPr id="24" name="metric-line-3"/>
          <p:cNvCxnSpPr/>
          <p:nvPr/>
        </p:nvCxnSpPr>
        <p:spPr>
          <a:xfrm xmlns:a="http://schemas.openxmlformats.org/drawingml/2006/main">
            <a:off x="8039100" y="29337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4054"/>
            </a:solidFill>
            <a:prstDash val="solid"/>
          </a:ln>
        </p:spPr>
      </p:cxn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A2C1ECB4-596E-47F6-B58D-A7900171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A6F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A6F4C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D2330397-5C68-46D8-88E6-FFC19A02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Web / PC / Android / 小程序</a:t>
            </a:r>
          </a:p>
        </p:txBody>
      </p:sp>
      <p:sp>
        <p:nvSpPr>
          <p:cNvPr id="13" name="quality-foot">
            <a:extLst xmlns:a="http://schemas.openxmlformats.org/drawingml/2006/main">
              <a:ext uri="{FF2B5EF4-FFF2-40B4-BE49-F238E27FC236}">
                <a16:creationId xmlns:a16="http://schemas.microsoft.com/office/drawing/2014/main" id="{6CE7C07C-38CC-421D-BE65-BD715C6C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1D1"/>
                </a:solidFill>
                <a:latin typeface="Microsoft YaHei"/>
                <a:ea typeface="Microsoft YaHei"/>
                <a:cs typeface="Microsoft YaHei"/>
              </a:rPr>
              <a:t>同时保留安装包、部署包、修复记录和历史版本，便于复现与交接。</a:t>
            </a:r>
          </a:p>
        </p:txBody>
      </p:sp>
      <p:sp>
        <p:nvSpPr>
          <p:cNvPr id="14" name="page-5">
            <a:extLst xmlns:a="http://schemas.openxmlformats.org/drawingml/2006/main">
              <a:ext uri="{FF2B5EF4-FFF2-40B4-BE49-F238E27FC236}">
                <a16:creationId xmlns:a16="http://schemas.microsoft.com/office/drawing/2014/main" id="{D72E0584-5259-45FD-938F-229D87DD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2771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ole-eyebrow">
            <a:extLst xmlns:a="http://schemas.openxmlformats.org/drawingml/2006/main">
              <a:ext uri="{FF2B5EF4-FFF2-40B4-BE49-F238E27FC236}">
                <a16:creationId xmlns:a16="http://schemas.microsoft.com/office/drawing/2014/main" id="{CD25A310-F539-4578-8618-A3360AA0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MY CONTRIBUTION</a:t>
            </a:r>
          </a:p>
        </p:txBody>
      </p:sp>
      <p:sp>
        <p:nvSpPr>
          <p:cNvPr id="2" name="role-title">
            <a:extLst xmlns:a="http://schemas.openxmlformats.org/drawingml/2006/main">
              <a:ext uri="{FF2B5EF4-FFF2-40B4-BE49-F238E27FC236}">
                <a16:creationId xmlns:a16="http://schemas.microsoft.com/office/drawing/2014/main" id="{82B712F1-67F5-4D02-B5A5-0CBC3575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5619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我承担的是从需求到上线的闭环</a:t>
            </a:r>
          </a:p>
        </p:txBody>
      </p:sp>
      <p:sp>
        <p:nvSpPr>
          <p:cNvPr id="3" name="role-summary">
            <a:extLst xmlns:a="http://schemas.openxmlformats.org/drawingml/2006/main">
              <a:ext uri="{FF2B5EF4-FFF2-40B4-BE49-F238E27FC236}">
                <a16:creationId xmlns:a16="http://schemas.microsoft.com/office/drawing/2014/main" id="{EE73A691-629D-439B-B19C-0A7FC79B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作为组长，我既负责核心开发，也推动接口约定、跨端联调、风险处理和最终交付。</a:t>
            </a:r>
          </a:p>
        </p:txBody>
      </p:sp>
      <p:cxnSp>
        <p:nvCxnSpPr>
          <p:cNvPr id="23" name="role-left-rule"/>
          <p:cNvCxnSpPr/>
          <p:nvPr/>
        </p:nvCxnSpPr>
        <p:spPr>
          <a:xfrm xmlns:a="http://schemas.openxmlformats.org/drawingml/2006/main">
            <a:off x="609600" y="3905250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5" name="role-value">
            <a:extLst xmlns:a="http://schemas.openxmlformats.org/drawingml/2006/main">
              <a:ext uri="{FF2B5EF4-FFF2-40B4-BE49-F238E27FC236}">
                <a16:creationId xmlns:a16="http://schemas.microsoft.com/office/drawing/2014/main" id="{4477DCD3-F610-4D88-9CC3-E95E955F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能开发、能联调、能部署，</a:t>
            </a:r>
          </a:p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也能推动团队把复杂功能做完。</a:t>
            </a:r>
          </a:p>
        </p:txBody>
      </p:sp>
      <p:sp>
        <p:nvSpPr>
          <p:cNvPr id="6" name="role-num-1">
            <a:extLst xmlns:a="http://schemas.openxmlformats.org/drawingml/2006/main">
              <a:ext uri="{FF2B5EF4-FFF2-40B4-BE49-F238E27FC236}">
                <a16:creationId xmlns:a16="http://schemas.microsoft.com/office/drawing/2014/main" id="{0E62D1C4-E58C-41A5-8D64-EA905CE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66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ole-head-1">
            <a:extLst xmlns:a="http://schemas.openxmlformats.org/drawingml/2006/main">
              <a:ext uri="{FF2B5EF4-FFF2-40B4-BE49-F238E27FC236}">
                <a16:creationId xmlns:a16="http://schemas.microsoft.com/office/drawing/2014/main" id="{E9721546-5859-468A-A8E5-8E5AB47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66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组长推进</a:t>
            </a:r>
          </a:p>
        </p:txBody>
      </p:sp>
      <p:sp>
        <p:nvSpPr>
          <p:cNvPr id="8" name="role-desc-1">
            <a:extLst xmlns:a="http://schemas.openxmlformats.org/drawingml/2006/main">
              <a:ext uri="{FF2B5EF4-FFF2-40B4-BE49-F238E27FC236}">
                <a16:creationId xmlns:a16="http://schemas.microsoft.com/office/drawing/2014/main" id="{1B2C2B11-4483-472A-BBD0-7C9E97F1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430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任务拆分、进度同步、代码整合与问题闭环</a:t>
            </a:r>
          </a:p>
        </p:txBody>
      </p:sp>
      <p:cxnSp>
        <p:nvCxnSpPr>
          <p:cNvPr id="28" name="role-rule-1"/>
          <p:cNvCxnSpPr/>
          <p:nvPr/>
        </p:nvCxnSpPr>
        <p:spPr>
          <a:xfrm xmlns:a="http://schemas.openxmlformats.org/drawingml/2006/main">
            <a:off x="6534150" y="2324100"/>
            <a:ext cx="4724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0" name="role-num-2">
            <a:extLst xmlns:a="http://schemas.openxmlformats.org/drawingml/2006/main">
              <a:ext uri="{FF2B5EF4-FFF2-40B4-BE49-F238E27FC236}">
                <a16:creationId xmlns:a16="http://schemas.microsoft.com/office/drawing/2014/main" id="{DDF562BD-3AE6-459A-9FEF-034E7719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role-head-2">
            <a:extLst xmlns:a="http://schemas.openxmlformats.org/drawingml/2006/main">
              <a:ext uri="{FF2B5EF4-FFF2-40B4-BE49-F238E27FC236}">
                <a16:creationId xmlns:a16="http://schemas.microsoft.com/office/drawing/2014/main" id="{B572B01F-60C6-4011-AC93-F214FE28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47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后端主线</a:t>
            </a:r>
          </a:p>
        </p:txBody>
      </p:sp>
      <p:sp>
        <p:nvSpPr>
          <p:cNvPr id="12" name="role-desc-2">
            <a:extLst xmlns:a="http://schemas.openxmlformats.org/drawingml/2006/main">
              <a:ext uri="{FF2B5EF4-FFF2-40B4-BE49-F238E27FC236}">
                <a16:creationId xmlns:a16="http://schemas.microsoft.com/office/drawing/2014/main" id="{80F7DE61-8DD3-4D3F-8498-12744ED7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242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ASP.NET Core · PostgreSQL · MinIO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SignalR · LiveKit 令牌服务</a:t>
            </a:r>
          </a:p>
        </p:txBody>
      </p:sp>
      <p:cxnSp>
        <p:nvCxnSpPr>
          <p:cNvPr id="32" name="role-rule-2"/>
          <p:cNvCxnSpPr/>
          <p:nvPr/>
        </p:nvCxnSpPr>
        <p:spPr>
          <a:xfrm xmlns:a="http://schemas.openxmlformats.org/drawingml/2006/main">
            <a:off x="6534150" y="3905250"/>
            <a:ext cx="4724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4" name="role-num-3">
            <a:extLst xmlns:a="http://schemas.openxmlformats.org/drawingml/2006/main">
              <a:ext uri="{FF2B5EF4-FFF2-40B4-BE49-F238E27FC236}">
                <a16:creationId xmlns:a16="http://schemas.microsoft.com/office/drawing/2014/main" id="{08674B0A-576E-470A-A76F-F951A726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ole-head-3">
            <a:extLst xmlns:a="http://schemas.openxmlformats.org/drawingml/2006/main">
              <a:ext uri="{FF2B5EF4-FFF2-40B4-BE49-F238E27FC236}">
                <a16:creationId xmlns:a16="http://schemas.microsoft.com/office/drawing/2014/main" id="{D1FEB531-E554-4002-94A3-EA4A3546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29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部署交付</a:t>
            </a:r>
          </a:p>
        </p:txBody>
      </p:sp>
      <p:sp>
        <p:nvSpPr>
          <p:cNvPr id="16" name="role-desc-3">
            <a:extLst xmlns:a="http://schemas.openxmlformats.org/drawingml/2006/main">
              <a:ext uri="{FF2B5EF4-FFF2-40B4-BE49-F238E27FC236}">
                <a16:creationId xmlns:a16="http://schemas.microsoft.com/office/drawing/2014/main" id="{5302CD77-0C6D-4AC9-84FD-0384426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053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Docker Compose、Nginx、HTTPS、WebSocket 与健康检查</a:t>
            </a:r>
          </a:p>
        </p:txBody>
      </p:sp>
      <p:sp>
        <p:nvSpPr>
          <p:cNvPr id="17" name="role-footer-bg">
            <a:extLst xmlns:a="http://schemas.openxmlformats.org/drawingml/2006/main">
              <a:ext uri="{FF2B5EF4-FFF2-40B4-BE49-F238E27FC236}">
                <a16:creationId xmlns:a16="http://schemas.microsoft.com/office/drawing/2014/main" id="{A294F530-6449-4872-ACE5-5918A27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772150"/>
            <a:ext cx="4724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le-footer">
            <a:extLst xmlns:a="http://schemas.openxmlformats.org/drawingml/2006/main">
              <a:ext uri="{FF2B5EF4-FFF2-40B4-BE49-F238E27FC236}">
                <a16:creationId xmlns:a16="http://schemas.microsoft.com/office/drawing/2014/main" id="{36FF1BDA-B177-4361-89C7-DB2D62BC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8864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可提供完整源码、安装包、部署说明与修复记录</a:t>
            </a:r>
          </a:p>
        </p:txBody>
      </p:sp>
      <p:sp>
        <p:nvSpPr>
          <p:cNvPr id="19" name="page-6">
            <a:extLst xmlns:a="http://schemas.openxmlformats.org/drawingml/2006/main">
              <a:ext uri="{FF2B5EF4-FFF2-40B4-BE49-F238E27FC236}">
                <a16:creationId xmlns:a16="http://schemas.microsoft.com/office/drawing/2014/main" id="{9E838443-441A-4360-B7AB-DD6E9A1F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377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2026-08-18T02:46:52.9350000Z</dcterms:created>
  <dcterms:modified xsi:type="dcterms:W3CDTF">2026-08-18T02:46:52.9350000Z</dcterms:modified>
</coreProperties>
</file>